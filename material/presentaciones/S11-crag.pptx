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ff59b353-fa02-536e-6df4-676365b1d963}">
          <p14:sldIdLst>
            <p14:sldId id="256"/>
            <p14:sldId id="257"/>
            <p14:sldId id="258"/>
          </p14:sldIdLst>
        </p14:section>
        <p14:section name="RAG avanzado y CRAG" id="{dde48bcd-8a88-ec86-e9d4-9ccdd4b517ac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Demo" id="{7a0ebeab-2307-05fc-5355-175a0646fdcd}">
          <p14:sldIdLst>
            <p14:sldId id="268"/>
          </p14:sldIdLst>
        </p14:section>
        <p14:section name="Evaluación y métricas" id="{28a6143d-2bd3-2de5-e098-36ac0dfd53d3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RAG básico (S10)</c:v>
                </c:pt>
              </c:strCache>
            </c:strRef>
          </c:tx>
          <c:spPr>
            <a:solidFill>
              <a:srgbClr val="7F93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Con respuesta (de 14)</c:v>
                  </c:pt>
                  <c:pt idx="1">
                    <c:v>Rechazos correctos (de 6)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CRAG (S11)</c:v>
                </c:pt>
              </c:strCache>
            </c:strRef>
          </c:tx>
          <c:spPr>
            <a:solidFill>
              <a:srgbClr val="5AE3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Con respuesta (de 14)</c:v>
                  </c:pt>
                  <c:pt idx="1">
                    <c:v>Rechazos correctos (de 6)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B7C8D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B7C8D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 (18:30). Partimos exactamente del asistente de S10: mismo proyecto, mismo corpus. Hoy no cambiamos de producto; añadimos una capa de decisión.
El temario de thePower para esta sesión tiene tres piezas: RAG avanzado (superar las limitaciones del RAG básico con autocorrección y reordenamiento), Corrective RAG, y evaluación y métricas específicas de sistemas RAG. El ejercicio es construir un CRAG completo desde cero.
Idea central: un RAG básico busca una vez y responde con lo que encuentra. CRAG reordena lo recuperado y juzga si la evidencia cubre la pregunta: si es suficiente responde, si es parcial conserva y busca lo que falta, si es insuficiente descarta y reformula. Con límites en el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Dejo un minuto con el QR visible. Explico para qué sirve: es la encuesta de satisfacción de AI Engineer y evalúa la clase anterior, S10 del jueves 22 de octubre, no la de hoy. Insisto en que es muy importante que la rellenen: thePower la usa para ajustar el ritmo, la profundidad y la parte práctica.
Mientras responden, les pido que recuerden una pregunta que el RAG de S10 contestó a medias. Ese es el problema de hoy: información relacionada no es lo mismo que evidencia suficiente.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temario de la sesión, tal como lo definió thePower: RAG avanzado, Corrective RAG y evaluación y métricas específicas de sistemas RAG. El ejercicio: construir un CRAG completo desde cero.
Lo repartimos en tres bloques. Veinte minutos de conceptos: límites del RAG básico, técnicas de autocorrección y reordenamiento, el grafo CRAG y sus límites. Cincuenta y cinco de demo: las rutas en el asistente y en el laboratorio pgvector, leyendo la traza. Quince de evaluación: qué métricas usar en un RAG, cómo comparar de forma justa, resultados y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caso resume el problema. La pregunta tiene dos partes: cómo modela LangGraph el estado (S5) y cómo se observa la ejecución (S6). Una búsqueda semántica top-4 puede traer varios fragmentos muy relevantes de S5 y dejar fuera S6.
Si generamos con ese contexto, la respuesta es fluida, cita una fuente real y aun así es incompleta. No alucina: responde con evidencia parcial. Por eso no basta con preguntar si los fragmentos son relevantes; hay que comprobar la cobertura de la pregunta completa.
Es el guion «Evidencia parcial y segunda búsqueda» que veremos en la demo. En el laboratorio AetherCloud pasa lo mismo con la pregunta de mTLS e incidente SEV-1.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temario define RAG avanzado como superar las limitaciones del RAG básico con técnicas de autocorrección y reordenamiento de resultados. Este mapa sitúa las técnicas según el momento en que actúan.
Antes de buscar: reformular la consulta, descomponer preguntas compuestas, o generar varias consultas (multi-query) o un documento hipotético (HyDE). Al buscar: traer más candidatos, filtrar por metadatos y combinar búsqueda léxica y vectorial. Después de buscar: reordenar con un reranker y evaluar si la evidencia basta; Self-RAG lleva esa crítica al propio modelo. Al generar: contexto sin duplicados, rechazar cuando no consta y citas verificables.
Lo resaltado en menta es lo que combina el CRAG de esta sesión. No usamos todo: cada técnica añade coste y hay que medirla.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CRAG es un patrón de control. Entre recuperar y generar añade un juicio explícito que activa acciones distintas: responder, conservar parte de la evidencia y buscar lo que falta, o descartar y volver a buscar.
Separo cuatro pasos porque el ejercicio los exige como nodos distintos: retrieve trae candidatos, rerank los puntúa, assess decide si cubren la pregunta, y las acciones de corrección actúan según ese juicio.
Qué no es: no es GraphRAG (no construimos un grafo de conocimiento), no es fine-tuning y no promete mejorar siempre. A veces lo correcto es rechazar tras agotar los intentos.
Alcance: el artículo de Yan et al. usa un evaluador ligero, búsqueda web y descomposición del conocimiento. Nosotros adoptamos la idea de evaluar y corregir sobre un corpus local; la búsqueda web queda como opción.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 la comparación tenga sentido, la referencia es el RAG básico de S10 dentro del mismo proyecto: misma ingesta, mismo índice, mismo generador y mismas instrucciones. Solo cambia la política de corrección.
RAG básico hace una búsqueda top-4 y un único corte de similitud: responde o rechaza. CRAG busca hasta diez candidatos, los reordena en [0, 1], valora la cobertura y puede reformular hasta dos veces: tres búsquedas en total.
Ese poder tiene coste: más llamadas y más latencia. Por eso hay que medirlo y no asumir que gana.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Arquitectura central (lab/src/crag-graph.ts y apps/api/src/crag-graph.ts). La pregunta original se conserva todo el turno.
retrieve trae hasta diez candidatos con la consulta actual. rerank los puntúa en [0, 1]. assess decide la ruta: suficiente va a answer, que responde citando solo fragmentos aceptados. Parcial pasa por retain, que conserva lo útil. Insuficiente pasa por discard, que anota id, motivo e intento. Ambas llegan a reformulate, que escribe una consulta nueva para la laguna y vuelve a retrieve.
El control de intentos es código, no una frase del prompt: si ya se hicieron tres búsquedas, o la reformulación repite una consulta, el grafo termina en refuse sin llamar al modelo generativo.
LangGraph no «hace CRAG» por sí solo: nos da estado, nodos y aristas condicionales para expresar estas reglas de forma comprobable.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Diferencia clave del ejercicio: el reordenamiento responde «¿este fragmento es relevante?» y assess responde «¿la evidencia cubre toda la pregunta?». No son lo mismo.
Umbrales (CRAG_SCORE_THRESHOLDS en packages/rag/src/crag.ts y LAB_CRAG_CONFIG en lab/src/config.ts): un fragmento entra en la evidencia útil si su puntuación es al menos 0,50 (máximo seis). Cobertura por debajo de 0,40, o sin ningún fragmento útil, es insuficiente. Entre 0,40 y 0,75, o con lagunas, es parcial. A partir de 0,75 y sin lagunas, suficiente.
Ejemplo: el fragmento de S5 recibe 0,80, muy relevante para la primera mitad. Pero la cobertura de la pregunta completa es 0,50 porque falta observabilidad: la decisión es parcial, nunca suficiente.
Estos umbrales se calibran con ejemplos de validación del mismo sistema. Nunca decimos que 0,8 es un 80 % de certeza. Si se usa Qwen3-Reranker-0.6B, su plantilla oficial yes/no da la señal de relevancia.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dos rutas correctivas, con los guiones que ejecutaremos en la demo.
Parcial: en la búsqueda 1, S5 recibe 0,80 y es útil, pero assess detecta la laguna («falta cómo observar la ejecución»; cobertura 0,50 menor que 0,75). retain conserva S5. reformulate escribe una consulta enfocada: «observabilidad Langfuse y LangSmith de un agente». La búsqueda 2 trae S6 con 0,86; se une con S5 sin duplicar ids, assess ve las dos partes cubiertas y answer cita S5 y S6.
Insuficiente: la búsqueda 1 trae S16, de cloud, con 0,20, por debajo del corte. discard lo anota con motivo e intento. Se reformula desde la pregunta original, no desde el contexto rechazado. La búsqueda 2 recupera S6 con 0,88 y responde. S16 nunca llega al prompt ni a las citas.
Una reformulación útil describe el hueco; una inútil repite la misma consulta con palabras parecidas, y el grafo la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estado convierte el flujo en una máquina de estados verificable. originalQuestion no cambia: es la referencia para valorar si la evidencia cubre lo que preguntó el alumno y lo que contesta answer. currentQuery sí cambia: es lo que recibe el retriever.
queries guarda las consultas ejecutadas: si una reformulación repite una anterior, el grafo rechaza en lugar de dar vueltas. retrievalCount y reformulationCount son los contadores que hacen cumplir el máximo de 3 búsquedas y 2 reformulaciones. retained acumula la evidencia útil sin duplicados y discarded guarda id, motivo e intento.
En la demo cada turno empieza vacío: no usamos un checkpointer que oculte estado de una pregunta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límites son deterministas: una búsqueda inicial y como máximo dos reformulaciones, tres recuperaciones en total. Una llamada fallida también consume su intento, y no hay reintentos automáticos escondidos en el SDK (maxRetries a 0 en el asistente).
El asistente del curso añade un plazo único de 20 segundos por turno: cada llamada recibe el tiempo restante y un resultado tardío no se acepta. Cuando el turno termina en rechazo, no se llama al modelo generativo.
Cuatro salidas: answer con citas verificadas; refuse cuando el corpus no aporta evidencia tras agotar la política; clarify cuando una pregunta de horario no trae grupo; error cuando falla algo. Un error no cuenta como rechazo correcto en las métricas.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Pasamos a la demo. Orden estable:
1. Suficiente a la primera: recuperar, reordenar, valorar y responder. Sin búsquedas «por si acaso».
2. Evidencia parcial: conservar S5, reformular hacia observabilidad, unir S6 sin duplicados.
3. Primera evidencia descartada: S16 se descarta con motivo e intento y nunca llega al prompt.
4. Dato ausente (beca de 1991): tres búsquedas, dos reformulaciones y refuse con cero llamadas al generador.
5. Calendario sin cohorte: clarify sin buscar.
6. Fallo controlado del evaluador: error, sin reintentos, dentro del plazo de 20 s.
En el panel de traza señalo: consulta original frente a consulta reformulada, puntuaciones en [0, 1], conservados y descartados con su intento, y la ruta final. El selector queda bloqueado mientras el turno está en curso.
Después, en terminal, bun run lab:demo recorre el mismo grafo sobre PostgreSQL + pgvector con los 10 documentos ficticios de AetherCloud (caso compuesto mTLS + SEV-1 y caso de rechazo).
Aviso explícito: los guiones son ejemplos de desarrollo; no miden la calidad del modelo. Si falla la red, bun run dev en local o la captura de respaldo, y lo 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Tercera pieza del temario: evaluación y métricas específicas de sistemas RAG. Un RAG falla en sitios distintos y cada familia de métricas mira uno.
Recuperación: ¿llega la evidencia? Recall@k pregunta si el fragmento esperado está entre los k primeros; MRR y nDCG miran en qué posición aparece; la precisión del contexto mide cuánto ruido entra. Generación: ¿la respuesta se apoya en esa evidencia? Acierto frente a una referencia, revisión de las fuentes citadas y fidelidad (no afirmar nada que no esté en el contexto). Abstención: ¿sabe decir «no consta»? Rechazos correctos, falsos rechazos y datos inventados. Operación: búsquedas, reformulaciones, latencia, tokens y coste.
Lo marcado en menta es lo que pide el ejercicio: X/14, Y/6, revisión manual de fuentes, búsquedas medias y latencia. Ragas automatiza métricas como fidelidad o precisión del contexto con un modelo juez; no se exige en S11 y se profundiza en la sesión de evaluación y testing.
Protocolo: desarrollo con casos visibles, validación para calibrar umbrales y prompts, congelar la configuración y solo entonces ejecutar 20 preguntas nuevas (14 con respuesta y 6 sin ella). Ajustar después de ver el test lo convierte en validación. Si algo no se midió, se escribe «no medido», nunca cero.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ejecutados en el laboratorio reproducible: 10 documentos ficticios de AetherCloud, índice vacío reconstruido con vector(768) y HNSW, y 20 preguntas nuevas.
RAG básico: 16/20 (10/14 con respuesta y 6/6 rechazos), 1,00 búsquedas medias. CRAG: 17/20 (11/14 y 6/6), 1,80 búsquedas medias y 0,80 reformulaciones medias.
Lectura: CRAG gana en preguntas que exigen unir dos documentos o secciones, como el caso 14 (mTLS + incidente SEV-1), donde el top-4 de una sola pasada pierde una parte. Pero también falla de otra manera: en los casos 3 y 8 el umbral de suficiencia considera parcial la cobertura y rechaza por prudencia. Y cada pregunta sin respuesta agota las tres búsquedas.
En el lote histórico del asistente en la nube (3 de octubre, configuración anterior): 17/20 frente a 18/20, con la latencia mediana pasando de 1,19 s a 4,30 s. Veinte preguntas son pocas: interpretad con cautela. La práctica evalúa el método y la honestidad, no una conclusión predeterminada.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del temario: construir un CRAG completo desde cero (material/ejercicios/S11-enunciado.md, publicado en la plataforma). La práctica es autónoma, fuera del directo, con una dedicación orientativa de 6 a 8 horas.
Debe incluir: proyecto reconstruible desde 8 o más documentos ficticios en bruto e índice vacío, con PostgreSQL + pgvector, vector(768) e índice HNSW; modelos configurados por variables de entorno; el RAG básico de S10 operativo como línea base; un grafo LangGraph con retrieve, rerank, assess, retain o discard, reformulate y answer o refuse en nodos separados; trazas de las tres rutas, de un rechazo y del límite; y la comparación ejecutada sobre 20 preguntas nuevas.
No se exige Ragas, interfaz, búsqueda web ni un reranker concreto; Qwen3-Reranker-0.6B es una opción. Tampoco demostrar que CRAG gana: una comparación honesta con fallos conservados vale más que una victoria forzada. El laboratorio lab/ y la guía laboratorio-apoyo.md sirven de referencia.
Abro el turno de dudas hasta las 20:00.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ido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>
                    <a:alpha val="65000"/>
                  </a:schemeClr>
                </a:solidFill>
              </a:rPr>
              <a:t>thePower · AI Engineer · S11 RAG avanzado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tipo de thePow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1444752" cy="45445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S11 · AI ENGINEER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783080"/>
            <a:ext cx="5486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CRAG</a:t>
            </a:r>
            <a:endParaRPr lang="en-US" sz="8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97180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RAG avanzado: cuando una búsqueda no basta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Reordenar, evaluar la evidencia y corregir la recuperación, con límites y medido frente al RAG básico.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257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José Antonio Nuevo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Martes 27 de octubre de 2026 · 18:30–20:00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>
                    <a:alpha val="70000"/>
                  </a:schemeClr>
                </a:solidFill>
              </a:rPr>
              <a:t>20 min conceptos · 55 min demo · 15 min evaluación y dudas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537960" y="276148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543800" y="276148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rerank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823960" y="3246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assess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0" y="18745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suficiente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0" y="32461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parcial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155680" y="46177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insuficiente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55961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reformular · máx. 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ANTES DE EMPEZAR · 1 MINUTO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Evalúa la clase anterior: S10 · RAG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931920" cy="4389120"/>
          </a:xfrm>
          <a:prstGeom prst="roundRect">
            <a:avLst>
              <a:gd name="adj" fmla="val 2326"/>
            </a:avLst>
          </a:prstGeom>
          <a:solidFill>
            <a:schemeClr val="bg1"/>
          </a:solidFill>
          <a:ln/>
        </p:spPr>
      </p:sp>
      <p:pic>
        <p:nvPicPr>
          <p:cNvPr id="5" name="Image 0" descr="QR de la encuesta de AI Engin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3108960" cy="3108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20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Encuesta AI Engineer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45896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>
                    <a:alpha val="70000"/>
                  </a:schemeClr>
                </a:solidFill>
              </a:rPr>
              <a:t>Abre la cámara del móvil y escanea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0" y="17830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0292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760720" y="1764792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Escanea el QR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5760720" y="2167128"/>
            <a:ext cx="5882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La encuesta valora la sesión S10 del jueves 22 de octubre, no la de hoy.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029200" y="29260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2920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760720" y="2907792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Responde con sinceridad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760720" y="3310128"/>
            <a:ext cx="5882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Ritmo, profundidad, demo y ejercicio. Son menos de dos minutos.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029200" y="40690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2920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760720" y="4050792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Es muy importante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5760720" y="4453128"/>
            <a:ext cx="5882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Con vuestras respuestas ajustamos las próximas clases. Sin ellas no sabemos qué mejorar.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029200" y="5303520"/>
            <a:ext cx="6613855" cy="731520"/>
          </a:xfrm>
          <a:prstGeom prst="roundRect">
            <a:avLst>
              <a:gd name="adj" fmla="val 125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03520" y="5303520"/>
            <a:ext cx="6065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Mientras respondéis: pensad en una pregunta que el RAG de S10 no resolvió bien a la primera.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MAPA DE LA SESIÓN · 90 MIN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Lo que pide el temario, en tres bloques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410562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645920"/>
            <a:ext cx="22276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20 min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14066" y="1645920"/>
            <a:ext cx="6725056" cy="384048"/>
          </a:xfrm>
          <a:prstGeom prst="roundRect">
            <a:avLst>
              <a:gd name="adj" fmla="val 14286"/>
            </a:avLst>
          </a:prstGeom>
          <a:solidFill>
            <a:schemeClr val="accent1">
              <a:alpha val="55000"/>
            </a:scheme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151226" y="1645920"/>
            <a:ext cx="6542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55 min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793986" y="1645920"/>
            <a:ext cx="1794205" cy="384048"/>
          </a:xfrm>
          <a:prstGeom prst="roundRect">
            <a:avLst>
              <a:gd name="adj" fmla="val 14286"/>
            </a:avLst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931146" y="1645920"/>
            <a:ext cx="161132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15 min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331720"/>
            <a:ext cx="3515258" cy="297180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5603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1 · RAG AVANZADO Y CRAG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852928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Conceptos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383280"/>
            <a:ext cx="29666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Límites del RAG básico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Técnicas de autocorrección y reordenamiento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El grafo CRAG y sus tres rutas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Límites y salidas del turno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38218" y="2331720"/>
            <a:ext cx="3515258" cy="297180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12538" y="25603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2 · CORRECTIVE RAG EN VIVO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612538" y="2852928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Demo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612538" y="3383280"/>
            <a:ext cx="29666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Seis guiones en el asistente del curso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El laboratorio pgvector en terminal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Leer la traza: consultas, puntuaciones, descartes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27797" y="2331720"/>
            <a:ext cx="3515258" cy="297180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02117" y="25603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3 · EVALUACIÓN Y MÉTRICAS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02117" y="2852928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Medir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402117" y="3383280"/>
            <a:ext cx="29666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Métricas específicas de sistemas RAG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Comparación justa y resultados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Ejercicio: un CRAG completo desde cero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5778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Temario thePower ·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RAG avanzado · Corrective RAG · Evaluación y métricas específicas de sistemas RAG · Ejercicio: construir un CRAG completo desde cero.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LÍMITE DEL RAG BÁSICO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Una respuesta puede sonar bien y estar incompleta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383280" cy="3611880"/>
          </a:xfrm>
          <a:prstGeom prst="roundRect">
            <a:avLst>
              <a:gd name="adj" fmla="val 270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PREGUNTA COMPUESTA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58568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«¿Cómo modela LangGraph el estado de un agente y cómo se observa esa ejecución?»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977640"/>
            <a:ext cx="2834640" cy="384048"/>
          </a:xfrm>
          <a:prstGeom prst="roundRect">
            <a:avLst>
              <a:gd name="adj" fmla="val 50000"/>
            </a:avLst>
          </a:prstGeom>
          <a:solidFill>
            <a:schemeClr val="accent2">
              <a:alpha val="18000"/>
            </a:scheme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97764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PARTE A · ESTADO (S5)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22960" y="4498848"/>
            <a:ext cx="2834640" cy="384048"/>
          </a:xfrm>
          <a:prstGeom prst="roundRect">
            <a:avLst>
              <a:gd name="adj" fmla="val 50000"/>
            </a:avLst>
          </a:prstGeom>
          <a:solidFill>
            <a:schemeClr val="accent2">
              <a:alpha val="18000"/>
            </a:scheme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4988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PARTE B · OBSERVABILIDAD (S6)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05072" y="3497580"/>
            <a:ext cx="356616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434840" y="1691640"/>
            <a:ext cx="3383280" cy="3611880"/>
          </a:xfrm>
          <a:prstGeom prst="roundRect">
            <a:avLst>
              <a:gd name="adj" fmla="val 270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09160" y="1920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UNA SOLA BÚSQUEDA · TOP-4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09160" y="2331720"/>
            <a:ext cx="2834640" cy="502920"/>
          </a:xfrm>
          <a:prstGeom prst="roundRect">
            <a:avLst>
              <a:gd name="adj" fmla="val 10909"/>
            </a:avLst>
          </a:prstGeom>
          <a:solidFill>
            <a:schemeClr val="accent1">
              <a:alpha val="14000"/>
            </a:schemeClr>
          </a:solidFill>
          <a:ln/>
        </p:spPr>
      </p:sp>
      <p:sp>
        <p:nvSpPr>
          <p:cNvPr id="15" name="Shape 13"/>
          <p:cNvSpPr/>
          <p:nvPr/>
        </p:nvSpPr>
        <p:spPr>
          <a:xfrm>
            <a:off x="4873752" y="2505456"/>
            <a:ext cx="155448" cy="1554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48072" y="2331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Fragmento de S5 · estado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09160" y="3017520"/>
            <a:ext cx="2834640" cy="502920"/>
          </a:xfrm>
          <a:prstGeom prst="roundRect">
            <a:avLst>
              <a:gd name="adj" fmla="val 10909"/>
            </a:avLst>
          </a:prstGeom>
          <a:solidFill>
            <a:schemeClr val="accent1">
              <a:alpha val="14000"/>
            </a:schemeClr>
          </a:solidFill>
          <a:ln/>
        </p:spPr>
      </p:sp>
      <p:sp>
        <p:nvSpPr>
          <p:cNvPr id="18" name="Shape 16"/>
          <p:cNvSpPr/>
          <p:nvPr/>
        </p:nvSpPr>
        <p:spPr>
          <a:xfrm>
            <a:off x="4873752" y="3191256"/>
            <a:ext cx="155448" cy="1554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148072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Fragmento de S5 · nodos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09160" y="3703320"/>
            <a:ext cx="2834640" cy="502920"/>
          </a:xfrm>
          <a:prstGeom prst="roundRect">
            <a:avLst>
              <a:gd name="adj" fmla="val 10909"/>
            </a:avLst>
          </a:prstGeom>
          <a:solidFill>
            <a:schemeClr val="bg2">
              <a:alpha val="14000"/>
            </a:schemeClr>
          </a:solidFill>
          <a:ln/>
        </p:spPr>
      </p:sp>
      <p:sp>
        <p:nvSpPr>
          <p:cNvPr id="21" name="Shape 19"/>
          <p:cNvSpPr/>
          <p:nvPr/>
        </p:nvSpPr>
        <p:spPr>
          <a:xfrm>
            <a:off x="4873752" y="3877056"/>
            <a:ext cx="155448" cy="155448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48072" y="3703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Fragmento poco relacionado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09160" y="4389120"/>
            <a:ext cx="2834640" cy="50292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 w="15875">
            <a:solidFill>
              <a:schemeClr val="accent4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873752" y="4562856"/>
            <a:ext cx="155448" cy="1554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48072" y="4389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S6 · observabilidad: no entra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891272" y="3497580"/>
            <a:ext cx="356616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321040" y="1691640"/>
            <a:ext cx="3322015" cy="3611880"/>
          </a:xfrm>
          <a:prstGeom prst="roundRect">
            <a:avLst>
              <a:gd name="adj" fmla="val 275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595360" y="192024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RESPUESTA GENERADA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595360" y="2258568"/>
            <a:ext cx="27733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Explica con seguridad el estado y los nodos de LangGraph, cita S5…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595360" y="3291840"/>
            <a:ext cx="2773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…y no dice nada de cómo observar la ejecución.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595360" y="4498848"/>
            <a:ext cx="2773375" cy="384048"/>
          </a:xfrm>
          <a:prstGeom prst="roundRect">
            <a:avLst>
              <a:gd name="adj" fmla="val 50000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595360" y="4498848"/>
            <a:ext cx="27733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NO ALUCINA: RESPONDE A MEDIAS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El fallo no está en el generador: está en aceptar evidencia parcial como si bastara.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RAG AVANZADO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Dónde se puede mejorar un RAG básico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>
                    <a:alpha val="70000"/>
                  </a:schemeClr>
                </a:solidFill>
              </a:rPr>
              <a:t>Objetivo del temario: superar sus limitaciones con autocorrección y reordenamiento de resultados.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499284" cy="3429000"/>
          </a:xfrm>
          <a:prstGeom prst="roundRect">
            <a:avLst>
              <a:gd name="adj" fmla="val 3659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24485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2103120"/>
            <a:ext cx="14020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Antes de buscar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777240" y="2926080"/>
            <a:ext cx="2042084" cy="621792"/>
          </a:xfrm>
          <a:prstGeom prst="roundRect">
            <a:avLst>
              <a:gd name="adj" fmla="val 8824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32688" y="2926080"/>
            <a:ext cx="17311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Reformular la consulta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77240" y="3675888"/>
            <a:ext cx="2042084" cy="621792"/>
          </a:xfrm>
          <a:prstGeom prst="roundRect">
            <a:avLst>
              <a:gd name="adj" fmla="val 8824"/>
            </a:avLst>
          </a:prstGeom>
          <a:solidFill>
            <a:schemeClr val="bg1">
              <a:alpha val="5000"/>
            </a:scheme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32688" y="3675888"/>
            <a:ext cx="17311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Descomponer preguntas compuestas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7240" y="4425696"/>
            <a:ext cx="2042084" cy="621792"/>
          </a:xfrm>
          <a:prstGeom prst="roundRect">
            <a:avLst>
              <a:gd name="adj" fmla="val 8824"/>
            </a:avLst>
          </a:prstGeom>
          <a:solidFill>
            <a:schemeClr val="bg1">
              <a:alpha val="5000"/>
            </a:schemeClr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32688" y="4425696"/>
            <a:ext cx="17311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Multi-query o HyDE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102788" y="2386584"/>
            <a:ext cx="256032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3413684" y="1874520"/>
            <a:ext cx="2499284" cy="3429000"/>
          </a:xfrm>
          <a:prstGeom prst="roundRect">
            <a:avLst>
              <a:gd name="adj" fmla="val 3659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88004" y="21031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736" y="2244852"/>
            <a:ext cx="283464" cy="28346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373804" y="2103120"/>
            <a:ext cx="14020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Al buscar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3642284" y="2926080"/>
            <a:ext cx="2042084" cy="621792"/>
          </a:xfrm>
          <a:prstGeom prst="roundRect">
            <a:avLst>
              <a:gd name="adj" fmla="val 8824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797732" y="2926080"/>
            <a:ext cx="17311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Top-k amplio: hasta 10 candidatos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3642284" y="3675888"/>
            <a:ext cx="2042084" cy="621792"/>
          </a:xfrm>
          <a:prstGeom prst="roundRect">
            <a:avLst>
              <a:gd name="adj" fmla="val 8824"/>
            </a:avLst>
          </a:prstGeom>
          <a:solidFill>
            <a:schemeClr val="bg1">
              <a:alpha val="5000"/>
            </a:schemeClr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3797732" y="3675888"/>
            <a:ext cx="17311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Filtros por grupo y versión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3642284" y="4425696"/>
            <a:ext cx="2042084" cy="621792"/>
          </a:xfrm>
          <a:prstGeom prst="roundRect">
            <a:avLst>
              <a:gd name="adj" fmla="val 8824"/>
            </a:avLst>
          </a:prstGeom>
          <a:solidFill>
            <a:schemeClr val="bg1">
              <a:alpha val="5000"/>
            </a:schemeClr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3797732" y="4425696"/>
            <a:ext cx="17311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Búsqueda híbrida: léxica + vectorial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5967832" y="2386584"/>
            <a:ext cx="256032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6278728" y="1874520"/>
            <a:ext cx="2499284" cy="3429000"/>
          </a:xfrm>
          <a:prstGeom prst="roundRect">
            <a:avLst>
              <a:gd name="adj" fmla="val 3659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553048" y="21031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4780" y="2244852"/>
            <a:ext cx="283464" cy="28346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7238848" y="2103120"/>
            <a:ext cx="14020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Después de buscar</a:t>
            </a:r>
            <a:endParaRPr lang="en-US" sz="1700" dirty="0"/>
          </a:p>
        </p:txBody>
      </p:sp>
      <p:sp>
        <p:nvSpPr>
          <p:cNvPr id="31" name="Shape 26"/>
          <p:cNvSpPr/>
          <p:nvPr/>
        </p:nvSpPr>
        <p:spPr>
          <a:xfrm>
            <a:off x="6507328" y="2926080"/>
            <a:ext cx="2042084" cy="621792"/>
          </a:xfrm>
          <a:prstGeom prst="roundRect">
            <a:avLst>
              <a:gd name="adj" fmla="val 8824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662776" y="2926080"/>
            <a:ext cx="17311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Reordenar con un reranker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6507328" y="3675888"/>
            <a:ext cx="2042084" cy="621792"/>
          </a:xfrm>
          <a:prstGeom prst="roundRect">
            <a:avLst>
              <a:gd name="adj" fmla="val 8824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662776" y="3675888"/>
            <a:ext cx="17311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Evaluar si la evidencia basta</a:t>
            </a:r>
            <a:endParaRPr lang="en-US" sz="1300" dirty="0"/>
          </a:p>
        </p:txBody>
      </p:sp>
      <p:sp>
        <p:nvSpPr>
          <p:cNvPr id="35" name="Shape 30"/>
          <p:cNvSpPr/>
          <p:nvPr/>
        </p:nvSpPr>
        <p:spPr>
          <a:xfrm>
            <a:off x="6507328" y="4425696"/>
            <a:ext cx="2042084" cy="621792"/>
          </a:xfrm>
          <a:prstGeom prst="roundRect">
            <a:avLst>
              <a:gd name="adj" fmla="val 8824"/>
            </a:avLst>
          </a:prstGeom>
          <a:solidFill>
            <a:schemeClr val="bg1">
              <a:alpha val="5000"/>
            </a:schemeClr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6662776" y="4425696"/>
            <a:ext cx="17311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Self-RAG: el modelo critica su recuperación</a:t>
            </a:r>
            <a:endParaRPr lang="en-US" sz="1300" dirty="0"/>
          </a:p>
        </p:txBody>
      </p:sp>
      <p:sp>
        <p:nvSpPr>
          <p:cNvPr id="37" name="Shape 32"/>
          <p:cNvSpPr/>
          <p:nvPr/>
        </p:nvSpPr>
        <p:spPr>
          <a:xfrm>
            <a:off x="8832875" y="2386584"/>
            <a:ext cx="256032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38" name="Shape 33"/>
          <p:cNvSpPr/>
          <p:nvPr/>
        </p:nvSpPr>
        <p:spPr>
          <a:xfrm>
            <a:off x="9143771" y="1874520"/>
            <a:ext cx="2499284" cy="3429000"/>
          </a:xfrm>
          <a:prstGeom prst="roundRect">
            <a:avLst>
              <a:gd name="adj" fmla="val 3659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18091" y="21031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9823" y="2244852"/>
            <a:ext cx="283464" cy="283464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10103891" y="2103120"/>
            <a:ext cx="14020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Al generar</a:t>
            </a:r>
            <a:endParaRPr lang="en-US" sz="1700" dirty="0"/>
          </a:p>
        </p:txBody>
      </p:sp>
      <p:sp>
        <p:nvSpPr>
          <p:cNvPr id="42" name="Shape 36"/>
          <p:cNvSpPr/>
          <p:nvPr/>
        </p:nvSpPr>
        <p:spPr>
          <a:xfrm>
            <a:off x="9372371" y="2926080"/>
            <a:ext cx="2042084" cy="621792"/>
          </a:xfrm>
          <a:prstGeom prst="roundRect">
            <a:avLst>
              <a:gd name="adj" fmla="val 8824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9527819" y="2926080"/>
            <a:ext cx="17311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Contexto sin duplicados</a:t>
            </a:r>
            <a:endParaRPr lang="en-US" sz="1300" dirty="0"/>
          </a:p>
        </p:txBody>
      </p:sp>
      <p:sp>
        <p:nvSpPr>
          <p:cNvPr id="44" name="Shape 38"/>
          <p:cNvSpPr/>
          <p:nvPr/>
        </p:nvSpPr>
        <p:spPr>
          <a:xfrm>
            <a:off x="9372371" y="3675888"/>
            <a:ext cx="2042084" cy="621792"/>
          </a:xfrm>
          <a:prstGeom prst="roundRect">
            <a:avLst>
              <a:gd name="adj" fmla="val 8824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9527819" y="3675888"/>
            <a:ext cx="17311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Rechazar si no consta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9372371" y="4425696"/>
            <a:ext cx="2042084" cy="621792"/>
          </a:xfrm>
          <a:prstGeom prst="roundRect">
            <a:avLst>
              <a:gd name="adj" fmla="val 8824"/>
            </a:avLst>
          </a:prstGeom>
          <a:solidFill>
            <a:schemeClr val="bg1">
              <a:alpha val="5000"/>
            </a:schemeClr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527819" y="4425696"/>
            <a:ext cx="17311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Citas verificables</a:t>
            </a:r>
            <a:endParaRPr lang="en-US" sz="1300" dirty="0"/>
          </a:p>
        </p:txBody>
      </p:sp>
      <p:sp>
        <p:nvSpPr>
          <p:cNvPr id="48" name="Shape 42"/>
          <p:cNvSpPr/>
          <p:nvPr/>
        </p:nvSpPr>
        <p:spPr>
          <a:xfrm>
            <a:off x="548640" y="5596128"/>
            <a:ext cx="384048" cy="274320"/>
          </a:xfrm>
          <a:prstGeom prst="roundRect">
            <a:avLst>
              <a:gd name="adj" fmla="val 16667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1097280" y="5550408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Lo que usa el CRAG de S11: reformulación, top-10, reordenamiento, evaluación de la evidencia y rechazo, en un mismo grafo.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CORRECTIVE RAG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CRAG mete un juicio entre recuperar y generar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464994" cy="2697480"/>
          </a:xfrm>
          <a:prstGeom prst="roundRect">
            <a:avLst>
              <a:gd name="adj" fmla="val 3710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802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24912"/>
            <a:ext cx="20077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Recuperar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08960"/>
            <a:ext cx="20077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456432"/>
            <a:ext cx="19620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Trae hasta 10 candidatos desde el índice vectorial.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086786" y="3035808"/>
            <a:ext cx="265176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425114" y="1691640"/>
            <a:ext cx="2464994" cy="2697480"/>
          </a:xfrm>
          <a:prstGeom prst="roundRect">
            <a:avLst>
              <a:gd name="adj" fmla="val 3710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99434" y="19202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9454" y="208026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99434" y="2724912"/>
            <a:ext cx="20077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Reordenar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3699434" y="3108960"/>
            <a:ext cx="20077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rerank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3699434" y="3456432"/>
            <a:ext cx="19620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Puntúa cada fragmento en [0, 1] frente a la consulta.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963260" y="3035808"/>
            <a:ext cx="265176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301588" y="1691640"/>
            <a:ext cx="2464994" cy="2697480"/>
          </a:xfrm>
          <a:prstGeom prst="roundRect">
            <a:avLst>
              <a:gd name="adj" fmla="val 3710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575908" y="19202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5928" y="2080260"/>
            <a:ext cx="320040" cy="32004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575908" y="2724912"/>
            <a:ext cx="20077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Juzgar</a:t>
            </a:r>
            <a:endParaRPr lang="en-US" sz="1900" dirty="0"/>
          </a:p>
        </p:txBody>
      </p:sp>
      <p:sp>
        <p:nvSpPr>
          <p:cNvPr id="22" name="Text 17"/>
          <p:cNvSpPr txBox="1"/>
          <p:nvPr/>
        </p:nvSpPr>
        <p:spPr>
          <a:xfrm>
            <a:off x="6575908" y="3108960"/>
            <a:ext cx="20077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assess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575908" y="3456432"/>
            <a:ext cx="19620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¿La evidencia útil cubre toda la pregunta?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8839733" y="3035808"/>
            <a:ext cx="265176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9178061" y="1691640"/>
            <a:ext cx="2464994" cy="2697480"/>
          </a:xfrm>
          <a:prstGeom prst="roundRect">
            <a:avLst>
              <a:gd name="adj" fmla="val 3710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9452381" y="19202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2401" y="2080260"/>
            <a:ext cx="320040" cy="32004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452381" y="2724912"/>
            <a:ext cx="20077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Corregir</a:t>
            </a:r>
            <a:endParaRPr lang="en-US" sz="1900" dirty="0"/>
          </a:p>
        </p:txBody>
      </p:sp>
      <p:sp>
        <p:nvSpPr>
          <p:cNvPr id="29" name="Text 23"/>
          <p:cNvSpPr txBox="1"/>
          <p:nvPr/>
        </p:nvSpPr>
        <p:spPr>
          <a:xfrm>
            <a:off x="9452381" y="3108960"/>
            <a:ext cx="20077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retain · discard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9452381" y="3456432"/>
            <a:ext cx="19620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Conserva o descarta, reformula y vuelve a buscar. Si basta, responde.</a:t>
            </a:r>
            <a:endParaRPr lang="en-US" sz="1400" dirty="0"/>
          </a:p>
        </p:txBody>
      </p:sp>
      <p:sp>
        <p:nvSpPr>
          <p:cNvPr id="31" name="Shape 25"/>
          <p:cNvSpPr/>
          <p:nvPr/>
        </p:nvSpPr>
        <p:spPr>
          <a:xfrm>
            <a:off x="548640" y="4663440"/>
            <a:ext cx="5410048" cy="1005840"/>
          </a:xfrm>
          <a:prstGeom prst="roundRect">
            <a:avLst>
              <a:gd name="adj" fmla="val 9091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965192"/>
            <a:ext cx="384048" cy="384048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371600" y="4663440"/>
            <a:ext cx="44042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Qué es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Una política de recuperación observable: cada decisión e intento queda en la traza.</a:t>
            </a:r>
            <a:endParaRPr lang="en-US" sz="1500" dirty="0"/>
          </a:p>
        </p:txBody>
      </p:sp>
      <p:sp>
        <p:nvSpPr>
          <p:cNvPr id="34" name="Shape 27"/>
          <p:cNvSpPr/>
          <p:nvPr/>
        </p:nvSpPr>
        <p:spPr>
          <a:xfrm>
            <a:off x="6233008" y="4663440"/>
            <a:ext cx="5410048" cy="1005840"/>
          </a:xfrm>
          <a:prstGeom prst="roundRect">
            <a:avLst>
              <a:gd name="adj" fmla="val 9091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8" y="4965192"/>
            <a:ext cx="384048" cy="38404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055968" y="4663440"/>
            <a:ext cx="44042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Qué no es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 es GraphRAG, no entrena el modelo y no garantiza mejorar cada respuesta.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548640" y="58338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bg2">
                    <a:alpha val="70000"/>
                  </a:schemeClr>
                </a:solidFill>
              </a:rPr>
              <a:t>Inspirado en Yan, Gu, Zhu y Ling (2024), Corrective Retrieval Augmented Generation, arXiv:2401.15884. Es una adaptación docente, no una reproducción del artículo.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PUNTO DE PARTIDA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Mismo asistente, otra política de recuperación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7680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651760"/>
                <a:gridCol w="35661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Pieza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</a:rPr>
                        <a:t>RAG básico · S10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CRAG · S11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Búsquedas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1 búsqueda (top-4)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Hasta 3 (top-10 y 2 reformulaciones)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Control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Un umbral de similitud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rerank en [0, 1] + assess de cobertura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Contexto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Lo recuperado una vez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Conserva, une sin duplicados o descarta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Decisión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Responder o rechazar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Suficiente, parcial o insuficiente; responde o rechaza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Coste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Una recuperación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Más llamadas y más latencia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2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595360" y="1691640"/>
            <a:ext cx="3047695" cy="3401568"/>
          </a:xfrm>
          <a:prstGeom prst="roundRect">
            <a:avLst>
              <a:gd name="adj" fmla="val 3000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69680" y="1920240"/>
            <a:ext cx="2499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IGUAL EN LOS DOS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869680" y="2286000"/>
            <a:ext cx="24990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Corpus y fragmentos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Índice y modelo de embeddings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Modelo generativo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Instrucciones base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Conversaciones limpias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869680" y="425196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Solo cambia la política de corrección.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4864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El RAG básico sigue en el mismo proyecto: es la línea base contra la que medimos CRAG.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ARQUITECTURA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El grafo de LangGraph, nodo a nodo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69164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pregunta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originalQuestion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651760" y="1737360"/>
            <a:ext cx="169164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51760" y="17373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retrieve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hasta 10 candidatos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737360"/>
            <a:ext cx="169164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54880" y="17373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rerank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puntúa en [0, 1]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0" y="1737360"/>
            <a:ext cx="1691640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0" y="17373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assess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¿cubre la pregunta?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276856" y="2148840"/>
            <a:ext cx="338328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9976" y="2148840"/>
            <a:ext cx="338328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83096" y="2148840"/>
            <a:ext cx="338328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509760" y="1737360"/>
            <a:ext cx="2133295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509760" y="1737360"/>
            <a:ext cx="2133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responde y cita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86216" y="2148840"/>
            <a:ext cx="886968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8567928" y="18105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suficiente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03820" y="2560320"/>
            <a:ext cx="0" cy="45720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3017520"/>
            <a:ext cx="4038448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3017520"/>
            <a:ext cx="0" cy="384048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0576408" y="3017520"/>
            <a:ext cx="0" cy="38404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5394960" y="30906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parcial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296248" y="30906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insuficiente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0" y="3429000"/>
            <a:ext cx="21031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0" y="3429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retain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conserva los útiles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524848" y="3429000"/>
            <a:ext cx="21031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524848" y="3429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anota id, motivo, intento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537960" y="4251960"/>
            <a:ext cx="0" cy="246888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576408" y="4251960"/>
            <a:ext cx="0" cy="246888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37960" y="4498848"/>
            <a:ext cx="4038448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03820" y="4498848"/>
            <a:ext cx="0" cy="22860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515100" y="4754880"/>
            <a:ext cx="237744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15100" y="4754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reformulate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nueva consulta para la laguna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 flipH="1">
            <a:off x="3497580" y="5166360"/>
            <a:ext cx="299923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3497580" y="2587752"/>
            <a:ext cx="0" cy="2578608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3634740" y="48554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vuelve a buscar con currentQuery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524848" y="4754880"/>
            <a:ext cx="2118208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524848" y="4754880"/>
            <a:ext cx="2118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límite: 3 búsquedas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929116" y="5166360"/>
            <a:ext cx="55915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Cada nodo devuelve datos estructurados; las aristas condicionales deciden la ruta. refuse termina sin llamar al generador.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REORDENAR Y EVALUAR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Relevancia de un fragmento ≠ cobertura de la pregunta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rerank  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¿Este fragmento es relevante para la consulta?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474720" cy="548640"/>
          </a:xfrm>
          <a:prstGeom prst="rect">
            <a:avLst/>
          </a:prstGeom>
          <a:solidFill>
            <a:schemeClr val="accent6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22402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descartado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023360" y="2240280"/>
            <a:ext cx="3474720" cy="548640"/>
          </a:xfrm>
          <a:prstGeom prst="rect">
            <a:avLst/>
          </a:prstGeom>
          <a:solidFill>
            <a:schemeClr val="accent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33088" y="22402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útil · entra en la evidencia (máx. 6)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82880" y="2834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0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2834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0,50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2834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290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assess  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¿La evidencia útil cubre toda la pregunta?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2779776" cy="548640"/>
          </a:xfrm>
          <a:prstGeom prst="rect">
            <a:avLst/>
          </a:prstGeom>
          <a:solidFill>
            <a:schemeClr val="accent4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931920"/>
            <a:ext cx="2596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insuficiente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328416" y="3931920"/>
            <a:ext cx="2432304" cy="548640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38144" y="393192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parcial o con lagunas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60720" y="3931920"/>
            <a:ext cx="1737360" cy="548640"/>
          </a:xfrm>
          <a:prstGeom prst="rect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70448" y="39319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suficiente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4526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962656" y="4526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0,40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4526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0,75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4526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955280" y="1691640"/>
            <a:ext cx="3687775" cy="3611880"/>
          </a:xfrm>
          <a:prstGeom prst="roundRect">
            <a:avLst>
              <a:gd name="adj" fmla="val 2532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0" y="1920240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EJEMPLO DE LA DEMO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2286000"/>
            <a:ext cx="3139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Fragmento de S5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rerank = 0,80 → útil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3154680"/>
            <a:ext cx="3139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Pero falta la observabilidad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cobertura = 0,50 → parcial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160520"/>
            <a:ext cx="3139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Un fragmento muy relevante puede cubrir solo media pregunta.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" y="5440680"/>
            <a:ext cx="11094415" cy="685800"/>
          </a:xfrm>
          <a:prstGeom prst="roundRect">
            <a:avLst>
              <a:gd name="adj" fmla="val 13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44068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Umbrales calibrados con ejemplos de validación, nunca con el test.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Una puntuación no es una probabilidad de acierto.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LAS RUTAS CORRECTIVAS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Parcial conserva; insuficiente descarta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4434840"/>
          </a:xfrm>
          <a:prstGeom prst="roundRect">
            <a:avLst>
              <a:gd name="adj" fmla="val 2062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01952"/>
            <a:ext cx="160020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019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</a:rPr>
              <a:t>PARCIAL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1901952"/>
            <a:ext cx="3078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>
                    <a:alpha val="70000"/>
                  </a:schemeClr>
                </a:solidFill>
              </a:rPr>
              <a:t>guion «Evidencia parcial y segunda búsqueda»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48156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«¿Cómo modela LangGraph el estado de un agente y cómo se observa esa ejecución?»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14553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14984" y="3566160"/>
            <a:ext cx="0" cy="292608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17320" y="3090672"/>
            <a:ext cx="4267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retrieve 1 · assess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S5 (0,80) es útil, pero la cobertura es 0,50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387705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14984" y="4297680"/>
            <a:ext cx="0" cy="292608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417320" y="3822192"/>
            <a:ext cx="4267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retain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Conserva S5 con su procedencia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22960" y="460857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14984" y="5029200"/>
            <a:ext cx="0" cy="292608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417320" y="4553712"/>
            <a:ext cx="4267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reformulate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«observabilidad Langfuse y LangSmith de un agente»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22960" y="53400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285232"/>
            <a:ext cx="4267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retrieve 2 · answer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S6 (0,86) + S5 sin duplicar: responde citando ambos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78728" y="1691640"/>
            <a:ext cx="5364328" cy="4434840"/>
          </a:xfrm>
          <a:prstGeom prst="roundRect">
            <a:avLst>
              <a:gd name="adj" fmla="val 2062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53048" y="1901952"/>
            <a:ext cx="160020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53048" y="19019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</a:rPr>
              <a:t>INSUFICIENTE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290408" y="1901952"/>
            <a:ext cx="3078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>
                    <a:alpha val="70000"/>
                  </a:schemeClr>
                </a:solidFill>
              </a:rPr>
              <a:t>guion «Primera evidencia descartada»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553048" y="2377440"/>
            <a:ext cx="48156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«¿Qué cubre la sesión de observabilidad del programa?»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553048" y="3145536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53048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745072" y="3566160"/>
            <a:ext cx="0" cy="292608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47408" y="3090672"/>
            <a:ext cx="4267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retrieve 1 · assess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S16 · Cloud AWS (0,20 &lt; 0,50): nada útil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53048" y="3877056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53048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745072" y="4297680"/>
            <a:ext cx="0" cy="292608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47408" y="3822192"/>
            <a:ext cx="4267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Anota id, motivo e intento 1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553048" y="4608576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53048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745072" y="5029200"/>
            <a:ext cx="0" cy="292608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147408" y="4553712"/>
            <a:ext cx="4267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reformulate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Nueva consulta desde la pregunta original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553048" y="53400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53048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147408" y="5285232"/>
            <a:ext cx="4267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retrieve 2 · answer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S6 (0,88): responde. S16 nunca entra en el prompt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ESTADO DEL TURNO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La pregunta original nunca se sobrescribe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846320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originalQuestion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6712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Lo que preguntó el alumno. Llega intacta a assess y a answer.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4846320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0175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currentQuery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5584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La consulta de búsqueda. Cambia en cada reformulación.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4846320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2062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queries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54456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Consultas ya usadas: una consulta repetida corta el bucle.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03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Cada turno nace vacío: contadores a 0 y sin checkpointer que arrastre estado de otra pregunta.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852160" y="1691640"/>
            <a:ext cx="5790895" cy="4343400"/>
          </a:xfrm>
          <a:prstGeom prst="roundRect">
            <a:avLst>
              <a:gd name="adj" fmla="val 2105"/>
            </a:avLst>
          </a:prstGeom>
          <a:solidFill>
            <a:schemeClr val="tx1">
              <a:alpha val="7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874520"/>
            <a:ext cx="5150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lab/src/crag-graph.ts · extracto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2286000"/>
            <a:ext cx="524225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Annotation.Root({</a:t>
            </a:r>
            <a:endParaRPr lang="en-US" sz="11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originalQuestion: Annotation&lt;string&gt;,</a:t>
            </a:r>
            <a:endParaRPr lang="en-US" sz="11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currentQuery: Annotation&lt;string&gt;,</a:t>
            </a:r>
            <a:endParaRPr lang="en-US" sz="11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queries: Annotation&lt;string[]&gt;,</a:t>
            </a:r>
            <a:endParaRPr lang="en-US" sz="11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retrievalCount: Annotation&lt;number&gt;,      // máx. 3</a:t>
            </a:r>
            <a:endParaRPr lang="en-US" sz="11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reformulationCount: Annotation&lt;number&gt;, // máx. 2</a:t>
            </a:r>
            <a:endParaRPr lang="en-US" sz="11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retained: Annotation&lt;LabVectorHit[]&gt;,</a:t>
            </a:r>
            <a:endParaRPr lang="en-US" sz="11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discarded: Annotation&lt;LabDiscardedRecord[]&gt;,</a:t>
            </a:r>
            <a:endParaRPr lang="en-US" sz="11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terminal: Annotation&lt;"pending" | "answer" | "refuse"&gt;,</a:t>
            </a:r>
            <a:endParaRPr lang="en-US" sz="11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LÍMITES Y SALIDAS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Los límites viven en el código, no en el prompt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67864" cy="1965960"/>
          </a:xfrm>
          <a:prstGeom prst="roundRect">
            <a:avLst>
              <a:gd name="adj" fmla="val 4651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10512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79192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búsquedas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2019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incluida la primera; un fallo también cuenta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90824" y="1691640"/>
            <a:ext cx="2567864" cy="1965960"/>
          </a:xfrm>
          <a:prstGeom prst="roundRect">
            <a:avLst>
              <a:gd name="adj" fmla="val 4651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65144" y="1810512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2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3665144" y="2679192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reformulaciones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665144" y="3017520"/>
            <a:ext cx="2019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como máximo, sin reintentos ocultos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33008" y="1691640"/>
            <a:ext cx="2567864" cy="1965960"/>
          </a:xfrm>
          <a:prstGeom prst="roundRect">
            <a:avLst>
              <a:gd name="adj" fmla="val 4651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07328" y="1810512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20 s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6507328" y="2679192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plazo del turno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507328" y="3017520"/>
            <a:ext cx="2019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en el asistente; cada llamada usa lo que queda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75191" y="1691640"/>
            <a:ext cx="2567864" cy="1965960"/>
          </a:xfrm>
          <a:prstGeom prst="roundRect">
            <a:avLst>
              <a:gd name="adj" fmla="val 4651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49511" y="1810512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0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9349511" y="2679192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llamadas al LLM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349511" y="3017520"/>
            <a:ext cx="2019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para generar cuando el turno termina en rechazo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977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CUATRO SALIDAS QUE NO SE MEZCLAN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343400"/>
            <a:ext cx="2567864" cy="1325880"/>
          </a:xfrm>
          <a:prstGeom prst="roundRect">
            <a:avLst>
              <a:gd name="adj" fmla="val 6897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4572000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115568" y="4498848"/>
            <a:ext cx="1744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92040"/>
            <a:ext cx="2064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Evidencia suficiente y citas que existen en la evidencia permitida.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390824" y="4343400"/>
            <a:ext cx="2567864" cy="1325880"/>
          </a:xfrm>
          <a:prstGeom prst="roundRect">
            <a:avLst>
              <a:gd name="adj" fmla="val 6897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65144" y="4572000"/>
            <a:ext cx="182880" cy="1828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957752" y="4498848"/>
            <a:ext cx="1744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3665144" y="4892040"/>
            <a:ext cx="2064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Se agotan los intentos o la consulta se repite. Dice «no consta».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233008" y="4343400"/>
            <a:ext cx="2567864" cy="1325880"/>
          </a:xfrm>
          <a:prstGeom prst="roundRect">
            <a:avLst>
              <a:gd name="adj" fmla="val 6897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07328" y="4572000"/>
            <a:ext cx="182880" cy="1828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799936" y="4498848"/>
            <a:ext cx="1744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clarify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507328" y="4892040"/>
            <a:ext cx="2064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Pregunta de calendario sin grupo: pide aclaración antes de buscar.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075191" y="4343400"/>
            <a:ext cx="2567864" cy="1325880"/>
          </a:xfrm>
          <a:prstGeom prst="roundRect">
            <a:avLst>
              <a:gd name="adj" fmla="val 6897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349511" y="4572000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642119" y="4498848"/>
            <a:ext cx="1744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349511" y="4892040"/>
            <a:ext cx="2064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Falla una dependencia o se acaba el plazo. No es un rechazo correcto.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870448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Separar rechazo y error evita que un fallo de infraestructura parezca una decisión prudente.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DEMO · 55 MIN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Seis guiones, seis caminos del grafo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62940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0195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169164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Suficiente a la primera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6916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en la búsqueda 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404872"/>
            <a:ext cx="662940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615184"/>
            <a:ext cx="182880" cy="1828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43000" y="240487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Evidencia parcial y segunda búsqueda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2404872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retain → reformulate → answer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118104"/>
            <a:ext cx="662940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328416"/>
            <a:ext cx="182880" cy="1828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43000" y="3118104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Primera evidencia descartada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3118104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 → reformulate → answer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831336"/>
            <a:ext cx="662940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041648"/>
            <a:ext cx="182880" cy="1828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143000" y="383133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Dato ausente y rechazo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297680" y="3831336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búsquedas → refuse sin generar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544568"/>
            <a:ext cx="662940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754880"/>
            <a:ext cx="182880" cy="1828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143000" y="45445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Calendario sin cohorte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4544568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clarify con 0 búsquedas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257800"/>
            <a:ext cx="662940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5468112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143000" y="52578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Fallo controlado del evaluador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525780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error, sin reintentos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543800" y="1691640"/>
            <a:ext cx="4099255" cy="2011680"/>
          </a:xfrm>
          <a:prstGeom prst="roundRect">
            <a:avLst>
              <a:gd name="adj" fmla="val 4545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18120" y="194767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2084832"/>
            <a:ext cx="274320" cy="27432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8549640" y="1947672"/>
            <a:ext cx="2910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Asistente del curso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7818120" y="2587752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rag-thepower.josenuevo.dev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bg2"/>
                </a:solidFill>
              </a:rPr>
              <a:t>Etapa CRAG · grupo M/J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bg2"/>
                </a:solidFill>
              </a:rPr>
              <a:t>En la traza: consultas, puntuaciones, conservados y descartados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543800" y="3886200"/>
            <a:ext cx="4099255" cy="2011680"/>
          </a:xfrm>
          <a:prstGeom prst="roundRect">
            <a:avLst>
              <a:gd name="adj" fmla="val 4545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818120" y="414223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4279392"/>
            <a:ext cx="274320" cy="27432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8549640" y="4142232"/>
            <a:ext cx="2910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Laboratorio del ejercicio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7818120" y="4782312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 run lab:demo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bg2"/>
                </a:solidFill>
              </a:rPr>
              <a:t>PostgreSQL + pgvector · 10 documentos AetherCloud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bg2"/>
                </a:solidFill>
              </a:rPr>
              <a:t>Caso compuesto mTLS + SEV-1 y caso de rechazo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>
                    <a:alpha val="70000"/>
                  </a:schemeClr>
                </a:solidFill>
              </a:rPr>
              <a:t>Los guiones enseñan el recorrido; no miden la calidad del modelo. Respaldo local: bun run dev → http://localhost:5173/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EVALUACIÓN Y MÉTRICAS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Qué medir en un sistema RAG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67864" cy="3246120"/>
          </a:xfrm>
          <a:prstGeom prst="roundRect">
            <a:avLst>
              <a:gd name="adj" fmla="val 3561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4708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2"/>
                </a:solidFill>
              </a:rPr>
              <a:t>RECUPERACIÓN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2110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¿Llega la evidencia?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2907792"/>
            <a:ext cx="128016" cy="12801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51560" y="2816352"/>
            <a:ext cx="1836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Recall@k: ¿está el fragmento esperado en el top-k?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584448"/>
            <a:ext cx="128016" cy="12801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" y="3493008"/>
            <a:ext cx="1836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MRR y nDCG: ¿en qué posición aparece?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4261104"/>
            <a:ext cx="128016" cy="12801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4169664"/>
            <a:ext cx="1836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Precisión del contexto: ¿cuánto ruido entra?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90824" y="1645920"/>
            <a:ext cx="2567864" cy="3246120"/>
          </a:xfrm>
          <a:prstGeom prst="roundRect">
            <a:avLst>
              <a:gd name="adj" fmla="val 3561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65144" y="184708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GENERACIÓN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665144" y="2148840"/>
            <a:ext cx="2110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¿La respuesta se apoya en ella?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665144" y="2907792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893744" y="2816352"/>
            <a:ext cx="1836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Acierto frente a la referencia (X/14)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665144" y="3584448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93744" y="3493008"/>
            <a:ext cx="1836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Fuentes citadas revisadas a mano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65144" y="4261104"/>
            <a:ext cx="128016" cy="12801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93744" y="4169664"/>
            <a:ext cx="1836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Fidelidad: nada fuera del contexto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33008" y="1645920"/>
            <a:ext cx="2567864" cy="3246120"/>
          </a:xfrm>
          <a:prstGeom prst="roundRect">
            <a:avLst>
              <a:gd name="adj" fmla="val 3561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07328" y="184708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4"/>
                </a:solidFill>
              </a:rPr>
              <a:t>ABSTENCIÓN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507328" y="2148840"/>
            <a:ext cx="2110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¿Sabe decir «no consta»?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07328" y="2907792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35928" y="2816352"/>
            <a:ext cx="1836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Rechazos correctos (Y/6)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07328" y="3584448"/>
            <a:ext cx="128016" cy="12801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735928" y="3493008"/>
            <a:ext cx="1836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Falsos rechazos en preguntas con respuesta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507328" y="4261104"/>
            <a:ext cx="128016" cy="12801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735928" y="4169664"/>
            <a:ext cx="1836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Datos inventados sin evidencia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075191" y="1645920"/>
            <a:ext cx="2567864" cy="3246120"/>
          </a:xfrm>
          <a:prstGeom prst="roundRect">
            <a:avLst>
              <a:gd name="adj" fmla="val 3561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49511" y="184708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OPERACIÓN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349511" y="2148840"/>
            <a:ext cx="2110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¿Cuánto cuesta corregir?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9349511" y="2907792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578111" y="2816352"/>
            <a:ext cx="1836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Búsquedas y reformulaciones medias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9349511" y="3584448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578111" y="3493008"/>
            <a:ext cx="1836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Latencia mediana y media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9349511" y="4261104"/>
            <a:ext cx="128016" cy="12801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578111" y="4169664"/>
            <a:ext cx="1836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Tokens y coste conocido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8640" y="512064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77240" y="5029200"/>
            <a:ext cx="10865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>
                    <a:alpha val="70000"/>
                  </a:schemeClr>
                </a:solidFill>
              </a:rPr>
              <a:t>Pedido en el ejercicio S11. Ragas automatiza fidelidad y precisión del contexto con un modelo juez; aquí no se exige.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48640" y="5486400"/>
            <a:ext cx="2533574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1520" y="5486400"/>
            <a:ext cx="22592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 · Desarrollo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casos visibles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127934" y="5769864"/>
            <a:ext cx="228600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402254" y="5486400"/>
            <a:ext cx="2533574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585134" y="5486400"/>
            <a:ext cx="22592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 · Validación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calibrar umbrales y prompts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81548" y="5769864"/>
            <a:ext cx="228600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255868" y="5486400"/>
            <a:ext cx="2533574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38748" y="5486400"/>
            <a:ext cx="22592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 · Congelar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configuración y versiones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8835161" y="5769864"/>
            <a:ext cx="228600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9109481" y="5486400"/>
            <a:ext cx="2533574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9292361" y="5486400"/>
            <a:ext cx="22592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 · Test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 nuevas: 14 + 6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RESULTADOS DEL LABORATORIO · 20 PREGUNTAS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CRAG acierta una más y casi duplica las búsquedas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0350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040880" y="1691640"/>
            <a:ext cx="4602175" cy="1188720"/>
          </a:xfrm>
          <a:prstGeom prst="roundRect">
            <a:avLst>
              <a:gd name="adj" fmla="val 7692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0" y="1801368"/>
            <a:ext cx="4053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16 → 17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315200" y="2258568"/>
            <a:ext cx="4053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Aciertos sobre 20. 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CRAG gana las preguntas que unen dos documentos (casos 5, 10 y 14).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040880" y="3017520"/>
            <a:ext cx="4602175" cy="1188720"/>
          </a:xfrm>
          <a:prstGeom prst="roundRect">
            <a:avLst>
              <a:gd name="adj" fmla="val 7692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0" y="3127248"/>
            <a:ext cx="4053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1,00 → 1,80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0" y="3584448"/>
            <a:ext cx="4053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Búsquedas medias. 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Cada pregunta sin respuesta agota 3 búsquedas antes de rechazar.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040880" y="4343400"/>
            <a:ext cx="4602175" cy="1188720"/>
          </a:xfrm>
          <a:prstGeom prst="roundRect">
            <a:avLst>
              <a:gd name="adj" fmla="val 7692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0" y="4453128"/>
            <a:ext cx="4053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2 fallos nuevos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4910328"/>
            <a:ext cx="4053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Casos 3 y 8. 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Cobertura parcial tras 2 reformulaciones: CRAG rechaza por prudencia.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7150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bg2">
                    <a:alpha val="70000"/>
                  </a:schemeClr>
                </a:solidFill>
              </a:rPr>
              <a:t>lab/ · 10 documentos AetherCloud, vector(768) + HNSW, Qwen3-Reranker-0.6B (lab/eval/resultados-laboratorio.md). Lote histórico del asistente (3 oct): 17/20 → 18/20 y latencia mediana 1,19 s → 4,30 s. Muestra pequeña: no es una tasa general.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EJERCICIO S11 · 6 A 8 HORAS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Construir un CRAG completo desde cero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84048" cy="384048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1819656"/>
            <a:ext cx="219456" cy="2194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3000" y="1691640"/>
            <a:ext cx="6720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Base reconstruible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2020824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8+ documentos ficticios e índice vacío: PostgreSQL + pgvector, vector(768) y HNSW.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587752"/>
            <a:ext cx="384048" cy="384048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670048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43000" y="2542032"/>
            <a:ext cx="6720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Línea base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871216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El RAG básico de S10 sigue operativo en el mismo proyecto.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3438144"/>
            <a:ext cx="384048" cy="384048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520440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3000" y="3392424"/>
            <a:ext cx="6720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Grafo separado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3721608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retrieve (10) → rerank [0, 1] → assess → retain / discard → reformulate → answer / refuse.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48640" y="4288536"/>
            <a:ext cx="384048" cy="384048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4370832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43000" y="4242816"/>
            <a:ext cx="6720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Trazas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1143000" y="4572000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Las 3 rutas, un rechazo y la prueba del límite: 3 búsquedas y 2 reformulaciones.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5138928"/>
            <a:ext cx="384048" cy="384048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" y="5221224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143000" y="5093208"/>
            <a:ext cx="6720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Comparación ejecutada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1143000" y="5422392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20 preguntas nuevas: X/14, Y/6, búsquedas medias, latencia y revisión de fuentes.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275320" y="1691640"/>
            <a:ext cx="3367735" cy="2331720"/>
          </a:xfrm>
          <a:prstGeom prst="roundRect">
            <a:avLst>
              <a:gd name="adj" fmla="val 3922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8549640" y="1901952"/>
            <a:ext cx="2819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4"/>
                </a:solidFill>
              </a:rPr>
              <a:t>NO SE EXIGE</a:t>
            </a:r>
            <a:endParaRPr lang="en-US" sz="1100" dirty="0"/>
          </a:p>
        </p:txBody>
      </p:sp>
      <p:sp>
        <p:nvSpPr>
          <p:cNvPr id="26" name="Text 19"/>
          <p:cNvSpPr txBox="1"/>
          <p:nvPr/>
        </p:nvSpPr>
        <p:spPr>
          <a:xfrm>
            <a:off x="8549640" y="2240280"/>
            <a:ext cx="281909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Ragas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Interfaz gráfica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Búsqueda web (opcional)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Qwen3-Reranker-0.6B (opcional)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Que CRAG gane siempre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8275320" y="4297680"/>
            <a:ext cx="3367735" cy="1417320"/>
          </a:xfrm>
          <a:prstGeom prst="roundRect">
            <a:avLst>
              <a:gd name="adj" fmla="val 6452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8549640" y="44988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5370" y="4624578"/>
            <a:ext cx="251460" cy="25146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189720" y="4498848"/>
            <a:ext cx="2270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Material de apoyo</a:t>
            </a:r>
            <a:endParaRPr lang="en-US" sz="1500" dirty="0"/>
          </a:p>
        </p:txBody>
      </p:sp>
      <p:sp>
        <p:nvSpPr>
          <p:cNvPr id="31" name="Text 23"/>
          <p:cNvSpPr txBox="1"/>
          <p:nvPr/>
        </p:nvSpPr>
        <p:spPr>
          <a:xfrm>
            <a:off x="8549640" y="5120640"/>
            <a:ext cx="2819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lab/</a:t>
            </a:r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  y  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laboratorio-apoyo.md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897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Turno de dudas.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Power S11">
  <a:themeElements>
    <a:clrScheme name="thePower S11">
      <a:dk1>
        <a:srgbClr val="071422"/>
      </a:dk1>
      <a:lt1>
        <a:srgbClr val="FFFFFF"/>
      </a:lt1>
      <a:dk2>
        <a:srgbClr val="0F1E30"/>
      </a:dk2>
      <a:lt2>
        <a:srgbClr val="B7C8D0"/>
      </a:lt2>
      <a:accent1>
        <a:srgbClr val="5AE3B5"/>
      </a:accent1>
      <a:accent2>
        <a:srgbClr val="28C7E8"/>
      </a:accent2>
      <a:accent3>
        <a:srgbClr val="FFC266"/>
      </a:accent3>
      <a:accent4>
        <a:srgbClr val="FF8A7A"/>
      </a:accent4>
      <a:accent5>
        <a:srgbClr val="8A63E8"/>
      </a:accent5>
      <a:accent6>
        <a:srgbClr val="1E3247"/>
      </a:accent6>
      <a:hlink>
        <a:srgbClr val="5AE3B5"/>
      </a:hlink>
      <a:folHlink>
        <a:srgbClr val="28C7E8"/>
      </a:folHlink>
    </a:clrScheme>
    <a:fontScheme name="thePower S11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thePower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S11 · CRAG — RAG avanzado</dc:title>
  <dc:subject>AI Engineer · RAG avanzado</dc:subject>
  <dc:creator>José Antonio Nuevo</dc:creator>
  <cp:lastModifiedBy>José Antonio Nuevo</cp:lastModifiedBy>
  <cp:revision>1</cp:revision>
  <dcterms:created xsi:type="dcterms:W3CDTF">2026-10-16T17:07:32Z</dcterms:created>
  <dcterms:modified xsi:type="dcterms:W3CDTF">2026-10-16T17:07:32Z</dcterms:modified>
</cp:coreProperties>
</file>
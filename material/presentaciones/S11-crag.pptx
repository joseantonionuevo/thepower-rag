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62" r:id="rId13"/>
    <p:sldId id="263" r:id="rId14"/>
    <p:sldId id="259" r:id="rId10"/>
    <p:sldId id="261" r:id="rId12"/>
    <p:sldId id="266" r:id="rId17"/>
    <p:sldId id="260" r:id="rId11"/>
    <p:sldId id="265" r:id="rId16"/>
    <p:sldId id="264" r:id="rId15"/>
    <p:sldId id="267" r:id="rId18"/>
    <p:sldId id="268" r:id="rId19"/>
    <p:sldId id="269" r:id="rId20"/>
    <p:sldId id="271" r:id="rId28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338FCB-8677-43D3-963D-C3D86BA02EA8}">
  <a:tblStyle styleId="{A4338FCB-8677-43D3-963D-C3D86BA02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raCode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FiraCod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28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5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01/15 · 18:30. Límite del RAG básico.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Di: el jueves vimos una búsqueda. Hoy la misma app puede conservar, descartar y buscar otra vez.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prometas que CRAG gana. La complejidad añade latencia y llamadas.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diagrama es la adaptación de clase, no el artículo.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s5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5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02/15 · bloque 0–10. QR.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QR evalúa S10, nuestra clase del 22 de octubre. No es un formulario nuevo.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Objetivos: orden aplicado, evidencia, límites, traza y el protocolo de comparación.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no se lee, usa la misma imagen de material/assets/qr-ai-engineer.jpg.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s5_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5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03/15 · el límite, todavía en 0–10.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Ejemplo: una pregunta que pide LangGraph y observabilidad puede necesitar S5 y S6.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básico no reformula. CRAG puede hacerlo, con tope.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 explícitamente que un resultado mejor no está garantizado.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s5_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5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06/15 · bloque 10–25. Ordenación.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usefulIds es membresía. El orden del contexto sale del ranking validado.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empate no se reordena al azar: gana la posición que ya devolvió el ranking.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puntuación que se ve no es una probabilidad.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s5_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5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09/15 · descartar y reformular. Bloque 25–45.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Guion: Primera evidencia descartada. Descarta S16 y cita solo S6.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mismo id puede aparecer en varios intentos. Cada fila conserva el intento.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reformulación vacía o repetida termina en rechazo.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s5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s5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07/15 · bloque 25–45. Rutas.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Suficiente: hay texto útil y no quedan lagunas.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Parcial: hay texto útil y una laguna. Insuficiente: no se usa ese contexto.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de evaluador no se reintenta. Rechazo: no se llama al generador.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Elige el guion en el desplegable. Mientras responde, el selector no cambia.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s5_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5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04/15 · bloque 10–25. Comparación de diseño.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Autores del artículo: Shi-Qi Yan, Jia-Chen Gu, Yun Zhu y Zhen-Hua Ling, arXiv:2401.15884.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app no busca en internet, no tiene un evaluador remoto verificado y un guion no demuestra una mejora.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Señala latencia y coste: evaluar y reescribir también son llamadas cuando el perfil es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s5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s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05/15 · estado del grafo.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docs/crag-graph.md si hace falta el esquema.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originalQuestion permanece. currentQuery puede cambiar.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hay checkpointer ni contadores entre conversaciones.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Puente de sintaxis: el estado es un objeto. En Python sería un TypedDict. No hay segunda implementación.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s5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s5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11/15 · traza visible.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Panel: Guion de prueba, terminal, motivo, búsquedas, reformulaciones, consulta original y consulta de búsqueda.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seis guiones están en corpus/fixtures/crag-development-cases.json.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Libre usa el índice lexical y un evaluador de reglas. Tampoco mide calidad.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falla, abre la captura etiquetada y vuelve a esta diapositiva.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s5_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s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10/15 · bloque 45–65. Límites.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Guion de dato ausente: tres búsquedas, dos reformulaciones, rechazo, sin cita y sin generación.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Guion de calendario: cero búsquedas.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Guion de fallo del evaluador: una evaluación inválida, sin reintento.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plazo es uno de 20 s. Parar la espera no cancela un cómputo que un proveedor ya hubiera empezado. En demo no hay proveedor.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s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s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08/15 · conservar y deduplicar.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Guion: Evidencia parcial y segunda búsqueda.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Debe conservar S5, recuperar S6 y citar las dos, sin duplicar.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orden mostrado es el del último ranking, no el orden de llegada.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s5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s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12/15 · bloque 75–80. Ejercicio. 80–90 preguntas.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Enunciado: material/ejercicios/S11-enunciado.md.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Hay que conservar el RAG básico al lado del grafo.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conjunto reservado del profesor sigue sin ejecutarse y no se reparte. El encargo original pide una comparación de 20 preguntas propias. Un guion fixture no es esa medición. No enseñes una tabla de resultados.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s5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s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Referencia. Protocolo previsto, métricas pendientes.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Mismo modelo, mismos parámetros, mismo corpus, mismo perfil y conversaciones limpias.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entran los seis guiones ni los ejemplos de calibración.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Hace falta un presupuesto de lote distinto. El tope de una sesión no es el tope de la cuenta.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s5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s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 de recuperación.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Comprueba preflight: fuente efectiva y APP_MODE demo. Abre la URL que imprime bun run dev. Elige el guion. Si no responde, abre material/evidencias. No arranques activate --execute.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arranques el puente remoto ni activate --execute.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acierto de guion se anuncia como guion, no como calidad.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s5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5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S11 · 15/15 · cierre.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Deja el QR visible. Evalúa S10, la clase del 22 de octubre.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envíes ninguna evaluación.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comparación reservada sigue sin ejecutarse.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s5_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5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4200" y="927100"/>
            <a:ext cx="6731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CRAG</a:t>
            </a:r>
            <a:endParaRPr b="1" sz="42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mismo asistente</a:t>
            </a:r>
            <a:endParaRPr b="1" sz="42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33528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Corregir la búsqueda, no cambiar de producto.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aplicación de S10 sigue siendo la base.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4200" y="61087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thePower · AI Engineer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483600" y="61087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José Antonio Nuevo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635500"/>
            <a:ext cx="6350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27 octubre 2026 · 18:30–20:00</a:t>
            </a:r>
            <a:endParaRPr b="1" sz="18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09600" y="5257800"/>
            <a:ext cx="6146700" cy="5460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243C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4700" y="5359400"/>
            <a:ext cx="5841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Demo local · TypeScript · Guion</a:t>
            </a:r>
            <a:endParaRPr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2" name="Google Shape;92;p13"/>
          <p:cNvCxnSpPr/>
          <p:nvPr/>
        </p:nvCxnSpPr>
        <p:spPr>
          <a:xfrm>
            <a:off x="9423400" y="1282700"/>
            <a:ext cx="0" cy="18033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/>
          <p:nvPr/>
        </p:nvCxnSpPr>
        <p:spPr>
          <a:xfrm flipH="1">
            <a:off x="8001100" y="3086100"/>
            <a:ext cx="1422300" cy="18288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/>
          <p:nvPr/>
        </p:nvCxnSpPr>
        <p:spPr>
          <a:xfrm>
            <a:off x="9423400" y="3086100"/>
            <a:ext cx="1397100" cy="18288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3"/>
          <p:cNvSpPr/>
          <p:nvPr/>
        </p:nvSpPr>
        <p:spPr>
          <a:xfrm>
            <a:off x="8648700" y="8128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737600" y="10922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Pregunta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648700" y="26162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737600" y="28956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Evaluar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226300" y="44450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315200" y="47244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Conservar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0045700" y="4445000"/>
            <a:ext cx="1549500" cy="939900"/>
          </a:xfrm>
          <a:prstGeom prst="ellipse">
            <a:avLst/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134600" y="4724400"/>
            <a:ext cx="1371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Reformular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Antes de empezar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QR de AI Engineer evalúa nuestra clase S10.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546100" y="19050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46100" y="37465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49300" y="20574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Tu feedback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49300" y="25654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Escanea el QR. Valora la clase del 22 de octubre.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49300" y="38989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Hoy veremos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49300" y="44069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Orden, evidencia, límites y comparación justa.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9300" y="1727200"/>
            <a:ext cx="4140201" cy="414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629400" y="5918200"/>
            <a:ext cx="50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Evaluación de la clase anterior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02/15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 límite del RAG básico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Una búsqueda no comprueba si falta una parte de la pregunta.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Una pasada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umbral acepta o descarta. No vuelve a buscar.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Dos temas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Unir S5 y S6 puede quedarse corto a la primera.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 victoria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CRAG no garantiza una respuesta mejor.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03/15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9750"/>
            <a:ext cx="53625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ordenación sí se aplica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usefulIds dice quién entra. El ranking dice el orden.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6858000" y="21590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6"/>
          <p:cNvCxnSpPr/>
          <p:nvPr/>
        </p:nvCxnSpPr>
        <p:spPr>
          <a:xfrm>
            <a:off x="8921750" y="27432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6"/>
          <p:cNvSpPr/>
          <p:nvPr/>
        </p:nvSpPr>
        <p:spPr>
          <a:xfrm>
            <a:off x="6858000" y="29464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6"/>
          <p:cNvCxnSpPr/>
          <p:nvPr/>
        </p:nvCxnSpPr>
        <p:spPr>
          <a:xfrm>
            <a:off x="8921750" y="35306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6"/>
          <p:cNvSpPr/>
          <p:nvPr/>
        </p:nvSpPr>
        <p:spPr>
          <a:xfrm>
            <a:off x="6858000" y="37338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46100" y="2844800"/>
            <a:ext cx="5359500" cy="18669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60400" y="2971800"/>
            <a:ext cx="50799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ranking validado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solo ids mostrados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usefulIds dentro de esos ids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máximo 6, sin duplicar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empate: vale la posición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7010400" y="22733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Orden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7010400" y="30607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Membresía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7010400" y="38481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546100" y="5257800"/>
            <a:ext cx="11099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puntuación no es una probabilidad.</a:t>
            </a:r>
            <a:endParaRPr sz="15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46100" y="5765800"/>
            <a:ext cx="11099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Un guion no mide la calidad del modelo.</a:t>
            </a:r>
            <a:endParaRPr sz="130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06/15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Descartar y buscar otra vez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Lo rechazado no entra en la respuesta. La pregunta sigue.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Descartar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Se anota el id, el motivo y el intento.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Reformular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 no avanza o sale vacía, se rechaza.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Otra búsqueda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Cuenta dentro de las tres. No hay una cuarta.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4" name="Google Shape;19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46100" y="5613400"/>
            <a:ext cx="11099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Cada descarte conserva su intento.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09/15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Tres juicios y dos salidas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Hace falta texto útil del corpus. Una etiqueta no basta.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/>
          <p:nvPr/>
        </p:nvSpPr>
        <p:spPr>
          <a:xfrm>
            <a:off x="54610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9850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9850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Suficiente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3" name="Google Shape;213;p18"/>
          <p:cNvCxnSpPr/>
          <p:nvPr/>
        </p:nvCxnSpPr>
        <p:spPr>
          <a:xfrm>
            <a:off x="251968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18"/>
          <p:cNvSpPr/>
          <p:nvPr/>
        </p:nvSpPr>
        <p:spPr>
          <a:xfrm>
            <a:off x="283718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298958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298958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Parcial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7" name="Google Shape;217;p18"/>
          <p:cNvCxnSpPr/>
          <p:nvPr/>
        </p:nvCxnSpPr>
        <p:spPr>
          <a:xfrm>
            <a:off x="481076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8"/>
          <p:cNvSpPr/>
          <p:nvPr/>
        </p:nvSpPr>
        <p:spPr>
          <a:xfrm>
            <a:off x="512826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528066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28066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Insuficiente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710184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B06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18"/>
          <p:cNvSpPr/>
          <p:nvPr/>
        </p:nvSpPr>
        <p:spPr>
          <a:xfrm>
            <a:off x="741934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757174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757174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Rechazo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5" name="Google Shape;225;p18"/>
          <p:cNvCxnSpPr/>
          <p:nvPr/>
        </p:nvCxnSpPr>
        <p:spPr>
          <a:xfrm>
            <a:off x="939292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EE66B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18"/>
          <p:cNvSpPr/>
          <p:nvPr/>
        </p:nvSpPr>
        <p:spPr>
          <a:xfrm>
            <a:off x="9710420" y="2641600"/>
            <a:ext cx="19356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9862820" y="2768600"/>
            <a:ext cx="163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9862820" y="3251200"/>
            <a:ext cx="163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Error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Insuficiente no alimenta la respuesta final.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07/15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RAG básico y esta adaptación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Más control también puede añadir latencia y llamadas.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98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19"/>
          <p:cNvGraphicFramePr/>
          <p:nvPr/>
        </p:nvGraphicFramePr>
        <p:xfrm>
          <a:off x="5461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{A4338FCB-8677-43D3-963D-C3D86BA02EA8}</a:tableStyleId>
              </a:tblPr>
              <a:tblGrid>
                <a:gridCol w="3699925"/>
                <a:gridCol w="3699925"/>
                <a:gridCol w="3699925"/>
              </a:tblGrid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Pieza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RAG básico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 adaptación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Búsquedas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Una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Hasta tres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Evidencia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 umbral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Suficiente o parcial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Generación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 hay contexto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con evidencia útil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9"/>
          <p:cNvSpPr txBox="1"/>
          <p:nvPr/>
        </p:nvSpPr>
        <p:spPr>
          <a:xfrm>
            <a:off x="546100" y="5715000"/>
            <a:ext cx="1109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Adaptación de Yan, Gu, Zhu y Ling. No es el artículo.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04/15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Estado y consulta de búsqueda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pregunta original no se sustituye por la reformulación.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546100" y="180340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46100" y="370840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749300" y="19685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Pregunta original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749300" y="2501900"/>
            <a:ext cx="4826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Se conserva durante el turno y llega a la respuesta.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749300" y="38735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 de búsqueda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749300" y="4406900"/>
            <a:ext cx="4826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Puede cambiar. No borra lo que preguntó el alumno.</a:t>
            </a:r>
            <a:endParaRPr sz="16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6451600" y="1968500"/>
            <a:ext cx="49656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originalQuestion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currentQuery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siguen siendo distintas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retrievalCount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reformulationCount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máximo 3 y 2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sin checkpointer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cada turno nace vacío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// packages/rag/src/crag.ts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546100" y="5676900"/>
            <a:ext cx="1109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Cada turno nace vacío.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05/15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traza que ve la clase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Motivo, orden, conservados y descartados. En demo es un guion.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/>
          <p:nvPr/>
        </p:nvSpPr>
        <p:spPr>
          <a:xfrm>
            <a:off x="5461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985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985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Motivo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30924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1"/>
          <p:cNvSpPr/>
          <p:nvPr/>
        </p:nvSpPr>
        <p:spPr>
          <a:xfrm>
            <a:off x="34099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35623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35623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Orden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595630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1"/>
          <p:cNvSpPr/>
          <p:nvPr/>
        </p:nvSpPr>
        <p:spPr>
          <a:xfrm>
            <a:off x="62738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4262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64262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Conservados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91376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92900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92900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Descartados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selector queda quieto mientras la respuesta está en curso.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46100" y="5473700"/>
            <a:ext cx="1109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fixtures/crag-development-cases.json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11/15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7527925" y="4064000"/>
            <a:ext cx="0" cy="29220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/>
          <p:nvPr/>
        </p:nvCxnSpPr>
        <p:spPr>
          <a:xfrm rot="10800000">
            <a:off x="4664125" y="4356100"/>
            <a:ext cx="2863800" cy="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/>
          <p:nvPr/>
        </p:nvCxnSpPr>
        <p:spPr>
          <a:xfrm rot="10800000">
            <a:off x="4664075" y="4063900"/>
            <a:ext cx="0" cy="292200"/>
          </a:xfrm>
          <a:prstGeom prst="straightConnector1">
            <a:avLst/>
          </a:prstGeom>
          <a:noFill/>
          <a:ln cap="flat" cmpd="sng" w="20325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 rot="10800000">
            <a:off x="4664075" y="2120800"/>
            <a:ext cx="0" cy="52080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1"/>
          <p:cNvCxnSpPr/>
          <p:nvPr/>
        </p:nvCxnSpPr>
        <p:spPr>
          <a:xfrm>
            <a:off x="4664075" y="2120900"/>
            <a:ext cx="5727600" cy="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1"/>
          <p:cNvCxnSpPr/>
          <p:nvPr/>
        </p:nvCxnSpPr>
        <p:spPr>
          <a:xfrm>
            <a:off x="10391775" y="2120900"/>
            <a:ext cx="0" cy="520800"/>
          </a:xfrm>
          <a:prstGeom prst="straightConnector1">
            <a:avLst/>
          </a:prstGeom>
          <a:noFill/>
          <a:ln cap="flat" cmpd="sng" w="20325">
            <a:solidFill>
              <a:srgbClr val="EE66B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1"/>
          <p:cNvSpPr txBox="1"/>
          <p:nvPr/>
        </p:nvSpPr>
        <p:spPr>
          <a:xfrm>
            <a:off x="5499100" y="17272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Guion de prueba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041900" y="4038600"/>
            <a:ext cx="212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No es calidad del modelo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Límites de un solo turno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código corta. Una frase del prompt no sustituye el límite.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0" name="Google Shape;3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Búsquedas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Tres, con la primera. Un fallo también cuenta.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4" name="Google Shape;3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Reformulaciones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Dos. No hay un reintento escondido.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17" name="Google Shape;3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Plazo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20 s en total. Cada llamada recibe lo que queda.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20" name="Google Shape;32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10/15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9750"/>
            <a:ext cx="53625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Conservar, unir, no repetir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Lo parcial guarda ids útiles y busca lo que falta.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/>
          <p:nvPr/>
        </p:nvSpPr>
        <p:spPr>
          <a:xfrm>
            <a:off x="6858000" y="21590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3"/>
          <p:cNvCxnSpPr/>
          <p:nvPr/>
        </p:nvCxnSpPr>
        <p:spPr>
          <a:xfrm>
            <a:off x="8921750" y="27432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3"/>
          <p:cNvSpPr/>
          <p:nvPr/>
        </p:nvSpPr>
        <p:spPr>
          <a:xfrm>
            <a:off x="6858000" y="29464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23"/>
          <p:cNvCxnSpPr/>
          <p:nvPr/>
        </p:nvCxnSpPr>
        <p:spPr>
          <a:xfrm>
            <a:off x="8921750" y="35306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23"/>
          <p:cNvSpPr/>
          <p:nvPr/>
        </p:nvSpPr>
        <p:spPr>
          <a:xfrm>
            <a:off x="6858000" y="3733800"/>
            <a:ext cx="4127400" cy="5589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546100" y="2844800"/>
            <a:ext cx="5359500" cy="18669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660400" y="2971800"/>
            <a:ext cx="50799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ids previos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ids nuevos</a:t>
            </a:r>
            <a:endParaRPr sz="1350"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7010400" y="22733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Unión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7010400" y="30607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 duplicar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7010400" y="3848100"/>
            <a:ext cx="38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Orden último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546100" y="5257800"/>
            <a:ext cx="11099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último ranking validado marca el orden.</a:t>
            </a:r>
            <a:endParaRPr sz="15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08/15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484252"/>
            <a:ext cx="3498800" cy="302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25" y="2484252"/>
            <a:ext cx="3498950" cy="3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Ejercicio y criterios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Evoluciona el mismo proyecto. Conserva el RAG básico.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59" name="Google Shape;35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509587"/>
            <a:ext cx="336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/>
          <p:nvPr/>
        </p:nvSpPr>
        <p:spPr>
          <a:xfrm>
            <a:off x="8382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Qué mostrar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8382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Orden aplicado, rutas, límites y traza.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3" name="Google Shape;36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18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 txBox="1"/>
          <p:nvPr/>
        </p:nvSpPr>
        <p:spPr>
          <a:xfrm>
            <a:off x="463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Qué conservar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63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etapa de una sola búsqueda sigue disponible.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6" name="Google Shape;36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400" y="27795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4"/>
          <p:cNvSpPr txBox="1"/>
          <p:nvPr/>
        </p:nvSpPr>
        <p:spPr>
          <a:xfrm>
            <a:off x="8445500" y="3276600"/>
            <a:ext cx="2971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Comparación</a:t>
            </a:r>
            <a:endParaRPr b="1" sz="1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8445500" y="3949700"/>
            <a:ext cx="29718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Veinte preguntas nuevas. Hoy no hay resultados.</a:t>
            </a:r>
            <a:endParaRPr sz="15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69" name="Google Shape;36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" y="289381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61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700" y="28938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546100" y="5613400"/>
            <a:ext cx="1109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Orientativo del encargo original: 6 a 8 horas.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12/15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 · Comparación justa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Mismo modelo, corpus y perfil. Sin afinar tras ver el test.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83" name="Google Shape;3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98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5" name="Google Shape;385;p25"/>
          <p:cNvGraphicFramePr/>
          <p:nvPr/>
        </p:nvGraphicFramePr>
        <p:xfrm>
          <a:off x="5461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{A4338FCB-8677-43D3-963D-C3D86BA02EA8}</a:tableStyleId>
              </a:tblPr>
              <a:tblGrid>
                <a:gridCol w="3699925"/>
                <a:gridCol w="3699925"/>
                <a:gridCol w="3699925"/>
              </a:tblGrid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Pieza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Igual en ambos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2C5F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hacer</a:t>
                      </a:r>
                      <a:endParaRPr b="1" sz="1500">
                        <a:solidFill>
                          <a:srgbClr val="32C5F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 mismo MODEL_ID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Cambiarlo tras el test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Corpus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 misma preparación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Mezclar el fixture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Resultado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Protocolo previsto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Tabla todavía pendiente</a:t>
                      </a:r>
                      <a:endParaRPr sz="1500">
                        <a:solidFill>
                          <a:srgbClr val="F8FAF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25"/>
          <p:cNvSpPr txBox="1"/>
          <p:nvPr/>
        </p:nvSpPr>
        <p:spPr>
          <a:xfrm>
            <a:off x="546100" y="5715000"/>
            <a:ext cx="1109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Hace falta un presupuesto de lote, aparte.</a:t>
            </a:r>
            <a:endParaRPr sz="135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13/15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067425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Consulta · Si el guion falla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Abre la captura del 3 de octubre y vuelve a la diapositiva.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96" name="Google Shape;3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/>
          <p:nvPr/>
        </p:nvSpPr>
        <p:spPr>
          <a:xfrm>
            <a:off x="5461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6985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2C5F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2200">
              <a:solidFill>
                <a:srgbClr val="32C5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26"/>
          <p:cNvSpPr txBox="1"/>
          <p:nvPr/>
        </p:nvSpPr>
        <p:spPr>
          <a:xfrm>
            <a:off x="6985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Salud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1" name="Google Shape;401;p26"/>
          <p:cNvCxnSpPr/>
          <p:nvPr/>
        </p:nvCxnSpPr>
        <p:spPr>
          <a:xfrm>
            <a:off x="30924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32C5F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26"/>
          <p:cNvSpPr/>
          <p:nvPr/>
        </p:nvSpPr>
        <p:spPr>
          <a:xfrm>
            <a:off x="34099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5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35623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98C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2200">
              <a:solidFill>
                <a:srgbClr val="598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35623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Guion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5" name="Google Shape;405;p26"/>
          <p:cNvCxnSpPr/>
          <p:nvPr/>
        </p:nvCxnSpPr>
        <p:spPr>
          <a:xfrm>
            <a:off x="595630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598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26"/>
          <p:cNvSpPr/>
          <p:nvPr/>
        </p:nvSpPr>
        <p:spPr>
          <a:xfrm>
            <a:off x="627380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642620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B06C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200">
              <a:solidFill>
                <a:srgbClr val="B06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642620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Captura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9" name="Google Shape;409;p26"/>
          <p:cNvCxnSpPr/>
          <p:nvPr/>
        </p:nvCxnSpPr>
        <p:spPr>
          <a:xfrm>
            <a:off x="8820150" y="3352800"/>
            <a:ext cx="266700" cy="0"/>
          </a:xfrm>
          <a:prstGeom prst="straightConnector1">
            <a:avLst/>
          </a:prstGeom>
          <a:noFill/>
          <a:ln cap="flat" cmpd="sng" w="19050">
            <a:solidFill>
              <a:srgbClr val="B06C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6"/>
          <p:cNvSpPr/>
          <p:nvPr/>
        </p:nvSpPr>
        <p:spPr>
          <a:xfrm>
            <a:off x="9137650" y="2641600"/>
            <a:ext cx="2508300" cy="14223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EE66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9290050" y="2768600"/>
            <a:ext cx="220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E66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2200">
              <a:solidFill>
                <a:srgbClr val="EE66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6"/>
          <p:cNvSpPr txBox="1"/>
          <p:nvPr/>
        </p:nvSpPr>
        <p:spPr>
          <a:xfrm>
            <a:off x="9290050" y="3251200"/>
            <a:ext cx="220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Diapositiva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546100" y="4559300"/>
            <a:ext cx="11099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Un guion que acierta no mide CRAG ni el modelo.</a:t>
            </a:r>
            <a:endParaRPr sz="18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6"/>
          <p:cNvSpPr txBox="1"/>
          <p:nvPr/>
        </p:nvSpPr>
        <p:spPr>
          <a:xfrm>
            <a:off x="546100" y="5473700"/>
            <a:ext cx="1109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2C5F4"/>
                </a:solidFill>
                <a:latin typeface="Fira Code"/>
                <a:ea typeface="Fira Code"/>
                <a:cs typeface="Fira Code"/>
                <a:sym typeface="Fira Code"/>
              </a:rPr>
              <a:t>http://localhost:5173/</a:t>
            </a:r>
            <a:endParaRPr>
              <a:solidFill>
                <a:srgbClr val="32C5F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14/15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218039"/>
            <a:ext cx="11106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65200" y="431800"/>
            <a:ext cx="10541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Para cerrar</a:t>
            </a:r>
            <a:endParaRPr b="1" sz="2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46100" y="1066800"/>
            <a:ext cx="1109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El QR evalúa S10, la clase del 22 de octubre.</a:t>
            </a:r>
            <a:endParaRPr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09587"/>
            <a:ext cx="260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" y="6229350"/>
            <a:ext cx="1383650" cy="4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546100" y="19050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32C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46100" y="3746500"/>
            <a:ext cx="5257800" cy="1562100"/>
          </a:xfrm>
          <a:prstGeom prst="roundRect">
            <a:avLst>
              <a:gd fmla="val 16667" name="adj"/>
            </a:avLst>
          </a:prstGeom>
          <a:solidFill>
            <a:srgbClr val="0E1830"/>
          </a:solidFill>
          <a:ln cap="flat" cmpd="sng" w="15875">
            <a:solidFill>
              <a:srgbClr val="B06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49300" y="20574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Tu feedback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49300" y="25654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Si queda alguien sin escanear, este es el momento.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49300" y="3898900"/>
            <a:ext cx="482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Después</a:t>
            </a:r>
            <a:endParaRPr b="1" sz="2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49300" y="4406900"/>
            <a:ext cx="4826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La comparación de 20 preguntas espera presupuesto.</a:t>
            </a:r>
            <a:endParaRPr sz="17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286500" y="1473200"/>
            <a:ext cx="5359500" cy="4737000"/>
          </a:xfrm>
          <a:prstGeom prst="roundRect">
            <a:avLst>
              <a:gd fmla="val 16667" name="adj"/>
            </a:avLst>
          </a:prstGeom>
          <a:solidFill>
            <a:srgbClr val="080E1D"/>
          </a:solidFill>
          <a:ln cap="flat" cmpd="sng" w="15250">
            <a:solidFill>
              <a:srgbClr val="28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9300" y="1727200"/>
            <a:ext cx="4140201" cy="414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629400" y="5918200"/>
            <a:ext cx="501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Evaluación de la clase anterior</a:t>
            </a:r>
            <a:endParaRPr sz="12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601200" y="6324600"/>
            <a:ext cx="203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7B5CA"/>
                </a:solidFill>
                <a:latin typeface="Inter"/>
                <a:ea typeface="Inter"/>
                <a:cs typeface="Inter"/>
                <a:sym typeface="Inter"/>
              </a:rPr>
              <a:t>S11 · AI Engineer   15/15</a:t>
            </a:r>
            <a:endParaRPr sz="1000">
              <a:solidFill>
                <a:srgbClr val="A7B5C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
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62" r:id="rId13"/>
    <p:sldId id="263" r:id="rId14"/>
    <p:sldId id="259" r:id="rId10"/>
    <p:sldId id="261" r:id="rId12"/>
    <p:sldId id="266" r:id="rId17"/>
    <p:sldId id="260" r:id="rId11"/>
    <p:sldId id="265" r:id="rId16"/>
    <p:sldId id="264" r:id="rId15"/>
    <p:sldId id="267" r:id="rId18"/>
    <p:sldId id="268" r:id="rId19"/>
    <p:sldId id="269" r:id="rId20"/>
    <p:sldId id="271" r:id="rId28"/>
  </p:sldIdLst>
  <p:sldSz cy="6858000" cx="12192000"/>
  <p:notesSz cx="6858000" cy="9144000"/>
  <p:embeddedFontLst>
    <p:embeddedFont>
      <p:font typeface="Inter"/>
      <p:regular r:id="rId22"/>
      <p:bold r:id="rId23"/>
      <p:italic r:id="rId24"/>
      <p:boldItalic r:id="rId25"/>
    </p:embeddedFont>
    <p:embeddedFont>
      <p:font typeface="Fira Code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338FCB-8677-43D3-963D-C3D86BA02EA8}">
  <a:tblStyle styleId="{A4338FCB-8677-43D3-963D-C3D86BA02E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ter-regular.fntdata"/><Relationship Id="rId24" Type="http://schemas.openxmlformats.org/officeDocument/2006/relationships/font" Target="fonts/Inter-italic.fntdata"/><Relationship Id="rId23" Type="http://schemas.openxmlformats.org/officeDocument/2006/relationships/font" Target="fonts/Inter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FiraCode-regular.fntdata"/><Relationship Id="rId25" Type="http://schemas.openxmlformats.org/officeDocument/2006/relationships/font" Target="fonts/Inter-boldItalic.fntdata"/><Relationship Id="rId27" Type="http://schemas.openxmlformats.org/officeDocument/2006/relationships/font" Target="fonts/FiraCode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28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s5_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01/15 · 18:30. Objetivo de S11: evolucionar el asistente y el laboratorio de S10 hacia Corrective RAG (CRAG) manteniendo intacto el RAG básico para compararlos. El grafo separa recuperar (hasta 10 candidatos), reordenar en escala [0, 1], valorar suficiencia y reformular hasta 2 veces (3 búsquedas en total).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s5_0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s5_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02/15 · bloque 0–10 min. El QR de AI Engineer evalúa nuestra clase S10 del 22 de octubre. Hoy veremos la diferencia entre relevancia individual y cobertura global, las decisiones del grafo CRAG y la lectura de métricas con resultados ejecutados.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s5_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s5_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03/15 · bloque 0–10 min. Límite del RAG básico: cuando una pregunta exige unir dos secciones o dos documentos (por ejemplo S5 de LangGraph y S6 de observabilidad, o mTLS y SEV-1 en AetherCloud), una sola búsqueda top-4 puede recuperar solo una mitad o meter ruido.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s5_0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s5_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06/15 · bloque 10–25 min. Diferencia fundamental entre recuperar (retrieve, hasta 10 candidatos), reordenar (rank, asigna puntuación en la escala cerrada [0, 1]; opcionalmente con Qwen3-Reranker-0.6B y su prompt yes/no) y juzgar suficiencia (assess). Un fragmento puede tener score = 0,85 porque responde perfectamente a la primera mitad de la pregunta, pero la cobertura de toda la pregunta sigue siendo parcial.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s5_0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s5_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09/15 · bloque 25–45 min. Ruta de evidencia insuficiente (discard -&gt; reformulate -&gt; retrieve). En el guion irrelevant-then-s6, la primera búsqueda trae S16 (score 0,20 &lt; 0,50 -&gt; insufficient). discard descarta S16 anotando el intento 1 y el motivo; la segunda búsqueda tras reformular recupera S6 (0,88) y responde sin citar jamás S16.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s5_0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s5_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07/15 · bloque 25–45 min. Escala [0, 1] y umbrales calibrados (CRAG_SCORE_THRESHOLDS en packages/rag/src/crag.ts y LAB_CRAG_CONFIG en lab/src/config.ts): corte individual minChunkRelevance = 0,50 para entrar en usefulIds; cobertura &lt; 0,40 -&gt; insufficient; 0,40 a 0,74 o con lagunas -&gt; partial; &gt;= 0,75 sin lagunas -&gt; sufficient.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s5_0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s5_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11/15 · bloque 45–65 min. Lectura de la traza en vivo: muestra los pasos separados retrieve, rank y assess, las consultas ejecutadas, los fragmentos conservados con su puntuación en [0, 1] y los descartados con su intento.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s5_0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s5_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04/15 · bloque 10–25 min. Comparación arquitectónica entre RAG básico y nuestra adaptación de CRAG (inspirada en Yan et al., arXiv:2401.15884). En producción y en el laboratorio el grafo separa rank (reordenamiento) y assess (valoración de suficiencia).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s5_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s5_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05/15 · bloque 10–25 min. Estado del grafo en apps/api/src/crag-graph.ts y lab/src/crag-graph.ts. originalQuestion nunca se sobrescribe cuando currentQuery se reformula. Cada turno nace limpio sin arrastrar contadores de preguntas anteriores.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s5_0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s5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10/15 · bloque 45–65 min. Límites de código: máximo 3 búsquedas (la inicial más 2 reformulaciones) y plazo total de 20 s por turno. En la pregunta de la beca de 1991 (o criptomonedas en lab/), tras 3 búsquedas y 2 reformulaciones sin alcanzar cobertura suficiente, el grafo termina en refuse con 0 llamadas al generador.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s5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s5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08/15 · bloque 25–45 min. Ejemplo completo de evidencia parcial (partial-s5-s6 en el curso y caso 14 en lab/). En la búsqueda 1, S5 recibe score 0,80 (&gt;= 0,50), pero assess detecta la laguna de observabilidad (cobertura 0,50 &lt; 0,75 -&gt; partial). retain conserva S5, reformulate busca Langfuse/LangSmith, la búsqueda 2 recupera S6 (0,86), se unen S6 y S5 sin duplicados y assess declara sufficient.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s5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s5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12/15 · bloque 75–80 min. Enunciado publicado de S11 (material/ejercicios/S11-enunciado.md): proyecto reconstruible desde 8+ documentos ficticios e índice vacío en PostgreSQL/pgvector (vector(768) + HNSW), conservando el RAG básico de S10, grafo LangGraph con retrieve (top 10) -&gt; rerank ([0, 1], Qwen3-Reranker-0.6B opcional) -&gt; assess -&gt; retain/discard -&gt; reformulate (máx. 2, 3 búsquedas) -&gt; answer/refuse, y comparación ejecutada sobre 20 preguntas nuevas.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s5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s5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13/15 · bloque 65–75 min. Lectura de métricas con resultados reales y de laboratorio. En el laboratorio pgvector (lab/eval/resultados-laboratorio.md): RAG básico 16/20 (10/14 respondibles, 6/6 rechazos, 1,00 búsquedas medias) frente a CRAG 17/20 (11/14 respondibles, 6/6 rechazos, 1,80 búsquedas medias). En el lote histórico cloud del 3 de octubre (tabla-resultados.md, etiquetado como histórico por cambio posterior de modelo y prompts): RAG 17/20 (11/14, 6/6, 0,95 búsquedas medias, 1,19 s) frente a CRAG 18/20 (13/14, 5/6, 1,55 búsquedas medias, 4,30 s).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s5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s5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14/15 · referencia de respaldo. Si el servicio remoto o el presupuesto dan aviso, usa bun run lab:demo o el modo demo local anunciando claramente qué entorno se está proyectando.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s5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s5_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S11 · 15/15 · cierre y preguntas (80–90 min). Deja el QR visible (evalúa nuestra S10 del 22 de octubre). Recuerda que la entrega de S11 incluye la tabla de comparación ejecutada con recuperaciones medias y revisión manual de fuentes.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s5_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15.jp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11" Type="http://schemas.openxmlformats.org/officeDocument/2006/relationships/image" Target="../media/image12.png"/><Relationship Id="rId10" Type="http://schemas.openxmlformats.org/officeDocument/2006/relationships/image" Target="../media/image5.png"/><Relationship Id="rId9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image14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11" Type="http://schemas.openxmlformats.org/officeDocument/2006/relationships/image" Target="../media/image12.png"/><Relationship Id="rId10" Type="http://schemas.openxmlformats.org/officeDocument/2006/relationships/image" Target="../media/image5.png"/><Relationship Id="rId9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image14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2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2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11" Type="http://schemas.openxmlformats.org/officeDocument/2006/relationships/image" Target="../media/image12.png"/><Relationship Id="rId10" Type="http://schemas.openxmlformats.org/officeDocument/2006/relationships/image" Target="../media/image5.png"/><Relationship Id="rId9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image14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11" Type="http://schemas.openxmlformats.org/officeDocument/2006/relationships/image" Target="../media/image12.png"/><Relationship Id="rId10" Type="http://schemas.openxmlformats.org/officeDocument/2006/relationships/image" Target="../media/image5.png"/><Relationship Id="rId9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image14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84200" y="927100"/>
            <a:ext cx="67311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CRAG</a:t>
            </a:r>
            <a:endParaRPr b="1" sz="42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El mismo asistente</a:t>
            </a:r>
            <a:endParaRPr b="1" sz="42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09600" y="3352800"/>
            <a:ext cx="6096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Recuperar hasta 10, reordenar en [0, 1] y valorar suficiencia.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etapa de RAG básico se conserva como línea base.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4200" y="61087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thePower · AI Engineer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8483600" y="6108700"/>
            <a:ext cx="3111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José Antonio Nuevo</a:t>
            </a:r>
            <a:endParaRPr sz="16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609600" y="4635500"/>
            <a:ext cx="6350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27 octubre 2026 · 18:30–20:00</a:t>
            </a:r>
            <a:endParaRPr b="1" sz="18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609600" y="5257800"/>
            <a:ext cx="6146700" cy="5460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243C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774700" y="5359400"/>
            <a:ext cx="58419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LangGraph · Rerank [0, 1] · Assess</a:t>
            </a:r>
            <a:endParaRPr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92" name="Google Shape;92;p13"/>
          <p:cNvCxnSpPr/>
          <p:nvPr/>
        </p:nvCxnSpPr>
        <p:spPr>
          <a:xfrm>
            <a:off x="9423400" y="1282700"/>
            <a:ext cx="0" cy="180330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" name="Google Shape;93;p13"/>
          <p:cNvCxnSpPr/>
          <p:nvPr/>
        </p:nvCxnSpPr>
        <p:spPr>
          <a:xfrm flipH="1">
            <a:off x="8001100" y="3086100"/>
            <a:ext cx="1422300" cy="182880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4" name="Google Shape;94;p13"/>
          <p:cNvCxnSpPr/>
          <p:nvPr/>
        </p:nvCxnSpPr>
        <p:spPr>
          <a:xfrm>
            <a:off x="9423400" y="3086100"/>
            <a:ext cx="1397100" cy="182880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5" name="Google Shape;95;p13"/>
          <p:cNvSpPr/>
          <p:nvPr/>
        </p:nvSpPr>
        <p:spPr>
          <a:xfrm>
            <a:off x="8648700" y="812800"/>
            <a:ext cx="1549500" cy="939900"/>
          </a:xfrm>
          <a:prstGeom prst="ellipse">
            <a:avLst/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8737600" y="1092200"/>
            <a:ext cx="13716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Recuperar 10</a:t>
            </a:r>
            <a:endParaRPr b="1"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8648700" y="2616200"/>
            <a:ext cx="1549500" cy="939900"/>
          </a:xfrm>
          <a:prstGeom prst="ellipse">
            <a:avLst/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8737600" y="2895600"/>
            <a:ext cx="13716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Reordenar</a:t>
            </a:r>
            <a:endParaRPr b="1"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13"/>
          <p:cNvSpPr/>
          <p:nvPr/>
        </p:nvSpPr>
        <p:spPr>
          <a:xfrm>
            <a:off x="7226300" y="4445000"/>
            <a:ext cx="1549500" cy="939900"/>
          </a:xfrm>
          <a:prstGeom prst="ellipse">
            <a:avLst/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7315200" y="4724400"/>
            <a:ext cx="13716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Valorar</a:t>
            </a:r>
            <a:endParaRPr b="1"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3"/>
          <p:cNvSpPr/>
          <p:nvPr/>
        </p:nvSpPr>
        <p:spPr>
          <a:xfrm>
            <a:off x="10045700" y="4445000"/>
            <a:ext cx="1549500" cy="939900"/>
          </a:xfrm>
          <a:prstGeom prst="ellipse">
            <a:avLst/>
          </a:prstGeom>
          <a:solidFill>
            <a:srgbClr val="0E1830"/>
          </a:solidFill>
          <a:ln cap="flat" cmpd="sng" w="15875">
            <a:solidFill>
              <a:srgbClr val="EE66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3"/>
          <p:cNvSpPr txBox="1"/>
          <p:nvPr/>
        </p:nvSpPr>
        <p:spPr>
          <a:xfrm>
            <a:off x="10134600" y="4724400"/>
            <a:ext cx="13716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Reformular</a:t>
            </a:r>
            <a:endParaRPr b="1" sz="16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7" name="Google Shape;10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218039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Antes de empezar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QR de AI Engineer evalúa nuestra clase S10.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11" name="Google Shape;111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/>
          <p:nvPr/>
        </p:nvSpPr>
        <p:spPr>
          <a:xfrm>
            <a:off x="546100" y="1905000"/>
            <a:ext cx="5257800" cy="15621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546100" y="3746500"/>
            <a:ext cx="5257800" cy="15621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749300" y="20574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Tu feedback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749300" y="2565400"/>
            <a:ext cx="4826100" cy="7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Escanea el QR. Valora la clase del 22 de octubre.</a:t>
            </a:r>
            <a:endParaRPr sz="17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749300" y="38989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Hoy veremos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749300" y="4406900"/>
            <a:ext cx="4826100" cy="7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Recuperar, reordenar, juzgar suficiencia y medir resultados.</a:t>
            </a:r>
            <a:endParaRPr sz="17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6286500" y="1473200"/>
            <a:ext cx="5359500" cy="47370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99300" y="1727200"/>
            <a:ext cx="4140201" cy="4140201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4"/>
          <p:cNvSpPr txBox="1"/>
          <p:nvPr/>
        </p:nvSpPr>
        <p:spPr>
          <a:xfrm>
            <a:off x="6629400" y="5918200"/>
            <a:ext cx="5016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Evaluación de la clase anterior</a:t>
            </a:r>
            <a:endParaRPr sz="12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02/15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7" name="Google Shape;12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65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50125" y="2484252"/>
            <a:ext cx="3498950" cy="302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5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Un límite del RAG básico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Una búsqueda no comprueba si falta una parte de la pregunta.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34" name="Google Shape;134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3365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82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5"/>
          <p:cNvSpPr txBox="1"/>
          <p:nvPr/>
        </p:nvSpPr>
        <p:spPr>
          <a:xfrm>
            <a:off x="8382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Una pasada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8382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umbral acepta o descarta. No vuelve a buscar.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38" name="Google Shape;138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18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5"/>
          <p:cNvSpPr txBox="1"/>
          <p:nvPr/>
        </p:nvSpPr>
        <p:spPr>
          <a:xfrm>
            <a:off x="463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Dos temas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463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Unir S5 y S6 puede quedarse corto a la primera.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41" name="Google Shape;141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454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5"/>
          <p:cNvSpPr txBox="1"/>
          <p:nvPr/>
        </p:nvSpPr>
        <p:spPr>
          <a:xfrm>
            <a:off x="844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Sin victoria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15"/>
          <p:cNvSpPr txBox="1"/>
          <p:nvPr/>
        </p:nvSpPr>
        <p:spPr>
          <a:xfrm>
            <a:off x="844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CRAG no garantiza una respuesta mejor.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44" name="Google Shape;144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6787" y="2893814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561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97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5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03/15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3" name="Google Shape;15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809750"/>
            <a:ext cx="5362575" cy="3924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Recuperar, reordenar y juzgar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16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Relevancia de un fragmento y cobertura de la pregunta son decisiones distintas.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58" name="Google Shape;15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6"/>
          <p:cNvSpPr/>
          <p:nvPr/>
        </p:nvSpPr>
        <p:spPr>
          <a:xfrm>
            <a:off x="6858000" y="21590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1" name="Google Shape;161;p16"/>
          <p:cNvCxnSpPr/>
          <p:nvPr/>
        </p:nvCxnSpPr>
        <p:spPr>
          <a:xfrm>
            <a:off x="8921750" y="2743200"/>
            <a:ext cx="0" cy="15240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2" name="Google Shape;162;p16"/>
          <p:cNvSpPr/>
          <p:nvPr/>
        </p:nvSpPr>
        <p:spPr>
          <a:xfrm>
            <a:off x="6858000" y="29464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16"/>
          <p:cNvCxnSpPr/>
          <p:nvPr/>
        </p:nvCxnSpPr>
        <p:spPr>
          <a:xfrm>
            <a:off x="8921750" y="3530600"/>
            <a:ext cx="0" cy="15240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4" name="Google Shape;164;p16"/>
          <p:cNvSpPr/>
          <p:nvPr/>
        </p:nvSpPr>
        <p:spPr>
          <a:xfrm>
            <a:off x="6858000" y="37338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6"/>
          <p:cNvSpPr/>
          <p:nvPr/>
        </p:nvSpPr>
        <p:spPr>
          <a:xfrm>
            <a:off x="546100" y="2844800"/>
            <a:ext cx="5359500" cy="18669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660400" y="2971800"/>
            <a:ext cx="5079900" cy="161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retrieve -&gt; hasta 10 candidatos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rank     -&gt; score en [0.00, 1.00]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assess   -&gt; útil &gt;= 0.50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         -&gt; cobertura &gt;= 0.75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Qwen3-Reranker-0.6B opcional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/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7" name="Google Shape;167;p16"/>
          <p:cNvSpPr txBox="1"/>
          <p:nvPr/>
        </p:nvSpPr>
        <p:spPr>
          <a:xfrm>
            <a:off x="7010400" y="22733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Recuperar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8" name="Google Shape;168;p16"/>
          <p:cNvSpPr txBox="1"/>
          <p:nvPr/>
        </p:nvSpPr>
        <p:spPr>
          <a:xfrm>
            <a:off x="7010400" y="30607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Reordenar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9" name="Google Shape;169;p16"/>
          <p:cNvSpPr txBox="1"/>
          <p:nvPr/>
        </p:nvSpPr>
        <p:spPr>
          <a:xfrm>
            <a:off x="7010400" y="38481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Juzgar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16"/>
          <p:cNvSpPr txBox="1"/>
          <p:nvPr/>
        </p:nvSpPr>
        <p:spPr>
          <a:xfrm>
            <a:off x="546100" y="5257800"/>
            <a:ext cx="110997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Un fragmento con 0,85 puede cubrir solo media pregunta (partial).</a:t>
            </a:r>
            <a:endParaRPr sz="15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1" name="Google Shape;171;p16"/>
          <p:cNvSpPr txBox="1"/>
          <p:nvPr/>
        </p:nvSpPr>
        <p:spPr>
          <a:xfrm>
            <a:off x="546100" y="5765800"/>
            <a:ext cx="11099700" cy="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Escala [0, 1] calibrada con validación, nunca con el test.</a:t>
            </a:r>
            <a:endParaRPr sz="130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2" name="Google Shape;172;p16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06/15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7" name="Google Shape;17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65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50125" y="2484252"/>
            <a:ext cx="3498950" cy="302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Descartar y buscar otra vez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Lo rechazado no entra en la respuesta. La pregunta sigue.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84" name="Google Shape;184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3365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82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7"/>
          <p:cNvSpPr txBox="1"/>
          <p:nvPr/>
        </p:nvSpPr>
        <p:spPr>
          <a:xfrm>
            <a:off x="8382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Descartar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8382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Se anota el id, el motivo y el intento.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88" name="Google Shape;188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18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7"/>
          <p:cNvSpPr txBox="1"/>
          <p:nvPr/>
        </p:nvSpPr>
        <p:spPr>
          <a:xfrm>
            <a:off x="463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Reformular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17"/>
          <p:cNvSpPr txBox="1"/>
          <p:nvPr/>
        </p:nvSpPr>
        <p:spPr>
          <a:xfrm>
            <a:off x="463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Si no avanza o sale vacía, se rechaza.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91" name="Google Shape;191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454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7"/>
          <p:cNvSpPr txBox="1"/>
          <p:nvPr/>
        </p:nvSpPr>
        <p:spPr>
          <a:xfrm>
            <a:off x="844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Otra búsqueda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17"/>
          <p:cNvSpPr txBox="1"/>
          <p:nvPr/>
        </p:nvSpPr>
        <p:spPr>
          <a:xfrm>
            <a:off x="844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Cuenta dentro de las tres. No hay una cuarta.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94" name="Google Shape;194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6787" y="2893814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561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97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7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7"/>
          <p:cNvSpPr txBox="1"/>
          <p:nvPr/>
        </p:nvSpPr>
        <p:spPr>
          <a:xfrm>
            <a:off x="546100" y="5613400"/>
            <a:ext cx="110997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Cada descarte conserva su intento.</a:t>
            </a:r>
            <a:endParaRPr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9" name="Google Shape;199;p17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09/15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4" name="Google Shape;20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8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Umbrales calibrados y rutas del grafo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7" name="Google Shape;207;p18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Corte individual 0,50; cobertura parcial 0,40–0,74; suficiente &gt;= 0,75.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08" name="Google Shape;208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8"/>
          <p:cNvSpPr/>
          <p:nvPr/>
        </p:nvSpPr>
        <p:spPr>
          <a:xfrm>
            <a:off x="54610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8"/>
          <p:cNvSpPr txBox="1"/>
          <p:nvPr/>
        </p:nvSpPr>
        <p:spPr>
          <a:xfrm>
            <a:off x="69850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1" sz="22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2" name="Google Shape;212;p18"/>
          <p:cNvSpPr txBox="1"/>
          <p:nvPr/>
        </p:nvSpPr>
        <p:spPr>
          <a:xfrm>
            <a:off x="69850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Suficiente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13" name="Google Shape;213;p18"/>
          <p:cNvCxnSpPr/>
          <p:nvPr/>
        </p:nvCxnSpPr>
        <p:spPr>
          <a:xfrm>
            <a:off x="251968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4" name="Google Shape;214;p18"/>
          <p:cNvSpPr/>
          <p:nvPr/>
        </p:nvSpPr>
        <p:spPr>
          <a:xfrm>
            <a:off x="283718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8"/>
          <p:cNvSpPr txBox="1"/>
          <p:nvPr/>
        </p:nvSpPr>
        <p:spPr>
          <a:xfrm>
            <a:off x="298958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98C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1" sz="2200">
              <a:solidFill>
                <a:srgbClr val="598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18"/>
          <p:cNvSpPr txBox="1"/>
          <p:nvPr/>
        </p:nvSpPr>
        <p:spPr>
          <a:xfrm>
            <a:off x="298958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Parcial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17" name="Google Shape;217;p18"/>
          <p:cNvCxnSpPr/>
          <p:nvPr/>
        </p:nvCxnSpPr>
        <p:spPr>
          <a:xfrm>
            <a:off x="481076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8" name="Google Shape;218;p18"/>
          <p:cNvSpPr/>
          <p:nvPr/>
        </p:nvSpPr>
        <p:spPr>
          <a:xfrm>
            <a:off x="512826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8"/>
          <p:cNvSpPr txBox="1"/>
          <p:nvPr/>
        </p:nvSpPr>
        <p:spPr>
          <a:xfrm>
            <a:off x="528066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B06C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1" sz="2200">
              <a:solidFill>
                <a:srgbClr val="B06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18"/>
          <p:cNvSpPr txBox="1"/>
          <p:nvPr/>
        </p:nvSpPr>
        <p:spPr>
          <a:xfrm>
            <a:off x="528066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Insuficiente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21" name="Google Shape;221;p18"/>
          <p:cNvCxnSpPr/>
          <p:nvPr/>
        </p:nvCxnSpPr>
        <p:spPr>
          <a:xfrm>
            <a:off x="710184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B06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2" name="Google Shape;222;p18"/>
          <p:cNvSpPr/>
          <p:nvPr/>
        </p:nvSpPr>
        <p:spPr>
          <a:xfrm>
            <a:off x="741934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EE66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8"/>
          <p:cNvSpPr txBox="1"/>
          <p:nvPr/>
        </p:nvSpPr>
        <p:spPr>
          <a:xfrm>
            <a:off x="757174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EE66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1" sz="2200">
              <a:solidFill>
                <a:srgbClr val="EE66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4" name="Google Shape;224;p18"/>
          <p:cNvSpPr txBox="1"/>
          <p:nvPr/>
        </p:nvSpPr>
        <p:spPr>
          <a:xfrm>
            <a:off x="757174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Rechazo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25" name="Google Shape;225;p18"/>
          <p:cNvCxnSpPr/>
          <p:nvPr/>
        </p:nvCxnSpPr>
        <p:spPr>
          <a:xfrm>
            <a:off x="939292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EE66B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6" name="Google Shape;226;p18"/>
          <p:cNvSpPr/>
          <p:nvPr/>
        </p:nvSpPr>
        <p:spPr>
          <a:xfrm>
            <a:off x="9710420" y="2641600"/>
            <a:ext cx="19356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9862820" y="2768600"/>
            <a:ext cx="1630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b="1" sz="22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18"/>
          <p:cNvSpPr txBox="1"/>
          <p:nvPr/>
        </p:nvSpPr>
        <p:spPr>
          <a:xfrm>
            <a:off x="9862820" y="3251200"/>
            <a:ext cx="1630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Error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9" name="Google Shape;229;p18"/>
          <p:cNvSpPr txBox="1"/>
          <p:nvPr/>
        </p:nvSpPr>
        <p:spPr>
          <a:xfrm>
            <a:off x="546100" y="4559300"/>
            <a:ext cx="110997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Si tras 3 búsquedas (1 + 2 reformulaciones) no basta, rechaza sin generar.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0" name="Google Shape;230;p18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07/15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5" name="Google Shape;23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19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RAG básico y esta adaptación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19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Nodos separados de reordenamiento y valoración con topes estrictos.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39" name="Google Shape;23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984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41" name="Google Shape;241;p19"/>
          <p:cNvGraphicFramePr/>
          <p:nvPr/>
        </p:nvGraphicFramePr>
        <p:xfrm>
          <a:off x="546100" y="1905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{A4338FCB-8677-43D3-963D-C3D86BA02EA8}</a:tableStyleId>
              </a:tblPr>
              <a:tblGrid>
                <a:gridCol w="3699925"/>
                <a:gridCol w="3699925"/>
                <a:gridCol w="3699925"/>
              </a:tblGrid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Pieza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RAG básico (S10)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CRAG (S11)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Búsquedas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 (top-4)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Hasta 3 (top-10 + 2 reform.)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Control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Umbral único de similitud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rank [0, 1] + assess suficiencia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Rutas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Responder o rechazar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Suficiente, parcial o insuficiente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</a:tbl>
          </a:graphicData>
        </a:graphic>
      </p:graphicFrame>
      <p:sp>
        <p:nvSpPr>
          <p:cNvPr id="242" name="Google Shape;242;p19"/>
          <p:cNvSpPr txBox="1"/>
          <p:nvPr/>
        </p:nvSpPr>
        <p:spPr>
          <a:xfrm>
            <a:off x="546100" y="5715000"/>
            <a:ext cx="11099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Inspirado en Yan, Gu, Zhu y Ling (arXiv:2401.15884).</a:t>
            </a:r>
            <a:endParaRPr sz="13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04/15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8" name="Google Shape;24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9" name="Google Shape;24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218039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0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Estado y consulta de búsqueda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20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pregunta original no se sustituye por la reformulación.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52" name="Google Shape;25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0"/>
          <p:cNvSpPr/>
          <p:nvPr/>
        </p:nvSpPr>
        <p:spPr>
          <a:xfrm>
            <a:off x="546100" y="1803400"/>
            <a:ext cx="5257800" cy="16002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0"/>
          <p:cNvSpPr/>
          <p:nvPr/>
        </p:nvSpPr>
        <p:spPr>
          <a:xfrm>
            <a:off x="546100" y="3708400"/>
            <a:ext cx="5257800" cy="16002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749300" y="19685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Pregunta original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749300" y="2501900"/>
            <a:ext cx="48261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Se conserva durante el turno y llega a la respuesta.</a:t>
            </a:r>
            <a:endParaRPr sz="16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8" name="Google Shape;258;p20"/>
          <p:cNvSpPr txBox="1"/>
          <p:nvPr/>
        </p:nvSpPr>
        <p:spPr>
          <a:xfrm>
            <a:off x="749300" y="38735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Consulta de búsqueda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9" name="Google Shape;259;p20"/>
          <p:cNvSpPr txBox="1"/>
          <p:nvPr/>
        </p:nvSpPr>
        <p:spPr>
          <a:xfrm>
            <a:off x="749300" y="4406900"/>
            <a:ext cx="48261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Puede cambiar. No borra lo que preguntó el alumno.</a:t>
            </a:r>
            <a:endParaRPr sz="16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0" name="Google Shape;260;p20"/>
          <p:cNvSpPr/>
          <p:nvPr/>
        </p:nvSpPr>
        <p:spPr>
          <a:xfrm>
            <a:off x="6286500" y="1473200"/>
            <a:ext cx="5359500" cy="47370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0"/>
          <p:cNvSpPr txBox="1"/>
          <p:nvPr/>
        </p:nvSpPr>
        <p:spPr>
          <a:xfrm>
            <a:off x="6451600" y="1968500"/>
            <a:ext cx="4965600" cy="30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originalQuestion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currentQuery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siguen siendo distintas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retrievalCount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reformulationCount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máximo 3 y 2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sin checkpointer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cada turno nace vacío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// packages/rag/src/crag.ts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2" name="Google Shape;262;p20"/>
          <p:cNvSpPr txBox="1"/>
          <p:nvPr/>
        </p:nvSpPr>
        <p:spPr>
          <a:xfrm>
            <a:off x="546100" y="5676900"/>
            <a:ext cx="110997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Cada turno nace vacío.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3" name="Google Shape;263;p20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05/15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8" name="Google Shape;26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9" name="Google Shape;26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1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La traza que ve la clase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1" name="Google Shape;271;p21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Motivo, orden, conservados y descartados. En demo es un guion.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72" name="Google Shape;272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1"/>
          <p:cNvSpPr/>
          <p:nvPr/>
        </p:nvSpPr>
        <p:spPr>
          <a:xfrm>
            <a:off x="54610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1"/>
          <p:cNvSpPr txBox="1"/>
          <p:nvPr/>
        </p:nvSpPr>
        <p:spPr>
          <a:xfrm>
            <a:off x="69850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1" sz="22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21"/>
          <p:cNvSpPr txBox="1"/>
          <p:nvPr/>
        </p:nvSpPr>
        <p:spPr>
          <a:xfrm>
            <a:off x="69850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Motivo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77" name="Google Shape;277;p21"/>
          <p:cNvCxnSpPr/>
          <p:nvPr/>
        </p:nvCxnSpPr>
        <p:spPr>
          <a:xfrm>
            <a:off x="309245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8" name="Google Shape;278;p21"/>
          <p:cNvSpPr/>
          <p:nvPr/>
        </p:nvSpPr>
        <p:spPr>
          <a:xfrm>
            <a:off x="340995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1"/>
          <p:cNvSpPr txBox="1"/>
          <p:nvPr/>
        </p:nvSpPr>
        <p:spPr>
          <a:xfrm>
            <a:off x="356235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98C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1" sz="2200">
              <a:solidFill>
                <a:srgbClr val="598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0" name="Google Shape;280;p21"/>
          <p:cNvSpPr txBox="1"/>
          <p:nvPr/>
        </p:nvSpPr>
        <p:spPr>
          <a:xfrm>
            <a:off x="356235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Orden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81" name="Google Shape;281;p21"/>
          <p:cNvCxnSpPr/>
          <p:nvPr/>
        </p:nvCxnSpPr>
        <p:spPr>
          <a:xfrm>
            <a:off x="595630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2" name="Google Shape;282;p21"/>
          <p:cNvSpPr/>
          <p:nvPr/>
        </p:nvSpPr>
        <p:spPr>
          <a:xfrm>
            <a:off x="627380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1"/>
          <p:cNvSpPr txBox="1"/>
          <p:nvPr/>
        </p:nvSpPr>
        <p:spPr>
          <a:xfrm>
            <a:off x="642620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B06C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1" sz="2200">
              <a:solidFill>
                <a:srgbClr val="B06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4" name="Google Shape;284;p21"/>
          <p:cNvSpPr txBox="1"/>
          <p:nvPr/>
        </p:nvSpPr>
        <p:spPr>
          <a:xfrm>
            <a:off x="642620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Conservados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5" name="Google Shape;285;p21"/>
          <p:cNvSpPr/>
          <p:nvPr/>
        </p:nvSpPr>
        <p:spPr>
          <a:xfrm>
            <a:off x="913765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EE66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1"/>
          <p:cNvSpPr txBox="1"/>
          <p:nvPr/>
        </p:nvSpPr>
        <p:spPr>
          <a:xfrm>
            <a:off x="929005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EE66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1" sz="2200">
              <a:solidFill>
                <a:srgbClr val="EE66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7" name="Google Shape;287;p21"/>
          <p:cNvSpPr txBox="1"/>
          <p:nvPr/>
        </p:nvSpPr>
        <p:spPr>
          <a:xfrm>
            <a:off x="929005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Descartados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8" name="Google Shape;288;p21"/>
          <p:cNvSpPr txBox="1"/>
          <p:nvPr/>
        </p:nvSpPr>
        <p:spPr>
          <a:xfrm>
            <a:off x="546100" y="4559300"/>
            <a:ext cx="110997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selector queda quieto mientras la respuesta está en curso.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9" name="Google Shape;289;p21"/>
          <p:cNvSpPr txBox="1"/>
          <p:nvPr/>
        </p:nvSpPr>
        <p:spPr>
          <a:xfrm>
            <a:off x="546100" y="5473700"/>
            <a:ext cx="110997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fixtures/crag-development-cases.json</a:t>
            </a:r>
            <a:endParaRPr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0" name="Google Shape;290;p21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11/15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91" name="Google Shape;291;p21"/>
          <p:cNvCxnSpPr/>
          <p:nvPr/>
        </p:nvCxnSpPr>
        <p:spPr>
          <a:xfrm>
            <a:off x="7527925" y="4064000"/>
            <a:ext cx="0" cy="292200"/>
          </a:xfrm>
          <a:prstGeom prst="straightConnector1">
            <a:avLst/>
          </a:prstGeom>
          <a:noFill/>
          <a:ln cap="flat" cmpd="sng" w="20325">
            <a:solidFill>
              <a:srgbClr val="32C5F4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21"/>
          <p:cNvCxnSpPr/>
          <p:nvPr/>
        </p:nvCxnSpPr>
        <p:spPr>
          <a:xfrm rot="10800000">
            <a:off x="4664125" y="4356100"/>
            <a:ext cx="2863800" cy="0"/>
          </a:xfrm>
          <a:prstGeom prst="straightConnector1">
            <a:avLst/>
          </a:prstGeom>
          <a:noFill/>
          <a:ln cap="flat" cmpd="sng" w="20325">
            <a:solidFill>
              <a:srgbClr val="32C5F4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21"/>
          <p:cNvCxnSpPr/>
          <p:nvPr/>
        </p:nvCxnSpPr>
        <p:spPr>
          <a:xfrm rot="10800000">
            <a:off x="4664075" y="4063900"/>
            <a:ext cx="0" cy="292200"/>
          </a:xfrm>
          <a:prstGeom prst="straightConnector1">
            <a:avLst/>
          </a:prstGeom>
          <a:noFill/>
          <a:ln cap="flat" cmpd="sng" w="20325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4" name="Google Shape;294;p21"/>
          <p:cNvCxnSpPr/>
          <p:nvPr/>
        </p:nvCxnSpPr>
        <p:spPr>
          <a:xfrm rot="10800000">
            <a:off x="4664075" y="2120800"/>
            <a:ext cx="0" cy="520800"/>
          </a:xfrm>
          <a:prstGeom prst="straightConnector1">
            <a:avLst/>
          </a:prstGeom>
          <a:noFill/>
          <a:ln cap="flat" cmpd="sng" w="20325">
            <a:solidFill>
              <a:srgbClr val="EE66B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21"/>
          <p:cNvCxnSpPr/>
          <p:nvPr/>
        </p:nvCxnSpPr>
        <p:spPr>
          <a:xfrm>
            <a:off x="4664075" y="2120900"/>
            <a:ext cx="5727600" cy="0"/>
          </a:xfrm>
          <a:prstGeom prst="straightConnector1">
            <a:avLst/>
          </a:prstGeom>
          <a:noFill/>
          <a:ln cap="flat" cmpd="sng" w="20325">
            <a:solidFill>
              <a:srgbClr val="EE66B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6" name="Google Shape;296;p21"/>
          <p:cNvCxnSpPr/>
          <p:nvPr/>
        </p:nvCxnSpPr>
        <p:spPr>
          <a:xfrm>
            <a:off x="10391775" y="2120900"/>
            <a:ext cx="0" cy="520800"/>
          </a:xfrm>
          <a:prstGeom prst="straightConnector1">
            <a:avLst/>
          </a:prstGeom>
          <a:noFill/>
          <a:ln cap="flat" cmpd="sng" w="20325">
            <a:solidFill>
              <a:srgbClr val="EE66B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97" name="Google Shape;297;p21"/>
          <p:cNvSpPr txBox="1"/>
          <p:nvPr/>
        </p:nvSpPr>
        <p:spPr>
          <a:xfrm>
            <a:off x="5499100" y="1727200"/>
            <a:ext cx="4064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Guion de prueba</a:t>
            </a:r>
            <a:endParaRPr sz="12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8" name="Google Shape;298;p21"/>
          <p:cNvSpPr txBox="1"/>
          <p:nvPr/>
        </p:nvSpPr>
        <p:spPr>
          <a:xfrm>
            <a:off x="5041900" y="4038600"/>
            <a:ext cx="2121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No es calidad del modelo</a:t>
            </a:r>
            <a:endParaRPr sz="12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3" name="Google Shape;30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5" name="Google Shape;30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6" name="Google Shape;306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65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7" name="Google Shape;307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50125" y="2484252"/>
            <a:ext cx="3498950" cy="3020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2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Límites de un solo turno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9" name="Google Shape;309;p22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código corta. Una frase del prompt no sustituye el límite.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10" name="Google Shape;310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3365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82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2"/>
          <p:cNvSpPr txBox="1"/>
          <p:nvPr/>
        </p:nvSpPr>
        <p:spPr>
          <a:xfrm>
            <a:off x="8382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Búsquedas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3" name="Google Shape;313;p22"/>
          <p:cNvSpPr txBox="1"/>
          <p:nvPr/>
        </p:nvSpPr>
        <p:spPr>
          <a:xfrm>
            <a:off x="8382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Tres, con la primera. Un fallo también cuenta.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14" name="Google Shape;314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18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2"/>
          <p:cNvSpPr txBox="1"/>
          <p:nvPr/>
        </p:nvSpPr>
        <p:spPr>
          <a:xfrm>
            <a:off x="463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Reformulaciones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6" name="Google Shape;316;p22"/>
          <p:cNvSpPr txBox="1"/>
          <p:nvPr/>
        </p:nvSpPr>
        <p:spPr>
          <a:xfrm>
            <a:off x="463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Dos. No hay un reintento escondido.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17" name="Google Shape;317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454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2"/>
          <p:cNvSpPr txBox="1"/>
          <p:nvPr/>
        </p:nvSpPr>
        <p:spPr>
          <a:xfrm>
            <a:off x="844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Plazo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9" name="Google Shape;319;p22"/>
          <p:cNvSpPr txBox="1"/>
          <p:nvPr/>
        </p:nvSpPr>
        <p:spPr>
          <a:xfrm>
            <a:off x="844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20 s en total. Cada llamada recibe lo que queda.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20" name="Google Shape;320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6787" y="2893814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1" name="Google Shape;321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561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2" name="Google Shape;322;p2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97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22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2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10/15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9" name="Google Shape;32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809750"/>
            <a:ext cx="5362575" cy="392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23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Ejemplo completo de evidencia parcial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3" name="Google Shape;333;p23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Pasada 1 conserva S5 (0,80); reformula y en la pasada 2 une S6 (0,86).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34" name="Google Shape;334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23"/>
          <p:cNvSpPr/>
          <p:nvPr/>
        </p:nvSpPr>
        <p:spPr>
          <a:xfrm>
            <a:off x="6858000" y="21590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7" name="Google Shape;337;p23"/>
          <p:cNvCxnSpPr/>
          <p:nvPr/>
        </p:nvCxnSpPr>
        <p:spPr>
          <a:xfrm>
            <a:off x="8921750" y="2743200"/>
            <a:ext cx="0" cy="15240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38" name="Google Shape;338;p23"/>
          <p:cNvSpPr/>
          <p:nvPr/>
        </p:nvSpPr>
        <p:spPr>
          <a:xfrm>
            <a:off x="6858000" y="29464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9" name="Google Shape;339;p23"/>
          <p:cNvCxnSpPr/>
          <p:nvPr/>
        </p:nvCxnSpPr>
        <p:spPr>
          <a:xfrm>
            <a:off x="8921750" y="3530600"/>
            <a:ext cx="0" cy="15240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40" name="Google Shape;340;p23"/>
          <p:cNvSpPr/>
          <p:nvPr/>
        </p:nvSpPr>
        <p:spPr>
          <a:xfrm>
            <a:off x="6858000" y="3733800"/>
            <a:ext cx="4127400" cy="5589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3"/>
          <p:cNvSpPr/>
          <p:nvPr/>
        </p:nvSpPr>
        <p:spPr>
          <a:xfrm>
            <a:off x="546100" y="2844800"/>
            <a:ext cx="5359500" cy="18669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3"/>
          <p:cNvSpPr txBox="1"/>
          <p:nvPr/>
        </p:nvSpPr>
        <p:spPr>
          <a:xfrm>
            <a:off x="660400" y="2971800"/>
            <a:ext cx="5079900" cy="161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1: S5 (0.80) -&gt; partial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2: S6 (0.86) + S5 -&gt; answer</a:t>
            </a:r>
            <a:endParaRPr sz="1350"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23"/>
          <p:cNvSpPr txBox="1"/>
          <p:nvPr/>
        </p:nvSpPr>
        <p:spPr>
          <a:xfrm>
            <a:off x="7010400" y="22733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Retener S5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23"/>
          <p:cNvSpPr txBox="1"/>
          <p:nvPr/>
        </p:nvSpPr>
        <p:spPr>
          <a:xfrm>
            <a:off x="7010400" y="30607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Reformular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23"/>
          <p:cNvSpPr txBox="1"/>
          <p:nvPr/>
        </p:nvSpPr>
        <p:spPr>
          <a:xfrm>
            <a:off x="7010400" y="3848100"/>
            <a:ext cx="3822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Unir S6+S5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546100" y="5257800"/>
            <a:ext cx="110997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La cobertura sube de 0,50 (falta S6) a &gt;= 0,75 sin duplicar IDs.</a:t>
            </a:r>
            <a:endParaRPr sz="15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08/15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2" name="Google Shape;35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3" name="Google Shape;35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4" name="Google Shape;354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5" name="Google Shape;355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6525" y="2484252"/>
            <a:ext cx="3498800" cy="3020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6" name="Google Shape;356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50125" y="2484252"/>
            <a:ext cx="3498950" cy="302035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4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Ejercicio S11 y entrega completa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8" name="Google Shape;358;p24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Reconstruible desde 8+ docs e índice vacío en PostgreSQL/pgvector.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59" name="Google Shape;359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925" y="509587"/>
            <a:ext cx="3365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0" name="Google Shape;360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82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4"/>
          <p:cNvSpPr txBox="1"/>
          <p:nvPr/>
        </p:nvSpPr>
        <p:spPr>
          <a:xfrm>
            <a:off x="8382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Grafo separado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2" name="Google Shape;362;p24"/>
          <p:cNvSpPr txBox="1"/>
          <p:nvPr/>
        </p:nvSpPr>
        <p:spPr>
          <a:xfrm>
            <a:off x="8382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Recuperar (10), reordenar ([0, 1]), valorar, conservar/descartar y reformular.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63" name="Google Shape;363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18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24"/>
          <p:cNvSpPr txBox="1"/>
          <p:nvPr/>
        </p:nvSpPr>
        <p:spPr>
          <a:xfrm>
            <a:off x="463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Línea base S10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24"/>
          <p:cNvSpPr txBox="1"/>
          <p:nvPr/>
        </p:nvSpPr>
        <p:spPr>
          <a:xfrm>
            <a:off x="463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Conservar el RAG básico en el mismo proyecto y trazar las 3 rutas + límite.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66" name="Google Shape;366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45400" y="2779514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24"/>
          <p:cNvSpPr txBox="1"/>
          <p:nvPr/>
        </p:nvSpPr>
        <p:spPr>
          <a:xfrm>
            <a:off x="8445500" y="3276600"/>
            <a:ext cx="29718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Comparación 14+6</a:t>
            </a:r>
            <a:endParaRPr b="1" sz="1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8" name="Google Shape;368;p24"/>
          <p:cNvSpPr txBox="1"/>
          <p:nvPr/>
        </p:nvSpPr>
        <p:spPr>
          <a:xfrm>
            <a:off x="8445500" y="3949700"/>
            <a:ext cx="2971800" cy="14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Ejecutar 20 preguntas nuevas: X/14, Y/6, recuperaciones medias y latencia.</a:t>
            </a:r>
            <a:endParaRPr sz="15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69" name="Google Shape;369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6787" y="2893814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0" name="Google Shape;370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561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1" name="Google Shape;371;p2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9700" y="2893814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4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4"/>
          <p:cNvSpPr txBox="1"/>
          <p:nvPr/>
        </p:nvSpPr>
        <p:spPr>
          <a:xfrm>
            <a:off x="546100" y="5613400"/>
            <a:ext cx="11099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Dedicación orientativa: 6 a 8 horas. Opcional: Qwen3-Reranker-0.6B.</a:t>
            </a:r>
            <a:endParaRPr sz="13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4" name="Google Shape;374;p24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12/15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9" name="Google Shape;37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0" name="Google Shape;380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5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Consulta · Lectura de métricas y resultados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2" name="Google Shape;382;p25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Comparación ejecutada en lab/ (768 d) y lote histórico cloud (1024 d).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83" name="Google Shape;38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984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85" name="Google Shape;385;p25"/>
          <p:cNvGraphicFramePr/>
          <p:nvPr/>
        </p:nvGraphicFramePr>
        <p:xfrm>
          <a:off x="546100" y="1905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{A4338FCB-8677-43D3-963D-C3D86BA02EA8}</a:tableStyleId>
              </a:tblPr>
              <a:tblGrid>
                <a:gridCol w="3699925"/>
                <a:gridCol w="3699925"/>
                <a:gridCol w="3699925"/>
              </a:tblGrid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Métrica (20 casos)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RAG básico (S10)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2C5F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CRAG (S11)</a:t>
                      </a:r>
                      <a:endParaRPr b="1" sz="1500">
                        <a:solidFill>
                          <a:srgbClr val="32C5F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Lab pgvector (14 / 6)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16/20 (10/14 · 6/6)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17/20 (11/14 · 6/6)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Histórico cloud (14 / 6)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17/20 (11/14 · 6/6)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18/20 (13/14 · 5/6)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  <a:tr h="92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Búsquedas medias / lat.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1,00 (lab) · 0,95 (1,19 s)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F8FAFC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1,80 (lab) · 1,55 (4,30 s)</a:t>
                      </a:r>
                      <a:endParaRPr sz="1500">
                        <a:solidFill>
                          <a:srgbClr val="F8FAFC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solidFill>
                      <a:srgbClr val="0E1830"/>
                    </a:solidFill>
                  </a:tcPr>
                </a:tc>
              </a:tr>
            </a:tbl>
          </a:graphicData>
        </a:graphic>
      </p:graphicFrame>
      <p:sp>
        <p:nvSpPr>
          <p:cNvPr id="386" name="Google Shape;386;p25"/>
          <p:cNvSpPr txBox="1"/>
          <p:nvPr/>
        </p:nvSpPr>
        <p:spPr>
          <a:xfrm>
            <a:off x="546100" y="5715000"/>
            <a:ext cx="11099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CRAG recupera preguntas compuestas a cambio de más búsquedas y latencia.</a:t>
            </a:r>
            <a:endParaRPr sz="135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25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13/15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2" name="Google Shape;3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3" name="Google Shape;39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067425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26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Consulta · Si el guion falla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Abre la captura del 3 de octubre y vuelve a la diapositiva.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396" name="Google Shape;396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26"/>
          <p:cNvSpPr/>
          <p:nvPr/>
        </p:nvSpPr>
        <p:spPr>
          <a:xfrm>
            <a:off x="54610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6"/>
          <p:cNvSpPr txBox="1"/>
          <p:nvPr/>
        </p:nvSpPr>
        <p:spPr>
          <a:xfrm>
            <a:off x="69850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2C5F4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1" sz="2200">
              <a:solidFill>
                <a:srgbClr val="32C5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0" name="Google Shape;400;p26"/>
          <p:cNvSpPr txBox="1"/>
          <p:nvPr/>
        </p:nvSpPr>
        <p:spPr>
          <a:xfrm>
            <a:off x="69850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Salud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01" name="Google Shape;401;p26"/>
          <p:cNvCxnSpPr/>
          <p:nvPr/>
        </p:nvCxnSpPr>
        <p:spPr>
          <a:xfrm>
            <a:off x="309245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32C5F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02" name="Google Shape;402;p26"/>
          <p:cNvSpPr/>
          <p:nvPr/>
        </p:nvSpPr>
        <p:spPr>
          <a:xfrm>
            <a:off x="340995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598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6"/>
          <p:cNvSpPr txBox="1"/>
          <p:nvPr/>
        </p:nvSpPr>
        <p:spPr>
          <a:xfrm>
            <a:off x="356235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98C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1" sz="2200">
              <a:solidFill>
                <a:srgbClr val="598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26"/>
          <p:cNvSpPr txBox="1"/>
          <p:nvPr/>
        </p:nvSpPr>
        <p:spPr>
          <a:xfrm>
            <a:off x="356235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Guion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05" name="Google Shape;405;p26"/>
          <p:cNvCxnSpPr/>
          <p:nvPr/>
        </p:nvCxnSpPr>
        <p:spPr>
          <a:xfrm>
            <a:off x="595630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598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06" name="Google Shape;406;p26"/>
          <p:cNvSpPr/>
          <p:nvPr/>
        </p:nvSpPr>
        <p:spPr>
          <a:xfrm>
            <a:off x="627380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6"/>
          <p:cNvSpPr txBox="1"/>
          <p:nvPr/>
        </p:nvSpPr>
        <p:spPr>
          <a:xfrm>
            <a:off x="642620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B06C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1" sz="2200">
              <a:solidFill>
                <a:srgbClr val="B06C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26"/>
          <p:cNvSpPr txBox="1"/>
          <p:nvPr/>
        </p:nvSpPr>
        <p:spPr>
          <a:xfrm>
            <a:off x="642620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Captura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09" name="Google Shape;409;p26"/>
          <p:cNvCxnSpPr/>
          <p:nvPr/>
        </p:nvCxnSpPr>
        <p:spPr>
          <a:xfrm>
            <a:off x="8820150" y="3352800"/>
            <a:ext cx="266700" cy="0"/>
          </a:xfrm>
          <a:prstGeom prst="straightConnector1">
            <a:avLst/>
          </a:prstGeom>
          <a:noFill/>
          <a:ln cap="flat" cmpd="sng" w="19050">
            <a:solidFill>
              <a:srgbClr val="B06CF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10" name="Google Shape;410;p26"/>
          <p:cNvSpPr/>
          <p:nvPr/>
        </p:nvSpPr>
        <p:spPr>
          <a:xfrm>
            <a:off x="9137650" y="2641600"/>
            <a:ext cx="2508300" cy="14223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EE66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6"/>
          <p:cNvSpPr txBox="1"/>
          <p:nvPr/>
        </p:nvSpPr>
        <p:spPr>
          <a:xfrm>
            <a:off x="9290050" y="2768600"/>
            <a:ext cx="2203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EE66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1" sz="2200">
              <a:solidFill>
                <a:srgbClr val="EE66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2" name="Google Shape;412;p26"/>
          <p:cNvSpPr txBox="1"/>
          <p:nvPr/>
        </p:nvSpPr>
        <p:spPr>
          <a:xfrm>
            <a:off x="9290050" y="3251200"/>
            <a:ext cx="2203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Diapositiva</a:t>
            </a:r>
            <a:endParaRPr b="1" sz="17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3" name="Google Shape;413;p26"/>
          <p:cNvSpPr txBox="1"/>
          <p:nvPr/>
        </p:nvSpPr>
        <p:spPr>
          <a:xfrm>
            <a:off x="546100" y="4559300"/>
            <a:ext cx="11099700" cy="7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Un guion que acierta no mide CRAG ni el modelo.</a:t>
            </a:r>
            <a:endParaRPr sz="18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4" name="Google Shape;414;p26"/>
          <p:cNvSpPr txBox="1"/>
          <p:nvPr/>
        </p:nvSpPr>
        <p:spPr>
          <a:xfrm>
            <a:off x="546100" y="5473700"/>
            <a:ext cx="110997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2C5F4"/>
                </a:solidFill>
                <a:latin typeface="Fira Code"/>
                <a:ea typeface="Fira Code"/>
                <a:cs typeface="Fira Code"/>
                <a:sym typeface="Fira Code"/>
              </a:rPr>
              <a:t>http://localhost:5173/</a:t>
            </a:r>
            <a:endParaRPr>
              <a:solidFill>
                <a:srgbClr val="32C5F4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5" name="Google Shape;415;p26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14/15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7" name="Google Shape;10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925" y="6218039"/>
            <a:ext cx="111061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965200" y="431800"/>
            <a:ext cx="10541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Para cerrar</a:t>
            </a:r>
            <a:endParaRPr b="1" sz="28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546100" y="1066800"/>
            <a:ext cx="11099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El QR evalúa S10, la clase del 22 de octubre.</a:t>
            </a:r>
            <a:endParaRPr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11" name="Google Shape;111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2925" y="509587"/>
            <a:ext cx="2603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" y="6229350"/>
            <a:ext cx="1383650" cy="435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/>
          <p:nvPr/>
        </p:nvSpPr>
        <p:spPr>
          <a:xfrm>
            <a:off x="546100" y="1905000"/>
            <a:ext cx="5257800" cy="15621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32C5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546100" y="3746500"/>
            <a:ext cx="5257800" cy="1562100"/>
          </a:xfrm>
          <a:prstGeom prst="roundRect">
            <a:avLst>
              <a:gd fmla="val 16667" name="adj"/>
            </a:avLst>
          </a:prstGeom>
          <a:solidFill>
            <a:srgbClr val="0E1830"/>
          </a:solidFill>
          <a:ln cap="flat" cmpd="sng" w="15875">
            <a:solidFill>
              <a:srgbClr val="B06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749300" y="20574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Tu feedback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749300" y="2565400"/>
            <a:ext cx="4826100" cy="7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Si queda alguien sin escanear, este es el momento.</a:t>
            </a:r>
            <a:endParaRPr sz="17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749300" y="3898900"/>
            <a:ext cx="4826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Después</a:t>
            </a:r>
            <a:endParaRPr b="1" sz="2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749300" y="4406900"/>
            <a:ext cx="4826100" cy="7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Comparación ejecutada en lab/ y referencia actual congelada.</a:t>
            </a:r>
            <a:endParaRPr sz="17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6286500" y="1473200"/>
            <a:ext cx="5359500" cy="4737000"/>
          </a:xfrm>
          <a:prstGeom prst="roundRect">
            <a:avLst>
              <a:gd fmla="val 16667" name="adj"/>
            </a:avLst>
          </a:prstGeom>
          <a:solidFill>
            <a:srgbClr val="080E1D"/>
          </a:solidFill>
          <a:ln cap="flat" cmpd="sng" w="15250">
            <a:solidFill>
              <a:srgbClr val="284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99300" y="1727200"/>
            <a:ext cx="4140201" cy="4140201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4"/>
          <p:cNvSpPr txBox="1"/>
          <p:nvPr/>
        </p:nvSpPr>
        <p:spPr>
          <a:xfrm>
            <a:off x="6629400" y="5918200"/>
            <a:ext cx="5016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Evaluación de la clase anterior</a:t>
            </a:r>
            <a:endParaRPr sz="12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601200" y="6324600"/>
            <a:ext cx="2031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A7B5CA"/>
                </a:solidFill>
                <a:latin typeface="Inter"/>
                <a:ea typeface="Inter"/>
                <a:cs typeface="Inter"/>
                <a:sym typeface="Inter"/>
              </a:rPr>
              <a:t>S11 · AI Engineer   15/15</a:t>
            </a:r>
            <a:endParaRPr sz="1000">
              <a:solidFill>
                <a:srgbClr val="A7B5C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
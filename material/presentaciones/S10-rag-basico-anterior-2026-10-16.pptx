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62" r:id="rId13"/>
    <p:sldId id="263" r:id="rId14"/>
    <p:sldId id="259" r:id="rId10"/>
    <p:sldId id="261" r:id="rId12"/>
    <p:sldId id="266" r:id="rId17"/>
    <p:sldId id="260" r:id="rId11"/>
    <p:sldId id="265" r:id="rId16"/>
    <p:sldId id="264" r:id="rId15"/>
    <p:sldId id="267" r:id="rId18"/>
    <p:sldId id="268" r:id="rId19"/>
    <p:sldId id="269" r:id="rId20"/>
    <p:sldId id="271" r:id="rId28"/>
  </p:sldIdLst>
  <p:sldSz cy="6858000" cx="12192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Fira Cod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338FCB-8677-43D3-963D-C3D86BA02EA8}">
  <a:tblStyle styleId="{A4338FCB-8677-43D3-963D-C3D86BA02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regular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FiraCode-regular.fntdata"/><Relationship Id="rId25" Type="http://schemas.openxmlformats.org/officeDocument/2006/relationships/font" Target="fonts/Inter-boldItalic.fntdata"/><Relationship Id="rId27" Type="http://schemas.openxmlformats.org/officeDocument/2006/relationships/font" Target="fonts/FiraCode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28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5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01/15 · 18:30. Objetivo de la sesión. Presenta el recorrido principal: construir un RAG semántico completo (fragmentación con solapamiento, embeddings, índice vectorial, umbral previo a generar, citas y rechazo) y su laboratorio reproducible en PostgreSQL + pgvector (vector(768) + HNSW) en lab/, acompañado del demostrador del curso AI Engineer en Cloudflare (BGE-M3 1024 d, claude-haiku-5-5).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s5_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5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02/15 · bloque 0–10 min. QR de AI Engineer: evalúa la sesión anterior (S9, PostgreSQL y pgvector del 20 de octubre). Hoy conectamos directamente con S9 llevando los embeddings a la columna vector(768) con índice HNSW y añadiendo selección de contexto, umbral calibrado, citas y evaluación 14+6.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s5_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5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03/15 · bloque 0–10 min. Etapa Sin RAG. Pregunta por la fecha exacta de S10 en la cohorte M/J o por un detalle específico del programa. Con modelo real (claude-haiku-5-5) se abstiene o responde de forma genérica sin citas; en respaldo demo devuelve el stream etiquetado offline-demo. Señala que uso y coste desconocidos viajan como null, nunca como cero.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s5_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s5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06/15 · bloque 10–25 min. Funcionamiento del embedding e índice vectorial. El documento y la pregunta deben usar exactamente el mismo modelo y dimensión (768 en lab/schema.sql con EMBEDDING_MODEL_ID y vector(768) + índice HNSW m=16, ef_construction=64; 1024 en BGE-M3 del demostrador). Explica la escala: en pgvector el operador &lt;=&gt; es distancia coseno en [0, 2] donde menor significa más próximo; 1 - distancia es la similitud coseno.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s5_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s5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09/15 · bloque 40–60 min. Construcción del contexto, bloque DATOS no fiable y validación de citas [cite:id]. Explica que los fragmentos recuperados se envuelven como datos y nunca como instrucciones del sistema. Después de recorrer el RAG semántico, presenta como variante adicional RAG_CONTEXT_MODE=complete (docs/rag-contexto-completo.md): cuando un corpus es muy pequeño (23 KB) cabe entero en D1, aunque no demuestra el filtro por puntuación del ejercicio.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s5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s5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07/15 · bloque 25–40 min. Recorrido semántico de consulta (RAG_CONTEXT_MODE=semantic en apps/api/src/app.ts:670 y runLabBasicRag en lab/src/rag-basic.ts): 1) embeber la pregunta, 2) filtrar por metadatos/audiencia en el índice antes de leer, 3) ordenar candidatos por distancia/similitud, 4) aplicar el umbral calibrado y 5) construir el contexto.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s5_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s5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11/15 · bloque 60–75 min. Reconstrucción desde índice vacío y protocolo de evaluación. En lab/, bun run lab:rebuild ejecuta TRUNCATE, lee los 10 documentos en bruto, genera los vectores de 768 d, los inserta y comprueba la lectura de vuelta. bun run lab:eval ejecuta las 20 preguntas de test (14 respondibles y 6 sin respuesta) sin reajustar el umbral.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s5_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s5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04/15 · bloque 10–25 min. Corpus y perfiles verificados. En el demostrador del curso: preparación c3a59a406888b (22 documentos, 69 fragmentos) y perfil activo p76509a5f9743 (BGE-M3, 1024 dimensiones, coseno, umbral 0,50). En el laboratorio del ejercicio (lab/): 10 documentos ficticios de AetherCloud (lab-689164ca81cd, 20 fragmentos) sobre PostgreSQL + pgvector con vector(768) e índice HNSW.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s5_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s5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05/15 · bloque 10–25 min. Decisiones de fragmentación y solapamiento en packages/rag/src/chunk.ts y lab/src/corpus.ts. Se limpia el texto, se divide primero por secciones Markdown (##) y luego por párrafos hasta 900 caracteres con 80 de solapamiento. Explica por qué el solapamiento evita cortar una condición o cifra entre dos fragmentos y cómo se preserva la sección en el ID estable version:documento:ordinal.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s5_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s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10/15 · bloque 60–75 min. Demostración del rechazo previo a la generación: pregunta por la beca interna de 1991 (en el curso) o por licencias de Windows Server 2025 (en lab/). El control de umbral rechaza sin llamar al modelo generativo (generationCalled: false). Muestra también la aclaración de calendario sin cohorte y el filtro entre M/J (22 de octubre) y L/X (26 de octubre).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s5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s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08/15 · bloque 25–40 min. Calibración del umbral con ejemplos de validación separados del conjunto de test. En el demostrador con BGE-M3 el corte quedó en 0,50 (scripts/calibrate-live.ts). En el laboratorio pgvector (LAB_VALIDATION_SET, 6 casos), el negativo más alto dio 0,148 y el positivo más bajo 0,250, fijando el corte en similitud &gt;= 0,25 (distancia &lt;=&gt; &lt;= 0,75). Si no supera el corte, se rechaza sin llamar al generador.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s5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s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12/15 · bloque 75–80 min. Enunciado publicado de S10 (material/ejercicios/S10-enunciado.md): 8+ documentos ficticios, PostgreSQL + pgvector, vector(768) e índice HNSW, GEN_MODEL_ID y EMBEDDING_MODEL_ID por variables, reconstrucción desde índice vacío, umbral calibrado y evaluación ejecutada de 20 preguntas (14 respondibles y 6 sin respuesta) presentando resultados X/14 y Y/6. El código de apoyo está en lab/.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s5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s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13/15 · referencia de los tres perfiles. 1) Curso en modo semántico: Vectorize BGE-M3 1024 d (p76509a5f9743), claude-haiku-5-5, corte 0,50 (y variante complete sobre D1). 2) Laboratorio reproducible del ejercicio (lab/): PostgreSQL + pgvector vector(768) + HNSW, 10 documentos de AetherCloud, corte 0,25. 3) Respaldo offline demo: fixture-token-hash-v1 128 d, corte 0,33.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s5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s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14/15 · referencia de respaldo local. Si necesitas cambiar a la demo local sin red, comprueba bun run preflight (APP_MODE efectivo: demo) y ejecuta bun run dev o bun run lab:demo. No lances activate --execute en directo.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s5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5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S10 · 15/15 · cierre y preguntas (80–90 min). Deja el QR visible (evalúa S9). El martes 27 de octubre en S11 evolucionamos este mismo sistema y el laboratorio pgvector hacia Corrective RAG (CRAG).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s5_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5.jp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4200" y="927100"/>
            <a:ext cx="6731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RAG básico</a:t>
            </a:r>
            <a:endParaRPr b="1" sz="42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Asistente del curso</a:t>
            </a:r>
            <a:endParaRPr b="1" sz="42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33528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Recorrido semántico, umbral previo y citas verificables.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Demostrador del curso y laboratorio pgvector reproducible.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4200" y="61087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thePower · AI Engineer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483600" y="6108700"/>
            <a:ext cx="311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José Antonio Nuevo</a:t>
            </a:r>
            <a:endParaRPr sz="16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4635500"/>
            <a:ext cx="6350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22 octubre 2026 · 18:30–20:00</a:t>
            </a:r>
            <a:endParaRPr b="1" sz="18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09600" y="5257800"/>
            <a:ext cx="6146700" cy="5460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243C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74700" y="5359400"/>
            <a:ext cx="58419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Semántico · BGE-M3 1024 / pgvector 768</a:t>
            </a:r>
            <a:endParaRPr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2" name="Google Shape;92;p13"/>
          <p:cNvCxnSpPr/>
          <p:nvPr/>
        </p:nvCxnSpPr>
        <p:spPr>
          <a:xfrm>
            <a:off x="9423400" y="1282700"/>
            <a:ext cx="0" cy="180330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3"/>
          <p:cNvCxnSpPr/>
          <p:nvPr/>
        </p:nvCxnSpPr>
        <p:spPr>
          <a:xfrm flipH="1">
            <a:off x="8001100" y="3086100"/>
            <a:ext cx="1422300" cy="182880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3"/>
          <p:cNvCxnSpPr/>
          <p:nvPr/>
        </p:nvCxnSpPr>
        <p:spPr>
          <a:xfrm>
            <a:off x="9423400" y="3086100"/>
            <a:ext cx="1397100" cy="182880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3"/>
          <p:cNvSpPr/>
          <p:nvPr/>
        </p:nvSpPr>
        <p:spPr>
          <a:xfrm>
            <a:off x="8648700" y="812800"/>
            <a:ext cx="1549500" cy="939900"/>
          </a:xfrm>
          <a:prstGeom prst="ellipse">
            <a:avLst/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737600" y="1092200"/>
            <a:ext cx="1371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Pregunta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8648700" y="2616200"/>
            <a:ext cx="1549500" cy="939900"/>
          </a:xfrm>
          <a:prstGeom prst="ellipse">
            <a:avLst/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737600" y="2895600"/>
            <a:ext cx="1371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Recuperar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7226300" y="4445000"/>
            <a:ext cx="1549500" cy="939900"/>
          </a:xfrm>
          <a:prstGeom prst="ellipse">
            <a:avLst/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7315200" y="4724400"/>
            <a:ext cx="1371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Citar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10045700" y="4445000"/>
            <a:ext cx="1549500" cy="939900"/>
          </a:xfrm>
          <a:prstGeom prst="ellipse">
            <a:avLst/>
          </a:prstGeom>
          <a:solidFill>
            <a:srgbClr val="0E1830"/>
          </a:solidFill>
          <a:ln cap="flat" cmpd="sng" w="15875">
            <a:solidFill>
              <a:srgbClr val="EE6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134600" y="4724400"/>
            <a:ext cx="1371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Rechazar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218039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Antes de empezar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QR de AI Engineer evalúa la clase anterior: S9.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546100" y="1905000"/>
            <a:ext cx="5257800" cy="15621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46100" y="3746500"/>
            <a:ext cx="5257800" cy="15621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49300" y="20574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Tu feedback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749300" y="2565400"/>
            <a:ext cx="4826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Escanea el QR. Valora la clase del 20 de octubre.</a:t>
            </a:r>
            <a:endParaRPr sz="17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49300" y="38989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Hoy veremos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49300" y="4406900"/>
            <a:ext cx="4826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Fragmentación, embeddings, índice HNSW, umbral y citas.</a:t>
            </a:r>
            <a:endParaRPr sz="17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286500" y="1473200"/>
            <a:ext cx="5359500" cy="47370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9300" y="1727200"/>
            <a:ext cx="4140201" cy="414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6629400" y="5918200"/>
            <a:ext cx="501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Evaluación de la clase anterior</a:t>
            </a:r>
            <a:endParaRPr sz="12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02/15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25" y="2484252"/>
            <a:ext cx="3498950" cy="30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 misma pregunta, sin documentos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Abstenerse o ser genérico es válido. No forzamos una alucinación.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336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382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Sin fuentes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8382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Este modo no recupera fichas del curso.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18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463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Qué aparece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463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modelo responde sin fuentes y desconoce fechas internas.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54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844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Qué señalar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44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Sin citas; uso o coste desconocidos viajan como null.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44" name="Google Shape;14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7" y="289381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61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7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03/15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09750"/>
            <a:ext cx="53625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Embeddings e índice vectorial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Mismo modelo y dimensión al ingerir documentos y al consultar.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/>
          <p:nvPr/>
        </p:nvSpPr>
        <p:spPr>
          <a:xfrm>
            <a:off x="6858000" y="21590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6"/>
          <p:cNvCxnSpPr/>
          <p:nvPr/>
        </p:nvCxnSpPr>
        <p:spPr>
          <a:xfrm>
            <a:off x="8921750" y="27432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16"/>
          <p:cNvSpPr/>
          <p:nvPr/>
        </p:nvSpPr>
        <p:spPr>
          <a:xfrm>
            <a:off x="6858000" y="29464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6"/>
          <p:cNvCxnSpPr/>
          <p:nvPr/>
        </p:nvCxnSpPr>
        <p:spPr>
          <a:xfrm>
            <a:off x="8921750" y="35306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16"/>
          <p:cNvSpPr/>
          <p:nvPr/>
        </p:nvSpPr>
        <p:spPr>
          <a:xfrm>
            <a:off x="6858000" y="37338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46100" y="2844800"/>
            <a:ext cx="5359500" cy="18669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60400" y="2971800"/>
            <a:ext cx="50799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embedding vector(768) NOT NULL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 xml:space="preserve">USING hnsw (embedding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  vector_cosine_ops)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 xml:space="preserve">WITH (m = 16, ef_construction = 64)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/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/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7010400" y="22733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Fragmento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7010400" y="30607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Vector 768/1024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7010400" y="38481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Índice HNSW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546100" y="5257800"/>
            <a:ext cx="11099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Lab: vector(768) + HNSW · Curso: BGE-M3 1024 d</a:t>
            </a:r>
            <a:endParaRPr sz="15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546100" y="5765800"/>
            <a:ext cx="11099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En pgvector &lt;=&gt;, menor distancia = más próximo</a:t>
            </a:r>
            <a:endParaRPr sz="130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06/15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25" y="2484252"/>
            <a:ext cx="3498950" cy="30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Construcción del contexto y citas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texto recuperado es dato no fiable, nunca instrucción.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336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8382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Bloque DATOS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8382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Aísla los fragmentos frente a instrucciones incrustadas.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8" name="Google Shape;18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18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463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Generación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463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Redacta solo con los fragmentos que superaron el corte.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91" name="Google Shape;19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54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844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Cita [cite:id]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844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Se valida contra los IDs seleccionados antes de responder.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94" name="Google Shape;19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7" y="289381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61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7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546100" y="5613400"/>
            <a:ext cx="110997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Variante complete: solo cuando todo el corpus cabe en ventana.</a:t>
            </a:r>
            <a:endParaRPr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09/15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Consultar, filtrar y puntuar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Filtro en la consulta vectorial y selección por umbral previo.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/>
          <p:nvPr/>
        </p:nvSpPr>
        <p:spPr>
          <a:xfrm>
            <a:off x="54610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69850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22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9850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Embebe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3" name="Google Shape;213;p18"/>
          <p:cNvCxnSpPr/>
          <p:nvPr/>
        </p:nvCxnSpPr>
        <p:spPr>
          <a:xfrm>
            <a:off x="251968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18"/>
          <p:cNvSpPr/>
          <p:nvPr/>
        </p:nvSpPr>
        <p:spPr>
          <a:xfrm>
            <a:off x="283718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298958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98C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sz="2200">
              <a:solidFill>
                <a:srgbClr val="598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298958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Filtra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7" name="Google Shape;217;p18"/>
          <p:cNvCxnSpPr/>
          <p:nvPr/>
        </p:nvCxnSpPr>
        <p:spPr>
          <a:xfrm>
            <a:off x="481076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18"/>
          <p:cNvSpPr/>
          <p:nvPr/>
        </p:nvSpPr>
        <p:spPr>
          <a:xfrm>
            <a:off x="512826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528066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B06C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2200">
              <a:solidFill>
                <a:srgbClr val="B06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528066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Distancia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1" name="Google Shape;221;p18"/>
          <p:cNvCxnSpPr/>
          <p:nvPr/>
        </p:nvCxnSpPr>
        <p:spPr>
          <a:xfrm>
            <a:off x="710184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B06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18"/>
          <p:cNvSpPr/>
          <p:nvPr/>
        </p:nvSpPr>
        <p:spPr>
          <a:xfrm>
            <a:off x="741934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EE6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757174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66B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2200">
              <a:solidFill>
                <a:srgbClr val="EE66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757174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Umbral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5" name="Google Shape;225;p18"/>
          <p:cNvCxnSpPr/>
          <p:nvPr/>
        </p:nvCxnSpPr>
        <p:spPr>
          <a:xfrm>
            <a:off x="939292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EE66B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18"/>
          <p:cNvSpPr/>
          <p:nvPr/>
        </p:nvSpPr>
        <p:spPr>
          <a:xfrm>
            <a:off x="971042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986282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22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986282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546100" y="4559300"/>
            <a:ext cx="11099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filtro de grupo se aplica en la consulta, no solo en el prompt.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07/15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Corpus y perfiles del sistema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S1–S20 en el demostrador y 10 documentos ficticios en lab/.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39" name="Google Shape;23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984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19"/>
          <p:cNvGraphicFramePr/>
          <p:nvPr/>
        </p:nvGraphicFramePr>
        <p:xfrm>
          <a:off x="5461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{A4338FCB-8677-43D3-963D-C3D86BA02EA8}</a:tableStyleId>
              </a:tblPr>
              <a:tblGrid>
                <a:gridCol w="3699925"/>
                <a:gridCol w="3699925"/>
                <a:gridCol w="3699925"/>
              </a:tblGrid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Pieza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Identidad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Estado verificado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Corpus curso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c3a59a406888b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22 docs, 69 fragmentos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Índice real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p76509a5f9743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BGE-M3 1024 d, coseno 0,50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 pgvector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lab-689164ca81cd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 docs, vector(768) + HNSW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19"/>
          <p:cNvSpPr txBox="1"/>
          <p:nvPr/>
        </p:nvSpPr>
        <p:spPr>
          <a:xfrm>
            <a:off x="546100" y="5715000"/>
            <a:ext cx="1109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Ambos reconstruibles desde Markdown en bruto e índice vacío.</a:t>
            </a:r>
            <a:endParaRPr sz="13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04/15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218039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Fragmentación y solapamiento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Trocear por secciones y párrafos sin cortar un dato a mitad.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52" name="Google Shape;25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/>
          <p:nvPr/>
        </p:nvSpPr>
        <p:spPr>
          <a:xfrm>
            <a:off x="546100" y="1803400"/>
            <a:ext cx="5257800" cy="16002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46100" y="3708400"/>
            <a:ext cx="5257800" cy="16002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749300" y="19685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Tamaño y solape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749300" y="2501900"/>
            <a:ext cx="4826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900 caracteres y 80 de solapamiento entre fragmentos.</a:t>
            </a:r>
            <a:endParaRPr sz="16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749300" y="38735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Sección e ID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749300" y="4406900"/>
            <a:ext cx="4826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Conserva el encabezado H2 y crea un ID determinista.</a:t>
            </a:r>
            <a:endParaRPr sz="16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6286500" y="1473200"/>
            <a:ext cx="5359500" cy="47370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6451600" y="1968500"/>
            <a:ext cx="49656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chunkMarkdown(body, {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 xml:space="preserve">  maxChars: 900,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 xml:space="preserve">  overlapChars: 80,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 xml:space="preserve">});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// Conserva sección ##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// y solapa 80 chars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// ID: version:doc:00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// packages/rag/src/chunk.ts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/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546100" y="5676900"/>
            <a:ext cx="1109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solapamiento evita perder cifras o condiciones entre cortes.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05/15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Reconstruir y evaluar con control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Desde documentos en bruto e índice vacío hasta el test 14 + 6.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72" name="Google Shape;27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/>
          <p:nvPr/>
        </p:nvSpPr>
        <p:spPr>
          <a:xfrm>
            <a:off x="54610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69850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22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69850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Vaciar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77" name="Google Shape;277;p21"/>
          <p:cNvCxnSpPr/>
          <p:nvPr/>
        </p:nvCxnSpPr>
        <p:spPr>
          <a:xfrm>
            <a:off x="309245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21"/>
          <p:cNvSpPr/>
          <p:nvPr/>
        </p:nvSpPr>
        <p:spPr>
          <a:xfrm>
            <a:off x="340995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356235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98C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sz="2200">
              <a:solidFill>
                <a:srgbClr val="598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356235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Ingerir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81" name="Google Shape;281;p21"/>
          <p:cNvCxnSpPr/>
          <p:nvPr/>
        </p:nvCxnSpPr>
        <p:spPr>
          <a:xfrm>
            <a:off x="595630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p21"/>
          <p:cNvSpPr/>
          <p:nvPr/>
        </p:nvSpPr>
        <p:spPr>
          <a:xfrm>
            <a:off x="627380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642620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B06C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2200">
              <a:solidFill>
                <a:srgbClr val="B06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642620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Validar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913765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EE6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929005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66B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2200">
              <a:solidFill>
                <a:srgbClr val="EE66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929005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Evaluar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46100" y="4559300"/>
            <a:ext cx="11099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Validación para calibrar; 20 preguntas reservadas para medir.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546100" y="5473700"/>
            <a:ext cx="1109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bun run lab:rebuild &amp;&amp; bun run lab:eval</a:t>
            </a:r>
            <a:endParaRPr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11/15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>
            <a:off x="7527925" y="4064000"/>
            <a:ext cx="0" cy="292200"/>
          </a:xfrm>
          <a:prstGeom prst="straightConnector1">
            <a:avLst/>
          </a:prstGeom>
          <a:noFill/>
          <a:ln cap="flat" cmpd="sng" w="20325">
            <a:solidFill>
              <a:srgbClr val="32C5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1"/>
          <p:cNvCxnSpPr/>
          <p:nvPr/>
        </p:nvCxnSpPr>
        <p:spPr>
          <a:xfrm rot="10800000">
            <a:off x="4664125" y="4356100"/>
            <a:ext cx="2863800" cy="0"/>
          </a:xfrm>
          <a:prstGeom prst="straightConnector1">
            <a:avLst/>
          </a:prstGeom>
          <a:noFill/>
          <a:ln cap="flat" cmpd="sng" w="20325">
            <a:solidFill>
              <a:srgbClr val="32C5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1"/>
          <p:cNvCxnSpPr/>
          <p:nvPr/>
        </p:nvCxnSpPr>
        <p:spPr>
          <a:xfrm rot="10800000">
            <a:off x="4664075" y="4063900"/>
            <a:ext cx="0" cy="292200"/>
          </a:xfrm>
          <a:prstGeom prst="straightConnector1">
            <a:avLst/>
          </a:prstGeom>
          <a:noFill/>
          <a:ln cap="flat" cmpd="sng" w="20325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21"/>
          <p:cNvCxnSpPr/>
          <p:nvPr/>
        </p:nvCxnSpPr>
        <p:spPr>
          <a:xfrm rot="10800000">
            <a:off x="4664075" y="2120800"/>
            <a:ext cx="0" cy="520800"/>
          </a:xfrm>
          <a:prstGeom prst="straightConnector1">
            <a:avLst/>
          </a:prstGeom>
          <a:noFill/>
          <a:ln cap="flat" cmpd="sng" w="20325">
            <a:solidFill>
              <a:srgbClr val="EE66B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1"/>
          <p:cNvCxnSpPr/>
          <p:nvPr/>
        </p:nvCxnSpPr>
        <p:spPr>
          <a:xfrm>
            <a:off x="4664075" y="2120900"/>
            <a:ext cx="5727600" cy="0"/>
          </a:xfrm>
          <a:prstGeom prst="straightConnector1">
            <a:avLst/>
          </a:prstGeom>
          <a:noFill/>
          <a:ln cap="flat" cmpd="sng" w="20325">
            <a:solidFill>
              <a:srgbClr val="EE66B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1"/>
          <p:cNvCxnSpPr/>
          <p:nvPr/>
        </p:nvCxnSpPr>
        <p:spPr>
          <a:xfrm>
            <a:off x="10391775" y="2120900"/>
            <a:ext cx="0" cy="520800"/>
          </a:xfrm>
          <a:prstGeom prst="straightConnector1">
            <a:avLst/>
          </a:prstGeom>
          <a:noFill/>
          <a:ln cap="flat" cmpd="sng" w="20325">
            <a:solidFill>
              <a:srgbClr val="EE66B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p21"/>
          <p:cNvSpPr txBox="1"/>
          <p:nvPr/>
        </p:nvSpPr>
        <p:spPr>
          <a:xfrm>
            <a:off x="5499100" y="1727200"/>
            <a:ext cx="406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Lectura de vuelta</a:t>
            </a:r>
            <a:endParaRPr sz="12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041900" y="4038600"/>
            <a:ext cx="212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Sin reajustar con el test</a:t>
            </a:r>
            <a:endParaRPr sz="12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25" y="2484252"/>
            <a:ext cx="3498950" cy="30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2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 no consta, se dice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Falta de evidencia, cohorte o rechazo. No se inventa.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10" name="Google Shape;31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336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8382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Aclarar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8382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Sin cohorte, una fecha no se responde.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14" name="Google Shape;31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18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/>
          <p:nvPr/>
        </p:nvSpPr>
        <p:spPr>
          <a:xfrm>
            <a:off x="463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Rechazar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463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Sin contexto útil no hay llamada al modelo.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17" name="Google Shape;31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54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 txBox="1"/>
          <p:nvPr/>
        </p:nvSpPr>
        <p:spPr>
          <a:xfrm>
            <a:off x="844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Cohortes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844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M/J y L/X no comparten la fecha de S10.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20" name="Google Shape;32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7" y="289381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61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7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10/15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09750"/>
            <a:ext cx="53625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Calibración del umbral y rechazo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Se calibra con validación separada del test; corta antes de generar.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34" name="Google Shape;3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3"/>
          <p:cNvSpPr/>
          <p:nvPr/>
        </p:nvSpPr>
        <p:spPr>
          <a:xfrm>
            <a:off x="6858000" y="21590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23"/>
          <p:cNvCxnSpPr/>
          <p:nvPr/>
        </p:nvCxnSpPr>
        <p:spPr>
          <a:xfrm>
            <a:off x="8921750" y="27432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23"/>
          <p:cNvSpPr/>
          <p:nvPr/>
        </p:nvSpPr>
        <p:spPr>
          <a:xfrm>
            <a:off x="6858000" y="29464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23"/>
          <p:cNvCxnSpPr/>
          <p:nvPr/>
        </p:nvCxnSpPr>
        <p:spPr>
          <a:xfrm>
            <a:off x="8921750" y="35306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23"/>
          <p:cNvSpPr/>
          <p:nvPr/>
        </p:nvSpPr>
        <p:spPr>
          <a:xfrm>
            <a:off x="6858000" y="37338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546100" y="2844800"/>
            <a:ext cx="5359500" cy="18669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660400" y="2971800"/>
            <a:ext cx="50799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sim &gt;= 0.50 // BGE-M3 1024d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dist &lt;= 0.75 // pgvector 768d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23"/>
          <p:cNvSpPr txBox="1"/>
          <p:nvPr/>
        </p:nvSpPr>
        <p:spPr>
          <a:xfrm>
            <a:off x="7010400" y="22733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Validación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7010400" y="30607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Umbral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7010400" y="38481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Rechazo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546100" y="5257800"/>
            <a:ext cx="11099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Un prompt de «si no sabes, dilo» no sustituye este control.</a:t>
            </a:r>
            <a:endParaRPr sz="15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08/15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25" y="2484252"/>
            <a:ext cx="3498950" cy="30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4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Ejercicio S10 y el paso a CRAG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24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8+ documentos ficticios y PostgreSQL con pgvector (vector(768) + HNSW).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59" name="Google Shape;35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336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4"/>
          <p:cNvSpPr txBox="1"/>
          <p:nvPr/>
        </p:nvSpPr>
        <p:spPr>
          <a:xfrm>
            <a:off x="8382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Stack e índice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8382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GEN_MODEL_ID, EMBEDDING_MODEL_ID, vector(768) e índice HNSW.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63" name="Google Shape;36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18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4"/>
          <p:cNvSpPr txBox="1"/>
          <p:nvPr/>
        </p:nvSpPr>
        <p:spPr>
          <a:xfrm>
            <a:off x="463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Reconstrucción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463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Desde archivos en bruto e índice vacío, con umbral y citas.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66" name="Google Shape;36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54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4"/>
          <p:cNvSpPr txBox="1"/>
          <p:nvPr/>
        </p:nvSpPr>
        <p:spPr>
          <a:xfrm>
            <a:off x="844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Evaluación 14+6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844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Ejecutar las 20 preguntas y presentar aciertos/14 y rechazos/6.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69" name="Google Shape;36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7" y="289381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61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7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4"/>
          <p:cNvSpPr txBox="1"/>
          <p:nvPr/>
        </p:nvSpPr>
        <p:spPr>
          <a:xfrm>
            <a:off x="546100" y="5613400"/>
            <a:ext cx="1109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Dedicación orientativa: 4 a 6 horas. Laboratorio en lab/.</a:t>
            </a:r>
            <a:endParaRPr sz="13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12/15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Consulta · Los tres perfiles del proyecto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Recorrido semántico principal, laboratorio pgvector y respaldo demo.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83" name="Google Shape;38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984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5" name="Google Shape;385;p25"/>
          <p:cNvGraphicFramePr/>
          <p:nvPr/>
        </p:nvGraphicFramePr>
        <p:xfrm>
          <a:off x="5461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{A4338FCB-8677-43D3-963D-C3D86BA02EA8}</a:tableStyleId>
              </a:tblPr>
              <a:tblGrid>
                <a:gridCol w="3699925"/>
                <a:gridCol w="3699925"/>
                <a:gridCol w="3699925"/>
              </a:tblGrid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Pieza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Curso (semántico)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Laboratorio (S10/S11)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Índice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Vectorize 1024 d (BGE-M3)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pgvector vector(768) + HNSW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Modelo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claude-haiku-5-5 (Anthropic)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GEN_MODEL_ID / EMBEDDING_MODEL_ID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Umbral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0,50 (variante: complete)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0,25 similitud (0,75 distancia &lt;=&gt;)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</a:tbl>
          </a:graphicData>
        </a:graphic>
      </p:graphicFrame>
      <p:sp>
        <p:nvSpPr>
          <p:cNvPr id="386" name="Google Shape;386;p25"/>
          <p:cNvSpPr txBox="1"/>
          <p:nvPr/>
        </p:nvSpPr>
        <p:spPr>
          <a:xfrm>
            <a:off x="546100" y="5715000"/>
            <a:ext cx="1109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En demo offline se usa fixture-token-hash-v1 (128 d, corte 0,33).</a:t>
            </a:r>
            <a:endParaRPr sz="13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13/15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6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Consulta · Si algo falla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La clase sigue con capturas del 3 de octubre, modo demo.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96" name="Google Shape;39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6"/>
          <p:cNvSpPr/>
          <p:nvPr/>
        </p:nvSpPr>
        <p:spPr>
          <a:xfrm>
            <a:off x="54610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69850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22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26"/>
          <p:cNvSpPr txBox="1"/>
          <p:nvPr/>
        </p:nvSpPr>
        <p:spPr>
          <a:xfrm>
            <a:off x="69850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Preflight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1" name="Google Shape;401;p26"/>
          <p:cNvCxnSpPr/>
          <p:nvPr/>
        </p:nvCxnSpPr>
        <p:spPr>
          <a:xfrm>
            <a:off x="309245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26"/>
          <p:cNvSpPr/>
          <p:nvPr/>
        </p:nvSpPr>
        <p:spPr>
          <a:xfrm>
            <a:off x="340995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 txBox="1"/>
          <p:nvPr/>
        </p:nvSpPr>
        <p:spPr>
          <a:xfrm>
            <a:off x="356235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98C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sz="2200">
              <a:solidFill>
                <a:srgbClr val="598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4" name="Google Shape;404;p26"/>
          <p:cNvSpPr txBox="1"/>
          <p:nvPr/>
        </p:nvSpPr>
        <p:spPr>
          <a:xfrm>
            <a:off x="356235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5" name="Google Shape;405;p26"/>
          <p:cNvCxnSpPr/>
          <p:nvPr/>
        </p:nvCxnSpPr>
        <p:spPr>
          <a:xfrm>
            <a:off x="595630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26"/>
          <p:cNvSpPr/>
          <p:nvPr/>
        </p:nvSpPr>
        <p:spPr>
          <a:xfrm>
            <a:off x="627380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642620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B06C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2200">
              <a:solidFill>
                <a:srgbClr val="B06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26"/>
          <p:cNvSpPr txBox="1"/>
          <p:nvPr/>
        </p:nvSpPr>
        <p:spPr>
          <a:xfrm>
            <a:off x="642620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Captura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9" name="Google Shape;409;p26"/>
          <p:cNvCxnSpPr/>
          <p:nvPr/>
        </p:nvCxnSpPr>
        <p:spPr>
          <a:xfrm>
            <a:off x="882015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B06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0" name="Google Shape;410;p26"/>
          <p:cNvSpPr/>
          <p:nvPr/>
        </p:nvSpPr>
        <p:spPr>
          <a:xfrm>
            <a:off x="913765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EE6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929005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66B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2200">
              <a:solidFill>
                <a:srgbClr val="EE66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6"/>
          <p:cNvSpPr txBox="1"/>
          <p:nvPr/>
        </p:nvSpPr>
        <p:spPr>
          <a:xfrm>
            <a:off x="929005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Diapositiva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546100" y="4559300"/>
            <a:ext cx="11099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No lances activate --execute. No hay alta autorizada.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26"/>
          <p:cNvSpPr txBox="1"/>
          <p:nvPr/>
        </p:nvSpPr>
        <p:spPr>
          <a:xfrm>
            <a:off x="546100" y="5473700"/>
            <a:ext cx="1109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bun run preflight &amp;&amp; bun run dev</a:t>
            </a:r>
            <a:endParaRPr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6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14/15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218039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Para cerrar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QR sigue siendo el de AI Engineer: evalúa S9, no esta clase.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546100" y="1905000"/>
            <a:ext cx="5257800" cy="15621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46100" y="3746500"/>
            <a:ext cx="5257800" cy="15621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49300" y="20574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Tu feedback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749300" y="2565400"/>
            <a:ext cx="4826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Si no se ha escaneado, este es el momento.</a:t>
            </a:r>
            <a:endParaRPr sz="17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49300" y="38989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 próxima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49300" y="4406900"/>
            <a:ext cx="4826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S11, 27 de octubre: el mismo asistente, con CRAG.</a:t>
            </a:r>
            <a:endParaRPr sz="17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286500" y="1473200"/>
            <a:ext cx="5359500" cy="47370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9300" y="1727200"/>
            <a:ext cx="4140201" cy="414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6629400" y="5918200"/>
            <a:ext cx="501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Evaluación de la clase anterior</a:t>
            </a:r>
            <a:endParaRPr sz="12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S10 · AI Engineer   15/15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
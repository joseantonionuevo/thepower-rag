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62" r:id="rId13"/>
    <p:sldId id="263" r:id="rId14"/>
    <p:sldId id="259" r:id="rId10"/>
    <p:sldId id="261" r:id="rId12"/>
    <p:sldId id="266" r:id="rId17"/>
    <p:sldId id="260" r:id="rId11"/>
    <p:sldId id="265" r:id="rId16"/>
    <p:sldId id="264" r:id="rId15"/>
    <p:sldId id="267" r:id="rId18"/>
    <p:sldId id="268" r:id="rId19"/>
    <p:sldId id="269" r:id="rId20"/>
    <p:sldId id="271" r:id="rId28"/>
  </p:sldIdLst>
  <p:sldSz cy="6858000" cx="12192000"/>
  <p:notesSz cx="6858000" cy="9144000"/>
  <p:embeddedFontLst>
    <p:embeddedFont>
      <p:font typeface="Inter"/>
      <p:regular r:id="rId22"/>
      <p:bold r:id="rId23"/>
      <p:italic r:id="rId24"/>
      <p:boldItalic r:id="rId25"/>
    </p:embeddedFont>
    <p:embeddedFont>
      <p:font typeface="Fira Code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4338FCB-8677-43D3-963D-C3D86BA02EA8}">
  <a:tblStyle styleId="{A4338FCB-8677-43D3-963D-C3D86BA02EA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?>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font" Target="fonts/Inter-regular.fntdata"/><Relationship Id="rId24" Type="http://schemas.openxmlformats.org/officeDocument/2006/relationships/font" Target="fonts/Inter-italic.fntdata"/><Relationship Id="rId23" Type="http://schemas.openxmlformats.org/officeDocument/2006/relationships/font" Target="fonts/Inter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FiraCode-regular.fntdata"/><Relationship Id="rId25" Type="http://schemas.openxmlformats.org/officeDocument/2006/relationships/font" Target="fonts/Inter-boldItalic.fntdata"/><Relationship Id="rId27" Type="http://schemas.openxmlformats.org/officeDocument/2006/relationships/font" Target="fonts/FiraCode-bold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Relationship Id="rId28" Type="http://schemas.openxmlformats.org/officeDocument/2006/relationships/slide" Target="slides/slide16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s5_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S10 · 01/15 · 18:30. Objetivo del producto.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Di: el asistente cubre S1 a S20 y a todos los profesores. No es una empresa ficticia ni solo mis clases.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Señala el diagrama: preguntar, recuperar, citar o rechazar. La app ya está construida; hoy no instalamos el monorepo.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Abre la diapositiva, no el terminal.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Adaptación autorizada para esta demo: Vectorize, D1 y R2. S9 sigue enseñando PostgreSQL y pgvector.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s5_0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s5_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S10 · 02/15 · dentro de 0–10 min. QR y objetivos.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Di: este QR evalúa S9, la clase M/J del 20 de octubre. No envía la práctica de hoy.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Destino del QR: formulario de feedback de AI Engineer. No inventes otra URL.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Hoy: sin RAG, corpus, una búsqueda, citas, rechazo y cohorte.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Si el QR no se lee, usa la copia de material/assets/qr-ai-engineer.jpg.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s5_0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s5_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S10 · 03/15 · sigue el bloque 0–10.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Abre la URL que imprime bun run dev. El 3 de octubre fue http://localhost:5173/. Etapa Sin RAG. Audiencia General.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Escribe: ¿Cómo modela LangGraph un agente con estado y nodos?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Debe salir un stream offline-demo, sin fuentes. Uso y coste: no medido.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Di: una respuesta genérica o una abstención serían aceptables. No pidas al modelo que invente para demostrar el fallo.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En demo ni siquiera hay modelo. No lo presentes como GPT ni como OpenRouter.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s5_0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s5_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S10 · 06/15 · fragmentos y embeddings.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Ejemplo real: c3a59a406888b:s05-langgraph:00.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vectorIdFor devuelve ese id si cabe en 64 bytes. Está en packages/rag/src/ids.ts.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El perfil demo es fixture-token-hash-v1, 128 dimensiones, coseno, umbral 0,33.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Di: 0,33 no es un umbral de BGE-M3. 128 no es la dimensión observada del modelo.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s5_0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s5_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S10 · 09/15 · bloque 40–60. Respuesta y citas.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La respuesta demo empieza por: Respuesta de la canalización local de prueba.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La cita tiene la forma [cite:id]. El panel Fuentes muestra título, sección, chunkId y corpus.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Esa cita no sale de un modelo. Es el texto del fragmento recuperado.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RAG básico hace una sola búsqueda. La reescritura de seguimiento sigue pendiente.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s5_0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s5_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S10 · 07/15 · bloque 25–40. Recuperación.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Cambia a RAG básico. La conversación se vacía.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Pregunta de calendario en General: debe pedir L/X o M/J y no mostrar las dos fechas.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En M/J, la clase de RAG S10 debe mostrar 2026-10-22 y no 2026-10-26.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La puntuación del panel es un coseno lexical. No la llames probabilidad ni relevancia de Vectorize.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s5_0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s5_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S10 · 04/15 · bloque 10–25. Corpus.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Abre corpus/COVERAGE.md y el banner de la app.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Preparación c3a59a406888b. Contenido cc037ef0bb1f7. Perfil p9e8e8e03627e, fixture.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Temario y calendarios completos. Ejercicios parciales: 12 resúmenes y 8 solo título.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M/J S10 es el 22 de octubre. L/X S10 es el 26. No copies una fecha a la otra cohorte.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s5_0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s5_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S10 · 05/15 · bloque 10–25, preparación frente a consulta.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El puente TypeScript: una plantilla `${v}:${doc}:${o}` equivale a un f-string de Python.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chunkId está en packages/rag/src/chunk.ts. No reescribas el proyecto en Python.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corpus.json no trae el cuerpo. La ingesta lo lee de corpus/sources y comprueba sourceHash.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Hoy en clase no ejecutes la ingesta remota.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s5_0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s5_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S10 · 11/15 · actualización y protocolo.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Abre corpus/fixtures/fragmento-sintetico.json. Léelo. No lo ingieras en el corpus del curso.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Di: está marcado como sintético y no describe sesiones ni profesores.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Reindexar de verdad exige recursos remotos que hoy no están autorizados.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La comparación de 20 preguntas está preparada y no ejecutada.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s5_0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s5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S10 · 10/15 · bloque 60–75. Rechazo y cohortes.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Pregunta: ¿Qué beca interna del año 1991 cubre este programa?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Debe decir que no hay contexto utilizable y no llamar a un modelo.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Luego audiencia M/J y la fecha de RAG S10: 2026-10-22.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 presentes el 0,33 como umbral semántico.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s5_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s5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S10 · 08/15 · inspeccionar antes de generar.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Señala Traza de la clase: consulta, puntuación, seleccionado o descartado, decisión y generación.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Comando ya comprobado: bun run dev. Abre la URL que imprime. El 3 de octubre fue http://localhost:5173/.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Si la app no arranca, abre material/evidencias/ y di la fecha 3 de octubre de 2026, modo demo, perfil fixture.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 llames a esas capturas resultado del servicio remoto.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s5_1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s5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S10 · 12/15 · bloque 75–80. Ejercicio. 80–90 preguntas.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Enunciado: material/ejercicios/S10-enunciado.md.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Distingue cuatro planos: el encargo original y su evaluación de 20 preguntas, la adaptación de esta demo, el laboratorio fixture y el conjunto reservado del profesor, que no se reparte.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 pidas a los alumnos que paguen Cloudflare ni que desplieguen.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Cierra anunciando S11, el 27 de octubre, sobre esta misma aplicación.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s5_1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s5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Referencia. No la recorras entera si el tiempo se acaba.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Demo: fixture lexical. Real: Vectorize y OpenRouter, todavía sin dimensión, sin umbral calibrado y sin MODEL_ID.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Dos ajustes remotos siguen abiertos: el umbral calibrado y la inyección del secreto de OpenRouter.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Entregar un tope de gasto no basta para declarar probado el camino real.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Fase 7 verificada en local el 3 de octubre de 2026. Sin alta ni llamada de pago.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7" name="Google Shape;377;s5_1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s5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Referencia de recuperación.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1. bun run preflight. Lee fuente efectiva y APP_MODE efectivo. Si no es demo, corrige esa fuente: .dev.vars pisa wrangler.jsonc y reiniciar no lo quita. 2. bun run dev y abre la URL impresa. 3. Captura en material/evidencias. 4. Vuelve a la diapositiva. No uses activate --execute.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bun run activate y bun run activate -- plan salen a 0 y no llaman a la red.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status --read sí hablaría con la cuenta. No lo uses como plan B de la clase.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activate --execute sin autorización sale 2 y no abre el puente. No lo fuerces.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s5_1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s5_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S10 · 15/15 · cierre.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Deja el QR visible. Evalúa S9, no la clase de hoy.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 envíes ninguna evaluación.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Anuncia S11 el 27 de octubre sobre la misma aplicación.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s5_0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12.png"/><Relationship Id="rId7" Type="http://schemas.openxmlformats.org/officeDocument/2006/relationships/image" Target="../media/image15.jpg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11" Type="http://schemas.openxmlformats.org/officeDocument/2006/relationships/image" Target="../media/image12.png"/><Relationship Id="rId10" Type="http://schemas.openxmlformats.org/officeDocument/2006/relationships/image" Target="../media/image5.png"/><Relationship Id="rId9" Type="http://schemas.openxmlformats.org/officeDocument/2006/relationships/image" Target="../media/image9.png"/><Relationship Id="rId5" Type="http://schemas.openxmlformats.org/officeDocument/2006/relationships/image" Target="../media/image8.png"/><Relationship Id="rId6" Type="http://schemas.openxmlformats.org/officeDocument/2006/relationships/image" Target="../media/image4.png"/><Relationship Id="rId7" Type="http://schemas.openxmlformats.org/officeDocument/2006/relationships/image" Target="../media/image11.png"/><Relationship Id="rId8" Type="http://schemas.openxmlformats.org/officeDocument/2006/relationships/image" Target="../media/image14.png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10.png"/><Relationship Id="rId7" Type="http://schemas.openxmlformats.org/officeDocument/2006/relationships/image" Target="../media/image12.png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11" Type="http://schemas.openxmlformats.org/officeDocument/2006/relationships/image" Target="../media/image12.png"/><Relationship Id="rId10" Type="http://schemas.openxmlformats.org/officeDocument/2006/relationships/image" Target="../media/image5.png"/><Relationship Id="rId9" Type="http://schemas.openxmlformats.org/officeDocument/2006/relationships/image" Target="../media/image9.png"/><Relationship Id="rId5" Type="http://schemas.openxmlformats.org/officeDocument/2006/relationships/image" Target="../media/image8.png"/><Relationship Id="rId6" Type="http://schemas.openxmlformats.org/officeDocument/2006/relationships/image" Target="../media/image4.png"/><Relationship Id="rId7" Type="http://schemas.openxmlformats.org/officeDocument/2006/relationships/image" Target="../media/image11.png"/><Relationship Id="rId8" Type="http://schemas.openxmlformats.org/officeDocument/2006/relationships/image" Target="../media/image14.png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10.png"/><Relationship Id="rId6" Type="http://schemas.openxmlformats.org/officeDocument/2006/relationships/image" Target="../media/image12.png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13.png"/><Relationship Id="rId6" Type="http://schemas.openxmlformats.org/officeDocument/2006/relationships/image" Target="../media/image12.png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12.png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10.png"/><Relationship Id="rId6" Type="http://schemas.openxmlformats.org/officeDocument/2006/relationships/image" Target="../media/image12.png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11" Type="http://schemas.openxmlformats.org/officeDocument/2006/relationships/image" Target="../media/image12.png"/><Relationship Id="rId10" Type="http://schemas.openxmlformats.org/officeDocument/2006/relationships/image" Target="../media/image5.png"/><Relationship Id="rId9" Type="http://schemas.openxmlformats.org/officeDocument/2006/relationships/image" Target="../media/image9.png"/><Relationship Id="rId5" Type="http://schemas.openxmlformats.org/officeDocument/2006/relationships/image" Target="../media/image8.png"/><Relationship Id="rId6" Type="http://schemas.openxmlformats.org/officeDocument/2006/relationships/image" Target="../media/image4.png"/><Relationship Id="rId7" Type="http://schemas.openxmlformats.org/officeDocument/2006/relationships/image" Target="../media/image11.png"/><Relationship Id="rId8" Type="http://schemas.openxmlformats.org/officeDocument/2006/relationships/image" Target="../media/image14.png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10.png"/><Relationship Id="rId7" Type="http://schemas.openxmlformats.org/officeDocument/2006/relationships/image" Target="../media/image12.png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11" Type="http://schemas.openxmlformats.org/officeDocument/2006/relationships/image" Target="../media/image12.png"/><Relationship Id="rId10" Type="http://schemas.openxmlformats.org/officeDocument/2006/relationships/image" Target="../media/image5.png"/><Relationship Id="rId9" Type="http://schemas.openxmlformats.org/officeDocument/2006/relationships/image" Target="../media/image9.png"/><Relationship Id="rId5" Type="http://schemas.openxmlformats.org/officeDocument/2006/relationships/image" Target="../media/image8.png"/><Relationship Id="rId6" Type="http://schemas.openxmlformats.org/officeDocument/2006/relationships/image" Target="../media/image4.png"/><Relationship Id="rId7" Type="http://schemas.openxmlformats.org/officeDocument/2006/relationships/image" Target="../media/image11.png"/><Relationship Id="rId8" Type="http://schemas.openxmlformats.org/officeDocument/2006/relationships/image" Target="../media/image14.png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13.png"/><Relationship Id="rId6" Type="http://schemas.openxmlformats.org/officeDocument/2006/relationships/image" Target="../media/image12.png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10.png"/><Relationship Id="rId6" Type="http://schemas.openxmlformats.org/officeDocument/2006/relationships/image" Target="../media/image12.png"/></Relationships>
</file>

<file path=ppt/slides/_rels/slide16.xml.rels><?xml version="1.0" encoding="UTF-8"?>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12.png"/><Relationship Id="rId7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584200" y="927100"/>
            <a:ext cx="6731100" cy="203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2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RAG básico</a:t>
            </a:r>
            <a:endParaRPr b="1" sz="42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2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Asistente del curso</a:t>
            </a:r>
            <a:endParaRPr b="1" sz="42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609600" y="3352800"/>
            <a:ext cx="60960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Sin documentos y una sola búsqueda.</a:t>
            </a:r>
            <a:endParaRPr sz="18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La aplicación ya está construida.</a:t>
            </a:r>
            <a:endParaRPr sz="18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584200" y="6108700"/>
            <a:ext cx="3048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thePower · AI Engineer</a:t>
            </a:r>
            <a:endParaRPr b="1" sz="17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8483600" y="6108700"/>
            <a:ext cx="31116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José Antonio Nuevo</a:t>
            </a:r>
            <a:endParaRPr sz="16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609600" y="4635500"/>
            <a:ext cx="63501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2C5F4"/>
                </a:solidFill>
                <a:latin typeface="Inter"/>
                <a:ea typeface="Inter"/>
                <a:cs typeface="Inter"/>
                <a:sym typeface="Inter"/>
              </a:rPr>
              <a:t>22 octubre 2026 · 18:30–20:00</a:t>
            </a:r>
            <a:endParaRPr b="1" sz="1800">
              <a:solidFill>
                <a:srgbClr val="32C5F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0" name="Google Shape;90;p13"/>
          <p:cNvSpPr/>
          <p:nvPr/>
        </p:nvSpPr>
        <p:spPr>
          <a:xfrm>
            <a:off x="609600" y="5257800"/>
            <a:ext cx="6146700" cy="5460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243C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3"/>
          <p:cNvSpPr txBox="1"/>
          <p:nvPr/>
        </p:nvSpPr>
        <p:spPr>
          <a:xfrm>
            <a:off x="774700" y="5359400"/>
            <a:ext cx="5841900" cy="36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Demo local · TypeScript · Fixture</a:t>
            </a:r>
            <a:endParaRPr sz="16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92" name="Google Shape;92;p13"/>
          <p:cNvCxnSpPr/>
          <p:nvPr/>
        </p:nvCxnSpPr>
        <p:spPr>
          <a:xfrm>
            <a:off x="9423400" y="1282700"/>
            <a:ext cx="0" cy="1803300"/>
          </a:xfrm>
          <a:prstGeom prst="straightConnector1">
            <a:avLst/>
          </a:prstGeom>
          <a:noFill/>
          <a:ln cap="flat" cmpd="sng" w="19050">
            <a:solidFill>
              <a:srgbClr val="32C5F4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3" name="Google Shape;93;p13"/>
          <p:cNvCxnSpPr/>
          <p:nvPr/>
        </p:nvCxnSpPr>
        <p:spPr>
          <a:xfrm flipH="1">
            <a:off x="8001100" y="3086100"/>
            <a:ext cx="1422300" cy="1828800"/>
          </a:xfrm>
          <a:prstGeom prst="straightConnector1">
            <a:avLst/>
          </a:prstGeom>
          <a:noFill/>
          <a:ln cap="flat" cmpd="sng" w="19050">
            <a:solidFill>
              <a:srgbClr val="598CF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4" name="Google Shape;94;p13"/>
          <p:cNvCxnSpPr/>
          <p:nvPr/>
        </p:nvCxnSpPr>
        <p:spPr>
          <a:xfrm>
            <a:off x="9423400" y="3086100"/>
            <a:ext cx="1397100" cy="1828800"/>
          </a:xfrm>
          <a:prstGeom prst="straightConnector1">
            <a:avLst/>
          </a:prstGeom>
          <a:noFill/>
          <a:ln cap="flat" cmpd="sng" w="19050">
            <a:solidFill>
              <a:srgbClr val="598C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5" name="Google Shape;95;p13"/>
          <p:cNvSpPr/>
          <p:nvPr/>
        </p:nvSpPr>
        <p:spPr>
          <a:xfrm>
            <a:off x="8648700" y="812800"/>
            <a:ext cx="1549500" cy="939900"/>
          </a:xfrm>
          <a:prstGeom prst="ellipse">
            <a:avLst/>
          </a:prstGeom>
          <a:solidFill>
            <a:srgbClr val="0E1830"/>
          </a:solidFill>
          <a:ln cap="flat" cmpd="sng" w="15875">
            <a:solidFill>
              <a:srgbClr val="32C5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3"/>
          <p:cNvSpPr txBox="1"/>
          <p:nvPr/>
        </p:nvSpPr>
        <p:spPr>
          <a:xfrm>
            <a:off x="8737600" y="1092200"/>
            <a:ext cx="13716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Pregunta</a:t>
            </a:r>
            <a:endParaRPr b="1" sz="16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7" name="Google Shape;97;p13"/>
          <p:cNvSpPr/>
          <p:nvPr/>
        </p:nvSpPr>
        <p:spPr>
          <a:xfrm>
            <a:off x="8648700" y="2616200"/>
            <a:ext cx="1549500" cy="939900"/>
          </a:xfrm>
          <a:prstGeom prst="ellipse">
            <a:avLst/>
          </a:prstGeom>
          <a:solidFill>
            <a:srgbClr val="0E1830"/>
          </a:solidFill>
          <a:ln cap="flat" cmpd="sng" w="15875">
            <a:solidFill>
              <a:srgbClr val="598C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3"/>
          <p:cNvSpPr txBox="1"/>
          <p:nvPr/>
        </p:nvSpPr>
        <p:spPr>
          <a:xfrm>
            <a:off x="8737600" y="2895600"/>
            <a:ext cx="13716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Recuperar</a:t>
            </a:r>
            <a:endParaRPr b="1" sz="16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9" name="Google Shape;99;p13"/>
          <p:cNvSpPr/>
          <p:nvPr/>
        </p:nvSpPr>
        <p:spPr>
          <a:xfrm>
            <a:off x="7226300" y="4445000"/>
            <a:ext cx="1549500" cy="939900"/>
          </a:xfrm>
          <a:prstGeom prst="ellipse">
            <a:avLst/>
          </a:prstGeom>
          <a:solidFill>
            <a:srgbClr val="0E1830"/>
          </a:solidFill>
          <a:ln cap="flat" cmpd="sng" w="15875">
            <a:solidFill>
              <a:srgbClr val="B06C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3"/>
          <p:cNvSpPr txBox="1"/>
          <p:nvPr/>
        </p:nvSpPr>
        <p:spPr>
          <a:xfrm>
            <a:off x="7315200" y="4724400"/>
            <a:ext cx="13716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Citar</a:t>
            </a:r>
            <a:endParaRPr b="1" sz="16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1" name="Google Shape;101;p13"/>
          <p:cNvSpPr/>
          <p:nvPr/>
        </p:nvSpPr>
        <p:spPr>
          <a:xfrm>
            <a:off x="10045700" y="4445000"/>
            <a:ext cx="1549500" cy="939900"/>
          </a:xfrm>
          <a:prstGeom prst="ellipse">
            <a:avLst/>
          </a:prstGeom>
          <a:solidFill>
            <a:srgbClr val="0E1830"/>
          </a:solidFill>
          <a:ln cap="flat" cmpd="sng" w="15875">
            <a:solidFill>
              <a:srgbClr val="EE66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3"/>
          <p:cNvSpPr txBox="1"/>
          <p:nvPr/>
        </p:nvSpPr>
        <p:spPr>
          <a:xfrm>
            <a:off x="10134600" y="4724400"/>
            <a:ext cx="13716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Rechazar</a:t>
            </a:r>
            <a:endParaRPr b="1" sz="16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7" name="Google Shape;107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8" name="Google Shape;108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2925" y="6218039"/>
            <a:ext cx="11106150" cy="32385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/>
          <p:nvPr/>
        </p:nvSpPr>
        <p:spPr>
          <a:xfrm>
            <a:off x="965200" y="431800"/>
            <a:ext cx="105411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Antes de empezar</a:t>
            </a:r>
            <a:endParaRPr b="1" sz="2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0" name="Google Shape;110;p14"/>
          <p:cNvSpPr txBox="1"/>
          <p:nvPr/>
        </p:nvSpPr>
        <p:spPr>
          <a:xfrm>
            <a:off x="546100" y="1066800"/>
            <a:ext cx="110997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El QR de AI Engineer evalúa la clase anterior: S9.</a:t>
            </a:r>
            <a:endParaRPr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111" name="Google Shape;111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2925" y="509587"/>
            <a:ext cx="2603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42925" y="6229350"/>
            <a:ext cx="1383650" cy="435175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4"/>
          <p:cNvSpPr/>
          <p:nvPr/>
        </p:nvSpPr>
        <p:spPr>
          <a:xfrm>
            <a:off x="546100" y="1905000"/>
            <a:ext cx="5257800" cy="15621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32C5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4"/>
          <p:cNvSpPr/>
          <p:nvPr/>
        </p:nvSpPr>
        <p:spPr>
          <a:xfrm>
            <a:off x="546100" y="3746500"/>
            <a:ext cx="5257800" cy="15621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B06C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4"/>
          <p:cNvSpPr txBox="1"/>
          <p:nvPr/>
        </p:nvSpPr>
        <p:spPr>
          <a:xfrm>
            <a:off x="749300" y="2057400"/>
            <a:ext cx="48261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Tu feedback</a:t>
            </a:r>
            <a:endParaRPr b="1" sz="21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6" name="Google Shape;116;p14"/>
          <p:cNvSpPr txBox="1"/>
          <p:nvPr/>
        </p:nvSpPr>
        <p:spPr>
          <a:xfrm>
            <a:off x="749300" y="2565400"/>
            <a:ext cx="4826100" cy="749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Escanea el QR. Valora la clase del 20 de octubre.</a:t>
            </a:r>
            <a:endParaRPr sz="17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7" name="Google Shape;117;p14"/>
          <p:cNvSpPr txBox="1"/>
          <p:nvPr/>
        </p:nvSpPr>
        <p:spPr>
          <a:xfrm>
            <a:off x="749300" y="3898900"/>
            <a:ext cx="48261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Hoy veremos</a:t>
            </a:r>
            <a:endParaRPr b="1" sz="21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8" name="Google Shape;118;p14"/>
          <p:cNvSpPr txBox="1"/>
          <p:nvPr/>
        </p:nvSpPr>
        <p:spPr>
          <a:xfrm>
            <a:off x="749300" y="4406900"/>
            <a:ext cx="4826100" cy="749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Sin RAG, el corpus, una búsqueda y las citas.</a:t>
            </a:r>
            <a:endParaRPr sz="17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9" name="Google Shape;119;p14"/>
          <p:cNvSpPr/>
          <p:nvPr/>
        </p:nvSpPr>
        <p:spPr>
          <a:xfrm>
            <a:off x="6286500" y="1473200"/>
            <a:ext cx="5359500" cy="4737000"/>
          </a:xfrm>
          <a:prstGeom prst="roundRect">
            <a:avLst>
              <a:gd fmla="val 16667" name="adj"/>
            </a:avLst>
          </a:prstGeom>
          <a:solidFill>
            <a:srgbClr val="080E1D"/>
          </a:solidFill>
          <a:ln cap="flat" cmpd="sng" w="15250">
            <a:solidFill>
              <a:srgbClr val="2845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0" name="Google Shape;120;p1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099300" y="1727200"/>
            <a:ext cx="4140201" cy="4140201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4"/>
          <p:cNvSpPr txBox="1"/>
          <p:nvPr/>
        </p:nvSpPr>
        <p:spPr>
          <a:xfrm>
            <a:off x="6629400" y="5918200"/>
            <a:ext cx="50166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Evaluación de la clase anterior</a:t>
            </a:r>
            <a:endParaRPr sz="12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601200" y="6324600"/>
            <a:ext cx="20319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S10 · AI Engineer   02/15</a:t>
            </a:r>
            <a:endParaRPr sz="10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7" name="Google Shape;12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8" name="Google Shape;128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2925" y="6067425"/>
            <a:ext cx="11106150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9" name="Google Shape;129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2925" y="2484252"/>
            <a:ext cx="3498800" cy="3020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0" name="Google Shape;130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6525" y="2484252"/>
            <a:ext cx="3498800" cy="3020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1" name="Google Shape;131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50125" y="2484252"/>
            <a:ext cx="3498950" cy="3020350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5"/>
          <p:cNvSpPr txBox="1"/>
          <p:nvPr/>
        </p:nvSpPr>
        <p:spPr>
          <a:xfrm>
            <a:off x="965200" y="431800"/>
            <a:ext cx="105411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La misma pregunta, sin documentos</a:t>
            </a:r>
            <a:endParaRPr b="1" sz="2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3" name="Google Shape;133;p15"/>
          <p:cNvSpPr txBox="1"/>
          <p:nvPr/>
        </p:nvSpPr>
        <p:spPr>
          <a:xfrm>
            <a:off x="546100" y="1066800"/>
            <a:ext cx="110997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Abstenerse o ser genérico es válido. No forzamos una alucinación.</a:t>
            </a:r>
            <a:endParaRPr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134" name="Google Shape;134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42925" y="509587"/>
            <a:ext cx="3365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5" name="Google Shape;135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38200" y="2779514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15"/>
          <p:cNvSpPr txBox="1"/>
          <p:nvPr/>
        </p:nvSpPr>
        <p:spPr>
          <a:xfrm>
            <a:off x="838200" y="3276600"/>
            <a:ext cx="2971800" cy="5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Sin fuentes</a:t>
            </a:r>
            <a:endParaRPr b="1" sz="1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7" name="Google Shape;137;p15"/>
          <p:cNvSpPr txBox="1"/>
          <p:nvPr/>
        </p:nvSpPr>
        <p:spPr>
          <a:xfrm>
            <a:off x="838200" y="3949700"/>
            <a:ext cx="2971800" cy="149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Este modo no recupera fichas del curso.</a:t>
            </a:r>
            <a:endParaRPr sz="155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138" name="Google Shape;138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641800" y="2779514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15"/>
          <p:cNvSpPr txBox="1"/>
          <p:nvPr/>
        </p:nvSpPr>
        <p:spPr>
          <a:xfrm>
            <a:off x="4635500" y="3276600"/>
            <a:ext cx="2971800" cy="5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Qué aparece</a:t>
            </a:r>
            <a:endParaRPr b="1" sz="1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0" name="Google Shape;140;p15"/>
          <p:cNvSpPr txBox="1"/>
          <p:nvPr/>
        </p:nvSpPr>
        <p:spPr>
          <a:xfrm>
            <a:off x="4635500" y="3949700"/>
            <a:ext cx="2971800" cy="149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En demo es un stream local, no un modelo.</a:t>
            </a:r>
            <a:endParaRPr sz="155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141" name="Google Shape;141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445400" y="2779514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5"/>
          <p:cNvSpPr txBox="1"/>
          <p:nvPr/>
        </p:nvSpPr>
        <p:spPr>
          <a:xfrm>
            <a:off x="8445500" y="3276600"/>
            <a:ext cx="2971800" cy="5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Qué señalar</a:t>
            </a:r>
            <a:endParaRPr b="1" sz="1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3" name="Google Shape;143;p15"/>
          <p:cNvSpPr txBox="1"/>
          <p:nvPr/>
        </p:nvSpPr>
        <p:spPr>
          <a:xfrm>
            <a:off x="8445500" y="3949700"/>
            <a:ext cx="2971800" cy="149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Uso y coste figuran como no medidos.</a:t>
            </a:r>
            <a:endParaRPr sz="155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144" name="Google Shape;144;p1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66787" y="2893814"/>
            <a:ext cx="2000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5" name="Google Shape;145;p1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756100" y="2893814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6" name="Google Shape;146;p15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8559700" y="2893814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15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542925" y="6229350"/>
            <a:ext cx="1383650" cy="435175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15"/>
          <p:cNvSpPr txBox="1"/>
          <p:nvPr/>
        </p:nvSpPr>
        <p:spPr>
          <a:xfrm>
            <a:off x="9601200" y="6324600"/>
            <a:ext cx="20319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S10 · AI Engineer   03/15</a:t>
            </a:r>
            <a:endParaRPr sz="10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53" name="Google Shape;15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4" name="Google Shape;154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2925" y="6067425"/>
            <a:ext cx="11106150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5" name="Google Shape;155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86500" y="1809750"/>
            <a:ext cx="5362575" cy="3924300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/>
          <p:cNvSpPr txBox="1"/>
          <p:nvPr/>
        </p:nvSpPr>
        <p:spPr>
          <a:xfrm>
            <a:off x="965200" y="431800"/>
            <a:ext cx="105411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Fragmento, id y vector</a:t>
            </a:r>
            <a:endParaRPr b="1" sz="2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7" name="Google Shape;157;p16"/>
          <p:cNvSpPr txBox="1"/>
          <p:nvPr/>
        </p:nvSpPr>
        <p:spPr>
          <a:xfrm>
            <a:off x="546100" y="1066800"/>
            <a:ext cx="110997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El id es la cita. El vector de demo no es BGE-M3.</a:t>
            </a:r>
            <a:endParaRPr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158" name="Google Shape;158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42925" y="509587"/>
            <a:ext cx="2603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1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42925" y="6229350"/>
            <a:ext cx="1383650" cy="435175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6"/>
          <p:cNvSpPr/>
          <p:nvPr/>
        </p:nvSpPr>
        <p:spPr>
          <a:xfrm>
            <a:off x="6858000" y="2159000"/>
            <a:ext cx="4127400" cy="5589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32C5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1" name="Google Shape;161;p16"/>
          <p:cNvCxnSpPr/>
          <p:nvPr/>
        </p:nvCxnSpPr>
        <p:spPr>
          <a:xfrm>
            <a:off x="8921750" y="2743200"/>
            <a:ext cx="0" cy="152400"/>
          </a:xfrm>
          <a:prstGeom prst="straightConnector1">
            <a:avLst/>
          </a:prstGeom>
          <a:noFill/>
          <a:ln cap="flat" cmpd="sng" w="19050">
            <a:solidFill>
              <a:srgbClr val="32C5F4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62" name="Google Shape;162;p16"/>
          <p:cNvSpPr/>
          <p:nvPr/>
        </p:nvSpPr>
        <p:spPr>
          <a:xfrm>
            <a:off x="6858000" y="2946400"/>
            <a:ext cx="4127400" cy="5589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598C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3" name="Google Shape;163;p16"/>
          <p:cNvCxnSpPr/>
          <p:nvPr/>
        </p:nvCxnSpPr>
        <p:spPr>
          <a:xfrm>
            <a:off x="8921750" y="3530600"/>
            <a:ext cx="0" cy="152400"/>
          </a:xfrm>
          <a:prstGeom prst="straightConnector1">
            <a:avLst/>
          </a:prstGeom>
          <a:noFill/>
          <a:ln cap="flat" cmpd="sng" w="19050">
            <a:solidFill>
              <a:srgbClr val="598C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64" name="Google Shape;164;p16"/>
          <p:cNvSpPr/>
          <p:nvPr/>
        </p:nvSpPr>
        <p:spPr>
          <a:xfrm>
            <a:off x="6858000" y="3733800"/>
            <a:ext cx="4127400" cy="5589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B06C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6"/>
          <p:cNvSpPr/>
          <p:nvPr/>
        </p:nvSpPr>
        <p:spPr>
          <a:xfrm>
            <a:off x="546100" y="2844800"/>
            <a:ext cx="5359500" cy="1866900"/>
          </a:xfrm>
          <a:prstGeom prst="roundRect">
            <a:avLst>
              <a:gd fmla="val 16667" name="adj"/>
            </a:avLst>
          </a:prstGeom>
          <a:solidFill>
            <a:srgbClr val="080E1D"/>
          </a:solidFill>
          <a:ln cap="flat" cmpd="sng" w="15250">
            <a:solidFill>
              <a:srgbClr val="2845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6"/>
          <p:cNvSpPr txBox="1"/>
          <p:nvPr/>
        </p:nvSpPr>
        <p:spPr>
          <a:xfrm>
            <a:off x="660400" y="2971800"/>
            <a:ext cx="5079900" cy="161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32C5F4"/>
                </a:solidFill>
                <a:latin typeface="Fira Code"/>
                <a:ea typeface="Fira Code"/>
                <a:cs typeface="Fira Code"/>
                <a:sym typeface="Fira Code"/>
              </a:rPr>
              <a:t>function chunkId(v, doc, n) {</a:t>
            </a:r>
            <a:endParaRPr sz="1350">
              <a:solidFill>
                <a:srgbClr val="32C5F4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32C5F4"/>
                </a:solidFill>
                <a:latin typeface="Fira Code"/>
                <a:ea typeface="Fira Code"/>
                <a:cs typeface="Fira Code"/>
                <a:sym typeface="Fira Code"/>
              </a:rPr>
              <a:t xml:space="preserve">  const o = String(n).padStart(2, "0")</a:t>
            </a:r>
            <a:endParaRPr sz="1350">
              <a:solidFill>
                <a:srgbClr val="32C5F4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rgbClr val="32C5F4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32C5F4"/>
                </a:solidFill>
                <a:latin typeface="Fira Code"/>
                <a:ea typeface="Fira Code"/>
                <a:cs typeface="Fira Code"/>
                <a:sym typeface="Fira Code"/>
              </a:rPr>
              <a:t xml:space="preserve">  return `${v}:${doc}:${o}`</a:t>
            </a:r>
            <a:endParaRPr sz="1350">
              <a:solidFill>
                <a:srgbClr val="32C5F4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32C5F4"/>
                </a:solidFill>
                <a:latin typeface="Fira Code"/>
                <a:ea typeface="Fira Code"/>
                <a:cs typeface="Fira Code"/>
                <a:sym typeface="Fira Code"/>
              </a:rPr>
              <a:t>}</a:t>
            </a:r>
            <a:endParaRPr sz="1350">
              <a:solidFill>
                <a:srgbClr val="32C5F4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32C5F4"/>
                </a:solidFill>
                <a:latin typeface="Fira Code"/>
                <a:ea typeface="Fira Code"/>
                <a:cs typeface="Fira Code"/>
                <a:sym typeface="Fira Code"/>
              </a:rPr>
              <a:t>vectorIdFor(id) // cabe en 64 bytes</a:t>
            </a:r>
            <a:endParaRPr sz="1350">
              <a:solidFill>
                <a:srgbClr val="32C5F4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7" name="Google Shape;167;p16"/>
          <p:cNvSpPr txBox="1"/>
          <p:nvPr/>
        </p:nvSpPr>
        <p:spPr>
          <a:xfrm>
            <a:off x="7010400" y="2273300"/>
            <a:ext cx="38226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Texto</a:t>
            </a:r>
            <a:endParaRPr b="1" sz="1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8" name="Google Shape;168;p16"/>
          <p:cNvSpPr txBox="1"/>
          <p:nvPr/>
        </p:nvSpPr>
        <p:spPr>
          <a:xfrm>
            <a:off x="7010400" y="3060700"/>
            <a:ext cx="38226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Identificador</a:t>
            </a:r>
            <a:endParaRPr b="1" sz="1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9" name="Google Shape;169;p16"/>
          <p:cNvSpPr txBox="1"/>
          <p:nvPr/>
        </p:nvSpPr>
        <p:spPr>
          <a:xfrm>
            <a:off x="7010400" y="3848100"/>
            <a:ext cx="38226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Vector</a:t>
            </a:r>
            <a:endParaRPr b="1" sz="1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0" name="Google Shape;170;p16"/>
          <p:cNvSpPr txBox="1"/>
          <p:nvPr/>
        </p:nvSpPr>
        <p:spPr>
          <a:xfrm>
            <a:off x="546100" y="5257800"/>
            <a:ext cx="110997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fixture-token-hash-v1 · 128 · coseno</a:t>
            </a:r>
            <a:endParaRPr sz="15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1" name="Google Shape;171;p16"/>
          <p:cNvSpPr txBox="1"/>
          <p:nvPr/>
        </p:nvSpPr>
        <p:spPr>
          <a:xfrm>
            <a:off x="546100" y="5765800"/>
            <a:ext cx="11099700" cy="31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32C5F4"/>
                </a:solidFill>
                <a:latin typeface="Fira Code"/>
                <a:ea typeface="Fira Code"/>
                <a:cs typeface="Fira Code"/>
                <a:sym typeface="Fira Code"/>
              </a:rPr>
              <a:t>Umbral lexical de la demo: 0,33</a:t>
            </a:r>
            <a:endParaRPr sz="1300">
              <a:solidFill>
                <a:srgbClr val="32C5F4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2" name="Google Shape;172;p16"/>
          <p:cNvSpPr txBox="1"/>
          <p:nvPr/>
        </p:nvSpPr>
        <p:spPr>
          <a:xfrm>
            <a:off x="9601200" y="6324600"/>
            <a:ext cx="20319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S10 · AI Engineer   06/15</a:t>
            </a:r>
            <a:endParaRPr sz="10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77" name="Google Shape;17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8" name="Google Shape;17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2925" y="6067425"/>
            <a:ext cx="11106150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9" name="Google Shape;179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2925" y="2484252"/>
            <a:ext cx="3498800" cy="3020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0" name="Google Shape;180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6525" y="2484252"/>
            <a:ext cx="3498800" cy="3020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1" name="Google Shape;181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50125" y="2484252"/>
            <a:ext cx="3498950" cy="302035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17"/>
          <p:cNvSpPr txBox="1"/>
          <p:nvPr/>
        </p:nvSpPr>
        <p:spPr>
          <a:xfrm>
            <a:off x="965200" y="431800"/>
            <a:ext cx="105411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Contexto, respuesta y cita</a:t>
            </a:r>
            <a:endParaRPr b="1" sz="2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3" name="Google Shape;183;p17"/>
          <p:cNvSpPr txBox="1"/>
          <p:nvPr/>
        </p:nvSpPr>
        <p:spPr>
          <a:xfrm>
            <a:off x="546100" y="1066800"/>
            <a:ext cx="110997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La cita usa el id del fragmento. Se puede abrir.</a:t>
            </a:r>
            <a:endParaRPr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184" name="Google Shape;184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42925" y="509587"/>
            <a:ext cx="3365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5" name="Google Shape;185;p1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38200" y="2779514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7"/>
          <p:cNvSpPr txBox="1"/>
          <p:nvPr/>
        </p:nvSpPr>
        <p:spPr>
          <a:xfrm>
            <a:off x="838200" y="3276600"/>
            <a:ext cx="2971800" cy="5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Contexto</a:t>
            </a:r>
            <a:endParaRPr b="1" sz="1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7" name="Google Shape;187;p17"/>
          <p:cNvSpPr txBox="1"/>
          <p:nvPr/>
        </p:nvSpPr>
        <p:spPr>
          <a:xfrm>
            <a:off x="838200" y="3949700"/>
            <a:ext cx="2971800" cy="149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Solo entran los fragmentos seleccionados.</a:t>
            </a:r>
            <a:endParaRPr sz="155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188" name="Google Shape;188;p1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641800" y="2779514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17"/>
          <p:cNvSpPr txBox="1"/>
          <p:nvPr/>
        </p:nvSpPr>
        <p:spPr>
          <a:xfrm>
            <a:off x="4635500" y="3276600"/>
            <a:ext cx="2971800" cy="5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Respuesta</a:t>
            </a:r>
            <a:endParaRPr b="1" sz="1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0" name="Google Shape;190;p17"/>
          <p:cNvSpPr txBox="1"/>
          <p:nvPr/>
        </p:nvSpPr>
        <p:spPr>
          <a:xfrm>
            <a:off x="4635500" y="3949700"/>
            <a:ext cx="2971800" cy="149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En demo no llama a un modelo de pago.</a:t>
            </a:r>
            <a:endParaRPr sz="155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191" name="Google Shape;191;p1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445400" y="2779514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17"/>
          <p:cNvSpPr txBox="1"/>
          <p:nvPr/>
        </p:nvSpPr>
        <p:spPr>
          <a:xfrm>
            <a:off x="8445500" y="3276600"/>
            <a:ext cx="2971800" cy="5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Cita</a:t>
            </a:r>
            <a:endParaRPr b="1" sz="1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3" name="Google Shape;193;p17"/>
          <p:cNvSpPr txBox="1"/>
          <p:nvPr/>
        </p:nvSpPr>
        <p:spPr>
          <a:xfrm>
            <a:off x="8445500" y="3949700"/>
            <a:ext cx="2971800" cy="149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Formato [cite:id], resoluble en el corpus.</a:t>
            </a:r>
            <a:endParaRPr sz="155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194" name="Google Shape;194;p1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66787" y="2893814"/>
            <a:ext cx="2000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5" name="Google Shape;195;p1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756100" y="2893814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6" name="Google Shape;196;p17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8559700" y="2893814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17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542925" y="6229350"/>
            <a:ext cx="1383650" cy="435175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17"/>
          <p:cNvSpPr txBox="1"/>
          <p:nvPr/>
        </p:nvSpPr>
        <p:spPr>
          <a:xfrm>
            <a:off x="546100" y="5613400"/>
            <a:ext cx="11099700" cy="36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32C5F4"/>
                </a:solidFill>
                <a:latin typeface="Fira Code"/>
                <a:ea typeface="Fira Code"/>
                <a:cs typeface="Fira Code"/>
                <a:sym typeface="Fira Code"/>
              </a:rPr>
              <a:t>Etapa RAG básico. Una sola búsqueda.</a:t>
            </a:r>
            <a:endParaRPr>
              <a:solidFill>
                <a:srgbClr val="32C5F4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9" name="Google Shape;199;p17"/>
          <p:cNvSpPr txBox="1"/>
          <p:nvPr/>
        </p:nvSpPr>
        <p:spPr>
          <a:xfrm>
            <a:off x="9601200" y="6324600"/>
            <a:ext cx="20319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S10 · AI Engineer   09/15</a:t>
            </a:r>
            <a:endParaRPr sz="10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4" name="Google Shape;204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5" name="Google Shape;205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2925" y="6067425"/>
            <a:ext cx="11106150" cy="323850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18"/>
          <p:cNvSpPr txBox="1"/>
          <p:nvPr/>
        </p:nvSpPr>
        <p:spPr>
          <a:xfrm>
            <a:off x="965200" y="431800"/>
            <a:ext cx="105411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Recuperar, filtrar y puntuar</a:t>
            </a:r>
            <a:endParaRPr b="1" sz="2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7" name="Google Shape;207;p18"/>
          <p:cNvSpPr txBox="1"/>
          <p:nvPr/>
        </p:nvSpPr>
        <p:spPr>
          <a:xfrm>
            <a:off x="546100" y="1066800"/>
            <a:ext cx="110997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La puntuación ordena candidatos. No es una probabilidad.</a:t>
            </a:r>
            <a:endParaRPr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208" name="Google Shape;208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2925" y="509587"/>
            <a:ext cx="2603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1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42925" y="6229350"/>
            <a:ext cx="1383650" cy="435175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18"/>
          <p:cNvSpPr/>
          <p:nvPr/>
        </p:nvSpPr>
        <p:spPr>
          <a:xfrm>
            <a:off x="546100" y="2641600"/>
            <a:ext cx="1935600" cy="14223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32C5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8"/>
          <p:cNvSpPr txBox="1"/>
          <p:nvPr/>
        </p:nvSpPr>
        <p:spPr>
          <a:xfrm>
            <a:off x="698500" y="2768600"/>
            <a:ext cx="16308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32C5F4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b="1" sz="2200">
              <a:solidFill>
                <a:srgbClr val="32C5F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2" name="Google Shape;212;p18"/>
          <p:cNvSpPr txBox="1"/>
          <p:nvPr/>
        </p:nvSpPr>
        <p:spPr>
          <a:xfrm>
            <a:off x="698500" y="3251200"/>
            <a:ext cx="1630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Pregunta</a:t>
            </a:r>
            <a:endParaRPr b="1" sz="17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213" name="Google Shape;213;p18"/>
          <p:cNvCxnSpPr/>
          <p:nvPr/>
        </p:nvCxnSpPr>
        <p:spPr>
          <a:xfrm>
            <a:off x="2519680" y="3352800"/>
            <a:ext cx="266700" cy="0"/>
          </a:xfrm>
          <a:prstGeom prst="straightConnector1">
            <a:avLst/>
          </a:prstGeom>
          <a:noFill/>
          <a:ln cap="flat" cmpd="sng" w="19050">
            <a:solidFill>
              <a:srgbClr val="32C5F4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14" name="Google Shape;214;p18"/>
          <p:cNvSpPr/>
          <p:nvPr/>
        </p:nvSpPr>
        <p:spPr>
          <a:xfrm>
            <a:off x="2837180" y="2641600"/>
            <a:ext cx="1935600" cy="14223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598C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8"/>
          <p:cNvSpPr txBox="1"/>
          <p:nvPr/>
        </p:nvSpPr>
        <p:spPr>
          <a:xfrm>
            <a:off x="2989580" y="2768600"/>
            <a:ext cx="16308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598CFF"/>
                </a:solidFill>
                <a:latin typeface="Inter"/>
                <a:ea typeface="Inter"/>
                <a:cs typeface="Inter"/>
                <a:sym typeface="Inter"/>
              </a:rPr>
              <a:t>2</a:t>
            </a:r>
            <a:endParaRPr b="1" sz="2200">
              <a:solidFill>
                <a:srgbClr val="598C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6" name="Google Shape;216;p18"/>
          <p:cNvSpPr txBox="1"/>
          <p:nvPr/>
        </p:nvSpPr>
        <p:spPr>
          <a:xfrm>
            <a:off x="2989580" y="3251200"/>
            <a:ext cx="1630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Audiencia</a:t>
            </a:r>
            <a:endParaRPr b="1" sz="17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217" name="Google Shape;217;p18"/>
          <p:cNvCxnSpPr/>
          <p:nvPr/>
        </p:nvCxnSpPr>
        <p:spPr>
          <a:xfrm>
            <a:off x="4810760" y="3352800"/>
            <a:ext cx="266700" cy="0"/>
          </a:xfrm>
          <a:prstGeom prst="straightConnector1">
            <a:avLst/>
          </a:prstGeom>
          <a:noFill/>
          <a:ln cap="flat" cmpd="sng" w="19050">
            <a:solidFill>
              <a:srgbClr val="598C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18" name="Google Shape;218;p18"/>
          <p:cNvSpPr/>
          <p:nvPr/>
        </p:nvSpPr>
        <p:spPr>
          <a:xfrm>
            <a:off x="5128260" y="2641600"/>
            <a:ext cx="1935600" cy="14223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B06C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8"/>
          <p:cNvSpPr txBox="1"/>
          <p:nvPr/>
        </p:nvSpPr>
        <p:spPr>
          <a:xfrm>
            <a:off x="5280660" y="2768600"/>
            <a:ext cx="16308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B06CFF"/>
                </a:solidFill>
                <a:latin typeface="Inter"/>
                <a:ea typeface="Inter"/>
                <a:cs typeface="Inter"/>
                <a:sym typeface="Inter"/>
              </a:rPr>
              <a:t>3</a:t>
            </a:r>
            <a:endParaRPr b="1" sz="2200">
              <a:solidFill>
                <a:srgbClr val="B06C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0" name="Google Shape;220;p18"/>
          <p:cNvSpPr txBox="1"/>
          <p:nvPr/>
        </p:nvSpPr>
        <p:spPr>
          <a:xfrm>
            <a:off x="5280660" y="3251200"/>
            <a:ext cx="1630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Coseno</a:t>
            </a:r>
            <a:endParaRPr b="1" sz="17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221" name="Google Shape;221;p18"/>
          <p:cNvCxnSpPr/>
          <p:nvPr/>
        </p:nvCxnSpPr>
        <p:spPr>
          <a:xfrm>
            <a:off x="7101840" y="3352800"/>
            <a:ext cx="266700" cy="0"/>
          </a:xfrm>
          <a:prstGeom prst="straightConnector1">
            <a:avLst/>
          </a:prstGeom>
          <a:noFill/>
          <a:ln cap="flat" cmpd="sng" w="19050">
            <a:solidFill>
              <a:srgbClr val="B06C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22" name="Google Shape;222;p18"/>
          <p:cNvSpPr/>
          <p:nvPr/>
        </p:nvSpPr>
        <p:spPr>
          <a:xfrm>
            <a:off x="7419340" y="2641600"/>
            <a:ext cx="1935600" cy="14223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EE66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8"/>
          <p:cNvSpPr txBox="1"/>
          <p:nvPr/>
        </p:nvSpPr>
        <p:spPr>
          <a:xfrm>
            <a:off x="7571740" y="2768600"/>
            <a:ext cx="16308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EE66B8"/>
                </a:solidFill>
                <a:latin typeface="Inter"/>
                <a:ea typeface="Inter"/>
                <a:cs typeface="Inter"/>
                <a:sym typeface="Inter"/>
              </a:rPr>
              <a:t>4</a:t>
            </a:r>
            <a:endParaRPr b="1" sz="2200">
              <a:solidFill>
                <a:srgbClr val="EE66B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4" name="Google Shape;224;p18"/>
          <p:cNvSpPr txBox="1"/>
          <p:nvPr/>
        </p:nvSpPr>
        <p:spPr>
          <a:xfrm>
            <a:off x="7571740" y="3251200"/>
            <a:ext cx="1630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Umbral</a:t>
            </a:r>
            <a:endParaRPr b="1" sz="17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225" name="Google Shape;225;p18"/>
          <p:cNvCxnSpPr/>
          <p:nvPr/>
        </p:nvCxnSpPr>
        <p:spPr>
          <a:xfrm>
            <a:off x="9392920" y="3352800"/>
            <a:ext cx="266700" cy="0"/>
          </a:xfrm>
          <a:prstGeom prst="straightConnector1">
            <a:avLst/>
          </a:prstGeom>
          <a:noFill/>
          <a:ln cap="flat" cmpd="sng" w="19050">
            <a:solidFill>
              <a:srgbClr val="EE66B8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26" name="Google Shape;226;p18"/>
          <p:cNvSpPr/>
          <p:nvPr/>
        </p:nvSpPr>
        <p:spPr>
          <a:xfrm>
            <a:off x="9710420" y="2641600"/>
            <a:ext cx="1935600" cy="14223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32C5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8"/>
          <p:cNvSpPr txBox="1"/>
          <p:nvPr/>
        </p:nvSpPr>
        <p:spPr>
          <a:xfrm>
            <a:off x="9862820" y="2768600"/>
            <a:ext cx="16308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32C5F4"/>
                </a:solidFill>
                <a:latin typeface="Inter"/>
                <a:ea typeface="Inter"/>
                <a:cs typeface="Inter"/>
                <a:sym typeface="Inter"/>
              </a:rPr>
              <a:t>5</a:t>
            </a:r>
            <a:endParaRPr b="1" sz="2200">
              <a:solidFill>
                <a:srgbClr val="32C5F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8" name="Google Shape;228;p18"/>
          <p:cNvSpPr txBox="1"/>
          <p:nvPr/>
        </p:nvSpPr>
        <p:spPr>
          <a:xfrm>
            <a:off x="9862820" y="3251200"/>
            <a:ext cx="1630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Candidatos</a:t>
            </a:r>
            <a:endParaRPr b="1" sz="17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9" name="Google Shape;229;p18"/>
          <p:cNvSpPr txBox="1"/>
          <p:nvPr/>
        </p:nvSpPr>
        <p:spPr>
          <a:xfrm>
            <a:off x="546100" y="4559300"/>
            <a:ext cx="11099700" cy="73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General no mezcla el calendario L/X con el M/J.</a:t>
            </a:r>
            <a:endParaRPr sz="18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0" name="Google Shape;230;p18"/>
          <p:cNvSpPr txBox="1"/>
          <p:nvPr/>
        </p:nvSpPr>
        <p:spPr>
          <a:xfrm>
            <a:off x="9601200" y="6324600"/>
            <a:ext cx="20319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S10 · AI Engineer   07/15</a:t>
            </a:r>
            <a:endParaRPr sz="10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35" name="Google Shape;235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6" name="Google Shape;236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2925" y="6067425"/>
            <a:ext cx="11106150" cy="323850"/>
          </a:xfrm>
          <a:prstGeom prst="rect">
            <a:avLst/>
          </a:prstGeom>
          <a:noFill/>
          <a:ln>
            <a:noFill/>
          </a:ln>
        </p:spPr>
      </p:pic>
      <p:sp>
        <p:nvSpPr>
          <p:cNvPr id="237" name="Google Shape;237;p19"/>
          <p:cNvSpPr txBox="1"/>
          <p:nvPr/>
        </p:nvSpPr>
        <p:spPr>
          <a:xfrm>
            <a:off x="965200" y="431800"/>
            <a:ext cx="105411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Corpus de todo el programa</a:t>
            </a:r>
            <a:endParaRPr b="1" sz="2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8" name="Google Shape;238;p19"/>
          <p:cNvSpPr txBox="1"/>
          <p:nvPr/>
        </p:nvSpPr>
        <p:spPr>
          <a:xfrm>
            <a:off x="546100" y="1066800"/>
            <a:ext cx="110997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S1 a S20 y dos calendarios. No es una empresa de ficción.</a:t>
            </a:r>
            <a:endParaRPr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239" name="Google Shape;239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2925" y="509587"/>
            <a:ext cx="2984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1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42925" y="6229350"/>
            <a:ext cx="1383650" cy="43517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41" name="Google Shape;241;p19"/>
          <p:cNvGraphicFramePr/>
          <p:nvPr/>
        </p:nvGraphicFramePr>
        <p:xfrm>
          <a:off x="546100" y="19050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{A4338FCB-8677-43D3-963D-C3D86BA02EA8}</a:tableStyleId>
              </a:tblPr>
              <a:tblGrid>
                <a:gridCol w="3699925"/>
                <a:gridCol w="3699925"/>
                <a:gridCol w="3699925"/>
              </a:tblGrid>
              <a:tr h="9207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>
                          <a:solidFill>
                            <a:srgbClr val="32C5F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Pieza</a:t>
                      </a:r>
                      <a:endParaRPr b="1" sz="1500">
                        <a:solidFill>
                          <a:srgbClr val="32C5F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>
                          <a:solidFill>
                            <a:srgbClr val="32C5F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Identidad</a:t>
                      </a:r>
                      <a:endParaRPr b="1" sz="1500">
                        <a:solidFill>
                          <a:srgbClr val="32C5F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>
                          <a:solidFill>
                            <a:srgbClr val="32C5F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Estado</a:t>
                      </a:r>
                      <a:endParaRPr b="1" sz="1500">
                        <a:solidFill>
                          <a:srgbClr val="32C5F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</a:tr>
              <a:tr h="9207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Preparación</a:t>
                      </a:r>
                      <a:endParaRPr sz="1500">
                        <a:solidFill>
                          <a:srgbClr val="F8FAFC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c3a59a406888b</a:t>
                      </a:r>
                      <a:endParaRPr sz="1500">
                        <a:solidFill>
                          <a:srgbClr val="F8FAFC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Congelada</a:t>
                      </a:r>
                      <a:endParaRPr sz="1500">
                        <a:solidFill>
                          <a:srgbClr val="F8FAFC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</a:tr>
              <a:tr h="9207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Contenido</a:t>
                      </a:r>
                      <a:endParaRPr sz="1500">
                        <a:solidFill>
                          <a:srgbClr val="F8FAFC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cc037ef0bb1f7</a:t>
                      </a:r>
                      <a:endParaRPr sz="1500">
                        <a:solidFill>
                          <a:srgbClr val="F8FAFC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Congelado</a:t>
                      </a:r>
                      <a:endParaRPr sz="1500">
                        <a:solidFill>
                          <a:srgbClr val="F8FAFC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</a:tr>
              <a:tr h="9207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Perfil demo</a:t>
                      </a:r>
                      <a:endParaRPr sz="1500">
                        <a:solidFill>
                          <a:srgbClr val="F8FAFC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p9e8e8e03627e</a:t>
                      </a:r>
                      <a:endParaRPr sz="1500">
                        <a:solidFill>
                          <a:srgbClr val="F8FAFC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Fixture, no remoto</a:t>
                      </a:r>
                      <a:endParaRPr sz="1500">
                        <a:solidFill>
                          <a:srgbClr val="F8FAFC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</a:tr>
            </a:tbl>
          </a:graphicData>
        </a:graphic>
      </p:graphicFrame>
      <p:sp>
        <p:nvSpPr>
          <p:cNvPr id="242" name="Google Shape;242;p19"/>
          <p:cNvSpPr txBox="1"/>
          <p:nvPr/>
        </p:nvSpPr>
        <p:spPr>
          <a:xfrm>
            <a:off x="546100" y="5715000"/>
            <a:ext cx="110997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Ocho ejercicios siguen solo con el título.</a:t>
            </a:r>
            <a:endParaRPr sz="135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3" name="Google Shape;243;p19"/>
          <p:cNvSpPr txBox="1"/>
          <p:nvPr/>
        </p:nvSpPr>
        <p:spPr>
          <a:xfrm>
            <a:off x="9601200" y="6324600"/>
            <a:ext cx="20319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S10 · AI Engineer   04/15</a:t>
            </a:r>
            <a:endParaRPr sz="10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48" name="Google Shape;248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9" name="Google Shape;249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2925" y="6218039"/>
            <a:ext cx="11106150" cy="323850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20"/>
          <p:cNvSpPr txBox="1"/>
          <p:nvPr/>
        </p:nvSpPr>
        <p:spPr>
          <a:xfrm>
            <a:off x="965200" y="431800"/>
            <a:ext cx="105411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Preparar no es preguntar</a:t>
            </a:r>
            <a:endParaRPr b="1" sz="2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1" name="Google Shape;251;p20"/>
          <p:cNvSpPr txBox="1"/>
          <p:nvPr/>
        </p:nvSpPr>
        <p:spPr>
          <a:xfrm>
            <a:off x="546100" y="1066800"/>
            <a:ext cx="110997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La preparación deja el corpus listo. La pregunta solo consulta.</a:t>
            </a:r>
            <a:endParaRPr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252" name="Google Shape;252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2925" y="509587"/>
            <a:ext cx="2603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2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42925" y="6229350"/>
            <a:ext cx="1383650" cy="43517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20"/>
          <p:cNvSpPr/>
          <p:nvPr/>
        </p:nvSpPr>
        <p:spPr>
          <a:xfrm>
            <a:off x="546100" y="1803400"/>
            <a:ext cx="5257800" cy="16002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32C5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20"/>
          <p:cNvSpPr/>
          <p:nvPr/>
        </p:nvSpPr>
        <p:spPr>
          <a:xfrm>
            <a:off x="546100" y="3708400"/>
            <a:ext cx="5257800" cy="16002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B06C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0"/>
          <p:cNvSpPr txBox="1"/>
          <p:nvPr/>
        </p:nvSpPr>
        <p:spPr>
          <a:xfrm>
            <a:off x="749300" y="1968500"/>
            <a:ext cx="48261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Preparación</a:t>
            </a:r>
            <a:endParaRPr b="1" sz="21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7" name="Google Shape;257;p20"/>
          <p:cNvSpPr txBox="1"/>
          <p:nvPr/>
        </p:nvSpPr>
        <p:spPr>
          <a:xfrm>
            <a:off x="749300" y="2501900"/>
            <a:ext cx="4826100" cy="73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Fragmentos, hash e identidad. No se repite en cada pregunta.</a:t>
            </a:r>
            <a:endParaRPr sz="16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8" name="Google Shape;258;p20"/>
          <p:cNvSpPr txBox="1"/>
          <p:nvPr/>
        </p:nvSpPr>
        <p:spPr>
          <a:xfrm>
            <a:off x="749300" y="3873500"/>
            <a:ext cx="48261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Consulta</a:t>
            </a:r>
            <a:endParaRPr b="1" sz="21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9" name="Google Shape;259;p20"/>
          <p:cNvSpPr txBox="1"/>
          <p:nvPr/>
        </p:nvSpPr>
        <p:spPr>
          <a:xfrm>
            <a:off x="749300" y="4406900"/>
            <a:ext cx="4826100" cy="73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Una búsqueda, filtro de audiencia y un umbral.</a:t>
            </a:r>
            <a:endParaRPr sz="16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60" name="Google Shape;260;p20"/>
          <p:cNvSpPr/>
          <p:nvPr/>
        </p:nvSpPr>
        <p:spPr>
          <a:xfrm>
            <a:off x="6286500" y="1473200"/>
            <a:ext cx="5359500" cy="4737000"/>
          </a:xfrm>
          <a:prstGeom prst="roundRect">
            <a:avLst>
              <a:gd fmla="val 16667" name="adj"/>
            </a:avLst>
          </a:prstGeom>
          <a:solidFill>
            <a:srgbClr val="080E1D"/>
          </a:solidFill>
          <a:ln cap="flat" cmpd="sng" w="15250">
            <a:solidFill>
              <a:srgbClr val="2845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20"/>
          <p:cNvSpPr txBox="1"/>
          <p:nvPr/>
        </p:nvSpPr>
        <p:spPr>
          <a:xfrm>
            <a:off x="6451600" y="1968500"/>
            <a:ext cx="4965600" cy="304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32C5F4"/>
                </a:solidFill>
                <a:latin typeface="Fira Code"/>
                <a:ea typeface="Fira Code"/>
                <a:cs typeface="Fira Code"/>
                <a:sym typeface="Fira Code"/>
              </a:rPr>
              <a:t>function chunkId(v, doc, n) {</a:t>
            </a:r>
            <a:endParaRPr sz="1350">
              <a:solidFill>
                <a:srgbClr val="32C5F4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32C5F4"/>
                </a:solidFill>
                <a:latin typeface="Fira Code"/>
                <a:ea typeface="Fira Code"/>
                <a:cs typeface="Fira Code"/>
                <a:sym typeface="Fira Code"/>
              </a:rPr>
              <a:t xml:space="preserve">  const o = String(n)</a:t>
            </a:r>
            <a:endParaRPr sz="1350">
              <a:solidFill>
                <a:srgbClr val="32C5F4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32C5F4"/>
                </a:solidFill>
                <a:latin typeface="Fira Code"/>
                <a:ea typeface="Fira Code"/>
                <a:cs typeface="Fira Code"/>
                <a:sym typeface="Fira Code"/>
              </a:rPr>
              <a:t xml:space="preserve">    .padStart(2, "0")</a:t>
            </a:r>
            <a:endParaRPr sz="1350">
              <a:solidFill>
                <a:srgbClr val="32C5F4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32C5F4"/>
                </a:solidFill>
                <a:latin typeface="Fira Code"/>
                <a:ea typeface="Fira Code"/>
                <a:cs typeface="Fira Code"/>
                <a:sym typeface="Fira Code"/>
              </a:rPr>
              <a:t xml:space="preserve">  return `${v}:${doc}:${o}`</a:t>
            </a:r>
            <a:endParaRPr sz="1350">
              <a:solidFill>
                <a:srgbClr val="32C5F4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32C5F4"/>
                </a:solidFill>
                <a:latin typeface="Fira Code"/>
                <a:ea typeface="Fira Code"/>
                <a:cs typeface="Fira Code"/>
                <a:sym typeface="Fira Code"/>
              </a:rPr>
              <a:t>}</a:t>
            </a:r>
            <a:endParaRPr sz="1350">
              <a:solidFill>
                <a:srgbClr val="32C5F4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32C5F4"/>
                </a:solidFill>
                <a:latin typeface="Fira Code"/>
                <a:ea typeface="Fira Code"/>
                <a:cs typeface="Fira Code"/>
                <a:sym typeface="Fira Code"/>
              </a:rPr>
              <a:t>// c3a59a406888b:</a:t>
            </a:r>
            <a:endParaRPr sz="1350">
              <a:solidFill>
                <a:srgbClr val="32C5F4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32C5F4"/>
                </a:solidFill>
                <a:latin typeface="Fira Code"/>
                <a:ea typeface="Fira Code"/>
                <a:cs typeface="Fira Code"/>
                <a:sym typeface="Fira Code"/>
              </a:rPr>
              <a:t>// s05-langgraph:00</a:t>
            </a:r>
            <a:endParaRPr sz="1350">
              <a:solidFill>
                <a:srgbClr val="32C5F4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32C5F4"/>
                </a:solidFill>
                <a:latin typeface="Fira Code"/>
                <a:ea typeface="Fira Code"/>
                <a:cs typeface="Fira Code"/>
                <a:sym typeface="Fira Code"/>
              </a:rPr>
              <a:t>// Python: un f-string</a:t>
            </a:r>
            <a:endParaRPr sz="1350">
              <a:solidFill>
                <a:srgbClr val="32C5F4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32C5F4"/>
                </a:solidFill>
                <a:latin typeface="Fira Code"/>
                <a:ea typeface="Fira Code"/>
                <a:cs typeface="Fira Code"/>
                <a:sym typeface="Fira Code"/>
              </a:rPr>
              <a:t>// packages/rag/src/chunk.ts</a:t>
            </a:r>
            <a:endParaRPr sz="1350">
              <a:solidFill>
                <a:srgbClr val="32C5F4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2" name="Google Shape;262;p20"/>
          <p:cNvSpPr txBox="1"/>
          <p:nvPr/>
        </p:nvSpPr>
        <p:spPr>
          <a:xfrm>
            <a:off x="546100" y="5676900"/>
            <a:ext cx="11099700" cy="3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El cuerpo no viaja dentro de corpus.json.</a:t>
            </a:r>
            <a:endParaRPr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63" name="Google Shape;263;p20"/>
          <p:cNvSpPr txBox="1"/>
          <p:nvPr/>
        </p:nvSpPr>
        <p:spPr>
          <a:xfrm>
            <a:off x="9601200" y="6324600"/>
            <a:ext cx="20319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S10 · AI Engineer   05/15</a:t>
            </a:r>
            <a:endParaRPr sz="10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68" name="Google Shape;268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9" name="Google Shape;269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2925" y="6067425"/>
            <a:ext cx="11106150" cy="323850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21"/>
          <p:cNvSpPr txBox="1"/>
          <p:nvPr/>
        </p:nvSpPr>
        <p:spPr>
          <a:xfrm>
            <a:off x="965200" y="431800"/>
            <a:ext cx="105411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Actualizar con control</a:t>
            </a:r>
            <a:endParaRPr b="1" sz="2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71" name="Google Shape;271;p21"/>
          <p:cNvSpPr txBox="1"/>
          <p:nvPr/>
        </p:nvSpPr>
        <p:spPr>
          <a:xfrm>
            <a:off x="546100" y="1066800"/>
            <a:ext cx="110997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Un texto sintético no puede manchar el temario.</a:t>
            </a:r>
            <a:endParaRPr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272" name="Google Shape;272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2925" y="509587"/>
            <a:ext cx="2603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3" name="Google Shape;273;p2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42925" y="6229350"/>
            <a:ext cx="1383650" cy="435175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21"/>
          <p:cNvSpPr/>
          <p:nvPr/>
        </p:nvSpPr>
        <p:spPr>
          <a:xfrm>
            <a:off x="546100" y="2641600"/>
            <a:ext cx="2508300" cy="14223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32C5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1"/>
          <p:cNvSpPr txBox="1"/>
          <p:nvPr/>
        </p:nvSpPr>
        <p:spPr>
          <a:xfrm>
            <a:off x="698500" y="2768600"/>
            <a:ext cx="22035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32C5F4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b="1" sz="2200">
              <a:solidFill>
                <a:srgbClr val="32C5F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76" name="Google Shape;276;p21"/>
          <p:cNvSpPr txBox="1"/>
          <p:nvPr/>
        </p:nvSpPr>
        <p:spPr>
          <a:xfrm>
            <a:off x="698500" y="3251200"/>
            <a:ext cx="2203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Aislar</a:t>
            </a:r>
            <a:endParaRPr b="1" sz="17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277" name="Google Shape;277;p21"/>
          <p:cNvCxnSpPr/>
          <p:nvPr/>
        </p:nvCxnSpPr>
        <p:spPr>
          <a:xfrm>
            <a:off x="3092450" y="3352800"/>
            <a:ext cx="266700" cy="0"/>
          </a:xfrm>
          <a:prstGeom prst="straightConnector1">
            <a:avLst/>
          </a:prstGeom>
          <a:noFill/>
          <a:ln cap="flat" cmpd="sng" w="19050">
            <a:solidFill>
              <a:srgbClr val="32C5F4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78" name="Google Shape;278;p21"/>
          <p:cNvSpPr/>
          <p:nvPr/>
        </p:nvSpPr>
        <p:spPr>
          <a:xfrm>
            <a:off x="3409950" y="2641600"/>
            <a:ext cx="2508300" cy="14223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598C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1"/>
          <p:cNvSpPr txBox="1"/>
          <p:nvPr/>
        </p:nvSpPr>
        <p:spPr>
          <a:xfrm>
            <a:off x="3562350" y="2768600"/>
            <a:ext cx="22035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598CFF"/>
                </a:solidFill>
                <a:latin typeface="Inter"/>
                <a:ea typeface="Inter"/>
                <a:cs typeface="Inter"/>
                <a:sym typeface="Inter"/>
              </a:rPr>
              <a:t>2</a:t>
            </a:r>
            <a:endParaRPr b="1" sz="2200">
              <a:solidFill>
                <a:srgbClr val="598C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80" name="Google Shape;280;p21"/>
          <p:cNvSpPr txBox="1"/>
          <p:nvPr/>
        </p:nvSpPr>
        <p:spPr>
          <a:xfrm>
            <a:off x="3562350" y="3251200"/>
            <a:ext cx="2203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Etiquetar</a:t>
            </a:r>
            <a:endParaRPr b="1" sz="17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281" name="Google Shape;281;p21"/>
          <p:cNvCxnSpPr/>
          <p:nvPr/>
        </p:nvCxnSpPr>
        <p:spPr>
          <a:xfrm>
            <a:off x="5956300" y="3352800"/>
            <a:ext cx="266700" cy="0"/>
          </a:xfrm>
          <a:prstGeom prst="straightConnector1">
            <a:avLst/>
          </a:prstGeom>
          <a:noFill/>
          <a:ln cap="flat" cmpd="sng" w="19050">
            <a:solidFill>
              <a:srgbClr val="598C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82" name="Google Shape;282;p21"/>
          <p:cNvSpPr/>
          <p:nvPr/>
        </p:nvSpPr>
        <p:spPr>
          <a:xfrm>
            <a:off x="6273800" y="2641600"/>
            <a:ext cx="2508300" cy="14223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B06C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1"/>
          <p:cNvSpPr txBox="1"/>
          <p:nvPr/>
        </p:nvSpPr>
        <p:spPr>
          <a:xfrm>
            <a:off x="6426200" y="2768600"/>
            <a:ext cx="22035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B06CFF"/>
                </a:solidFill>
                <a:latin typeface="Inter"/>
                <a:ea typeface="Inter"/>
                <a:cs typeface="Inter"/>
                <a:sym typeface="Inter"/>
              </a:rPr>
              <a:t>3</a:t>
            </a:r>
            <a:endParaRPr b="1" sz="2200">
              <a:solidFill>
                <a:srgbClr val="B06C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84" name="Google Shape;284;p21"/>
          <p:cNvSpPr txBox="1"/>
          <p:nvPr/>
        </p:nvSpPr>
        <p:spPr>
          <a:xfrm>
            <a:off x="6426200" y="3251200"/>
            <a:ext cx="2203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Reindexar</a:t>
            </a:r>
            <a:endParaRPr b="1" sz="17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85" name="Google Shape;285;p21"/>
          <p:cNvSpPr/>
          <p:nvPr/>
        </p:nvSpPr>
        <p:spPr>
          <a:xfrm>
            <a:off x="9137650" y="2641600"/>
            <a:ext cx="2508300" cy="14223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EE66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21"/>
          <p:cNvSpPr txBox="1"/>
          <p:nvPr/>
        </p:nvSpPr>
        <p:spPr>
          <a:xfrm>
            <a:off x="9290050" y="2768600"/>
            <a:ext cx="22035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EE66B8"/>
                </a:solidFill>
                <a:latin typeface="Inter"/>
                <a:ea typeface="Inter"/>
                <a:cs typeface="Inter"/>
                <a:sym typeface="Inter"/>
              </a:rPr>
              <a:t>4</a:t>
            </a:r>
            <a:endParaRPr b="1" sz="2200">
              <a:solidFill>
                <a:srgbClr val="EE66B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87" name="Google Shape;287;p21"/>
          <p:cNvSpPr txBox="1"/>
          <p:nvPr/>
        </p:nvSpPr>
        <p:spPr>
          <a:xfrm>
            <a:off x="9290050" y="3251200"/>
            <a:ext cx="2203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Comparar</a:t>
            </a:r>
            <a:endParaRPr b="1" sz="17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88" name="Google Shape;288;p21"/>
          <p:cNvSpPr txBox="1"/>
          <p:nvPr/>
        </p:nvSpPr>
        <p:spPr>
          <a:xfrm>
            <a:off x="546100" y="4559300"/>
            <a:ext cx="11099700" cy="73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La evaluación reservada no forma parte de la demo.</a:t>
            </a:r>
            <a:endParaRPr sz="18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89" name="Google Shape;289;p21"/>
          <p:cNvSpPr txBox="1"/>
          <p:nvPr/>
        </p:nvSpPr>
        <p:spPr>
          <a:xfrm>
            <a:off x="546100" y="5473700"/>
            <a:ext cx="110997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32C5F4"/>
                </a:solidFill>
                <a:latin typeface="Fira Code"/>
                <a:ea typeface="Fira Code"/>
                <a:cs typeface="Fira Code"/>
                <a:sym typeface="Fira Code"/>
              </a:rPr>
              <a:t>fixtures/fragmento-sintetico.json</a:t>
            </a:r>
            <a:endParaRPr>
              <a:solidFill>
                <a:srgbClr val="32C5F4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90" name="Google Shape;290;p21"/>
          <p:cNvSpPr txBox="1"/>
          <p:nvPr/>
        </p:nvSpPr>
        <p:spPr>
          <a:xfrm>
            <a:off x="9601200" y="6324600"/>
            <a:ext cx="20319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S10 · AI Engineer   11/15</a:t>
            </a:r>
            <a:endParaRPr sz="10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291" name="Google Shape;291;p21"/>
          <p:cNvCxnSpPr/>
          <p:nvPr/>
        </p:nvCxnSpPr>
        <p:spPr>
          <a:xfrm>
            <a:off x="7527925" y="4064000"/>
            <a:ext cx="0" cy="292200"/>
          </a:xfrm>
          <a:prstGeom prst="straightConnector1">
            <a:avLst/>
          </a:prstGeom>
          <a:noFill/>
          <a:ln cap="flat" cmpd="sng" w="20325">
            <a:solidFill>
              <a:srgbClr val="32C5F4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21"/>
          <p:cNvCxnSpPr/>
          <p:nvPr/>
        </p:nvCxnSpPr>
        <p:spPr>
          <a:xfrm rot="10800000">
            <a:off x="4664125" y="4356100"/>
            <a:ext cx="2863800" cy="0"/>
          </a:xfrm>
          <a:prstGeom prst="straightConnector1">
            <a:avLst/>
          </a:prstGeom>
          <a:noFill/>
          <a:ln cap="flat" cmpd="sng" w="20325">
            <a:solidFill>
              <a:srgbClr val="32C5F4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21"/>
          <p:cNvCxnSpPr/>
          <p:nvPr/>
        </p:nvCxnSpPr>
        <p:spPr>
          <a:xfrm rot="10800000">
            <a:off x="4664075" y="4063900"/>
            <a:ext cx="0" cy="292200"/>
          </a:xfrm>
          <a:prstGeom prst="straightConnector1">
            <a:avLst/>
          </a:prstGeom>
          <a:noFill/>
          <a:ln cap="flat" cmpd="sng" w="20325">
            <a:solidFill>
              <a:srgbClr val="32C5F4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94" name="Google Shape;294;p21"/>
          <p:cNvCxnSpPr/>
          <p:nvPr/>
        </p:nvCxnSpPr>
        <p:spPr>
          <a:xfrm rot="10800000">
            <a:off x="4664075" y="2120800"/>
            <a:ext cx="0" cy="520800"/>
          </a:xfrm>
          <a:prstGeom prst="straightConnector1">
            <a:avLst/>
          </a:prstGeom>
          <a:noFill/>
          <a:ln cap="flat" cmpd="sng" w="20325">
            <a:solidFill>
              <a:srgbClr val="EE66B8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21"/>
          <p:cNvCxnSpPr/>
          <p:nvPr/>
        </p:nvCxnSpPr>
        <p:spPr>
          <a:xfrm>
            <a:off x="4664075" y="2120900"/>
            <a:ext cx="5727600" cy="0"/>
          </a:xfrm>
          <a:prstGeom prst="straightConnector1">
            <a:avLst/>
          </a:prstGeom>
          <a:noFill/>
          <a:ln cap="flat" cmpd="sng" w="20325">
            <a:solidFill>
              <a:srgbClr val="EE66B8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96" name="Google Shape;296;p21"/>
          <p:cNvCxnSpPr/>
          <p:nvPr/>
        </p:nvCxnSpPr>
        <p:spPr>
          <a:xfrm>
            <a:off x="10391775" y="2120900"/>
            <a:ext cx="0" cy="520800"/>
          </a:xfrm>
          <a:prstGeom prst="straightConnector1">
            <a:avLst/>
          </a:prstGeom>
          <a:noFill/>
          <a:ln cap="flat" cmpd="sng" w="20325">
            <a:solidFill>
              <a:srgbClr val="EE66B8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97" name="Google Shape;297;p21"/>
          <p:cNvSpPr txBox="1"/>
          <p:nvPr/>
        </p:nvSpPr>
        <p:spPr>
          <a:xfrm>
            <a:off x="5499100" y="1727200"/>
            <a:ext cx="4064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No entra en el corpus real</a:t>
            </a:r>
            <a:endParaRPr sz="12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98" name="Google Shape;298;p21"/>
          <p:cNvSpPr txBox="1"/>
          <p:nvPr/>
        </p:nvSpPr>
        <p:spPr>
          <a:xfrm>
            <a:off x="5041900" y="4038600"/>
            <a:ext cx="21210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Queda marcado como sintético</a:t>
            </a:r>
            <a:endParaRPr sz="12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03" name="Google Shape;303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4" name="Google Shape;304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2925" y="6067425"/>
            <a:ext cx="11106150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5" name="Google Shape;305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2925" y="2484252"/>
            <a:ext cx="3498800" cy="3020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6" name="Google Shape;306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6525" y="2484252"/>
            <a:ext cx="3498800" cy="3020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7" name="Google Shape;307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50125" y="2484252"/>
            <a:ext cx="3498950" cy="302035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22"/>
          <p:cNvSpPr txBox="1"/>
          <p:nvPr/>
        </p:nvSpPr>
        <p:spPr>
          <a:xfrm>
            <a:off x="965200" y="431800"/>
            <a:ext cx="105411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Si no consta, se dice</a:t>
            </a:r>
            <a:endParaRPr b="1" sz="2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09" name="Google Shape;309;p22"/>
          <p:cNvSpPr txBox="1"/>
          <p:nvPr/>
        </p:nvSpPr>
        <p:spPr>
          <a:xfrm>
            <a:off x="546100" y="1066800"/>
            <a:ext cx="110997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Falta de evidencia, cohorte o rechazo. No se inventa.</a:t>
            </a:r>
            <a:endParaRPr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310" name="Google Shape;310;p2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42925" y="509587"/>
            <a:ext cx="3365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1" name="Google Shape;311;p2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38200" y="2779514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22"/>
          <p:cNvSpPr txBox="1"/>
          <p:nvPr/>
        </p:nvSpPr>
        <p:spPr>
          <a:xfrm>
            <a:off x="838200" y="3276600"/>
            <a:ext cx="2971800" cy="5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Aclarar</a:t>
            </a:r>
            <a:endParaRPr b="1" sz="1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13" name="Google Shape;313;p22"/>
          <p:cNvSpPr txBox="1"/>
          <p:nvPr/>
        </p:nvSpPr>
        <p:spPr>
          <a:xfrm>
            <a:off x="838200" y="3949700"/>
            <a:ext cx="2971800" cy="149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Sin cohorte, una fecha no se responde.</a:t>
            </a:r>
            <a:endParaRPr sz="155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314" name="Google Shape;314;p2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641800" y="2779514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22"/>
          <p:cNvSpPr txBox="1"/>
          <p:nvPr/>
        </p:nvSpPr>
        <p:spPr>
          <a:xfrm>
            <a:off x="4635500" y="3276600"/>
            <a:ext cx="2971800" cy="5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Rechazar</a:t>
            </a:r>
            <a:endParaRPr b="1" sz="1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16" name="Google Shape;316;p22"/>
          <p:cNvSpPr txBox="1"/>
          <p:nvPr/>
        </p:nvSpPr>
        <p:spPr>
          <a:xfrm>
            <a:off x="4635500" y="3949700"/>
            <a:ext cx="2971800" cy="149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Sin contexto útil no hay llamada al modelo.</a:t>
            </a:r>
            <a:endParaRPr sz="155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317" name="Google Shape;317;p2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445400" y="2779514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22"/>
          <p:cNvSpPr txBox="1"/>
          <p:nvPr/>
        </p:nvSpPr>
        <p:spPr>
          <a:xfrm>
            <a:off x="8445500" y="3276600"/>
            <a:ext cx="2971800" cy="5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Cohortes</a:t>
            </a:r>
            <a:endParaRPr b="1" sz="1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19" name="Google Shape;319;p22"/>
          <p:cNvSpPr txBox="1"/>
          <p:nvPr/>
        </p:nvSpPr>
        <p:spPr>
          <a:xfrm>
            <a:off x="8445500" y="3949700"/>
            <a:ext cx="2971800" cy="149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M/J y L/X no comparten la fecha de S10.</a:t>
            </a:r>
            <a:endParaRPr sz="155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320" name="Google Shape;320;p2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66787" y="2893814"/>
            <a:ext cx="2000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21" name="Google Shape;321;p22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756100" y="2893814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22" name="Google Shape;322;p22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8559700" y="2893814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3" name="Google Shape;323;p22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542925" y="6229350"/>
            <a:ext cx="1383650" cy="435175"/>
          </a:xfrm>
          <a:prstGeom prst="rect">
            <a:avLst/>
          </a:prstGeom>
          <a:noFill/>
          <a:ln>
            <a:noFill/>
          </a:ln>
        </p:spPr>
      </p:pic>
      <p:sp>
        <p:nvSpPr>
          <p:cNvPr id="324" name="Google Shape;324;p22"/>
          <p:cNvSpPr txBox="1"/>
          <p:nvPr/>
        </p:nvSpPr>
        <p:spPr>
          <a:xfrm>
            <a:off x="9601200" y="6324600"/>
            <a:ext cx="20319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S10 · AI Engineer   10/15</a:t>
            </a:r>
            <a:endParaRPr sz="10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29" name="Google Shape;329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0" name="Google Shape;330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2925" y="6067425"/>
            <a:ext cx="11106150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1" name="Google Shape;331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86500" y="1809750"/>
            <a:ext cx="5362575" cy="3924300"/>
          </a:xfrm>
          <a:prstGeom prst="rect">
            <a:avLst/>
          </a:prstGeom>
          <a:noFill/>
          <a:ln>
            <a:noFill/>
          </a:ln>
        </p:spPr>
      </p:pic>
      <p:sp>
        <p:nvSpPr>
          <p:cNvPr id="332" name="Google Shape;332;p23"/>
          <p:cNvSpPr txBox="1"/>
          <p:nvPr/>
        </p:nvSpPr>
        <p:spPr>
          <a:xfrm>
            <a:off x="965200" y="431800"/>
            <a:ext cx="105411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Mirar la recuperación antes</a:t>
            </a:r>
            <a:endParaRPr b="1" sz="2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33" name="Google Shape;333;p23"/>
          <p:cNvSpPr txBox="1"/>
          <p:nvPr/>
        </p:nvSpPr>
        <p:spPr>
          <a:xfrm>
            <a:off x="546100" y="1066800"/>
            <a:ext cx="110997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La traza enseña consulta, puntuación y decisión.</a:t>
            </a:r>
            <a:endParaRPr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334" name="Google Shape;334;p2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42925" y="509587"/>
            <a:ext cx="2603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2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42925" y="6229350"/>
            <a:ext cx="1383650" cy="435175"/>
          </a:xfrm>
          <a:prstGeom prst="rect">
            <a:avLst/>
          </a:prstGeom>
          <a:noFill/>
          <a:ln>
            <a:noFill/>
          </a:ln>
        </p:spPr>
      </p:pic>
      <p:sp>
        <p:nvSpPr>
          <p:cNvPr id="336" name="Google Shape;336;p23"/>
          <p:cNvSpPr/>
          <p:nvPr/>
        </p:nvSpPr>
        <p:spPr>
          <a:xfrm>
            <a:off x="6858000" y="2159000"/>
            <a:ext cx="4127400" cy="5589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32C5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37" name="Google Shape;337;p23"/>
          <p:cNvCxnSpPr/>
          <p:nvPr/>
        </p:nvCxnSpPr>
        <p:spPr>
          <a:xfrm>
            <a:off x="8921750" y="2743200"/>
            <a:ext cx="0" cy="152400"/>
          </a:xfrm>
          <a:prstGeom prst="straightConnector1">
            <a:avLst/>
          </a:prstGeom>
          <a:noFill/>
          <a:ln cap="flat" cmpd="sng" w="19050">
            <a:solidFill>
              <a:srgbClr val="32C5F4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38" name="Google Shape;338;p23"/>
          <p:cNvSpPr/>
          <p:nvPr/>
        </p:nvSpPr>
        <p:spPr>
          <a:xfrm>
            <a:off x="6858000" y="2946400"/>
            <a:ext cx="4127400" cy="5589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598C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39" name="Google Shape;339;p23"/>
          <p:cNvCxnSpPr/>
          <p:nvPr/>
        </p:nvCxnSpPr>
        <p:spPr>
          <a:xfrm>
            <a:off x="8921750" y="3530600"/>
            <a:ext cx="0" cy="152400"/>
          </a:xfrm>
          <a:prstGeom prst="straightConnector1">
            <a:avLst/>
          </a:prstGeom>
          <a:noFill/>
          <a:ln cap="flat" cmpd="sng" w="19050">
            <a:solidFill>
              <a:srgbClr val="598C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40" name="Google Shape;340;p23"/>
          <p:cNvSpPr/>
          <p:nvPr/>
        </p:nvSpPr>
        <p:spPr>
          <a:xfrm>
            <a:off x="6858000" y="3733800"/>
            <a:ext cx="4127400" cy="5589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B06C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23"/>
          <p:cNvSpPr/>
          <p:nvPr/>
        </p:nvSpPr>
        <p:spPr>
          <a:xfrm>
            <a:off x="546100" y="2844800"/>
            <a:ext cx="5359500" cy="1866900"/>
          </a:xfrm>
          <a:prstGeom prst="roundRect">
            <a:avLst>
              <a:gd fmla="val 16667" name="adj"/>
            </a:avLst>
          </a:prstGeom>
          <a:solidFill>
            <a:srgbClr val="080E1D"/>
          </a:solidFill>
          <a:ln cap="flat" cmpd="sng" w="15250">
            <a:solidFill>
              <a:srgbClr val="2845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23"/>
          <p:cNvSpPr txBox="1"/>
          <p:nvPr/>
        </p:nvSpPr>
        <p:spPr>
          <a:xfrm>
            <a:off x="660400" y="2971800"/>
            <a:ext cx="5079900" cy="161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32C5F4"/>
                </a:solidFill>
                <a:latin typeface="Fira Code"/>
                <a:ea typeface="Fira Code"/>
                <a:cs typeface="Fira Code"/>
                <a:sym typeface="Fira Code"/>
              </a:rPr>
              <a:t>bun run dev</a:t>
            </a:r>
            <a:endParaRPr sz="1350">
              <a:solidFill>
                <a:srgbClr val="32C5F4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32C5F4"/>
                </a:solidFill>
                <a:latin typeface="Fira Code"/>
                <a:ea typeface="Fira Code"/>
                <a:cs typeface="Fira Code"/>
                <a:sym typeface="Fira Code"/>
              </a:rPr>
              <a:t>http://localhost:5173/</a:t>
            </a:r>
            <a:endParaRPr sz="1350">
              <a:solidFill>
                <a:srgbClr val="32C5F4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3" name="Google Shape;343;p23"/>
          <p:cNvSpPr txBox="1"/>
          <p:nvPr/>
        </p:nvSpPr>
        <p:spPr>
          <a:xfrm>
            <a:off x="7010400" y="2273300"/>
            <a:ext cx="38226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Consulta</a:t>
            </a:r>
            <a:endParaRPr b="1" sz="1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4" name="Google Shape;344;p23"/>
          <p:cNvSpPr txBox="1"/>
          <p:nvPr/>
        </p:nvSpPr>
        <p:spPr>
          <a:xfrm>
            <a:off x="7010400" y="3060700"/>
            <a:ext cx="38226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Puntuación</a:t>
            </a:r>
            <a:endParaRPr b="1" sz="1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5" name="Google Shape;345;p23"/>
          <p:cNvSpPr txBox="1"/>
          <p:nvPr/>
        </p:nvSpPr>
        <p:spPr>
          <a:xfrm>
            <a:off x="7010400" y="3848100"/>
            <a:ext cx="38226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Decisión</a:t>
            </a:r>
            <a:endParaRPr b="1" sz="1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6" name="Google Shape;346;p23"/>
          <p:cNvSpPr txBox="1"/>
          <p:nvPr/>
        </p:nvSpPr>
        <p:spPr>
          <a:xfrm>
            <a:off x="546100" y="5257800"/>
            <a:ext cx="110997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Generar solo si hay contexto utilizable.</a:t>
            </a:r>
            <a:endParaRPr sz="15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7" name="Google Shape;347;p23"/>
          <p:cNvSpPr txBox="1"/>
          <p:nvPr/>
        </p:nvSpPr>
        <p:spPr>
          <a:xfrm>
            <a:off x="9601200" y="6324600"/>
            <a:ext cx="20319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S10 · AI Engineer   08/15</a:t>
            </a:r>
            <a:endParaRPr sz="10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52" name="Google Shape;352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53" name="Google Shape;353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2925" y="6067425"/>
            <a:ext cx="11106150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54" name="Google Shape;354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2925" y="2484252"/>
            <a:ext cx="3498800" cy="3020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55" name="Google Shape;355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6525" y="2484252"/>
            <a:ext cx="3498800" cy="3020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56" name="Google Shape;356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50125" y="2484252"/>
            <a:ext cx="3498950" cy="3020350"/>
          </a:xfrm>
          <a:prstGeom prst="rect">
            <a:avLst/>
          </a:prstGeom>
          <a:noFill/>
          <a:ln>
            <a:noFill/>
          </a:ln>
        </p:spPr>
      </p:pic>
      <p:sp>
        <p:nvSpPr>
          <p:cNvPr id="357" name="Google Shape;357;p24"/>
          <p:cNvSpPr txBox="1"/>
          <p:nvPr/>
        </p:nvSpPr>
        <p:spPr>
          <a:xfrm>
            <a:off x="965200" y="431800"/>
            <a:ext cx="105411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Ejercicio y el paso a CRAG</a:t>
            </a:r>
            <a:endParaRPr b="1" sz="2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58" name="Google Shape;358;p24"/>
          <p:cNvSpPr txBox="1"/>
          <p:nvPr/>
        </p:nvSpPr>
        <p:spPr>
          <a:xfrm>
            <a:off x="546100" y="1066800"/>
            <a:ext cx="110997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La práctica local no exige pagar un alojamiento.</a:t>
            </a:r>
            <a:endParaRPr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359" name="Google Shape;359;p2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42925" y="509587"/>
            <a:ext cx="3365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0" name="Google Shape;360;p2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38200" y="2779514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61" name="Google Shape;361;p24"/>
          <p:cNvSpPr txBox="1"/>
          <p:nvPr/>
        </p:nvSpPr>
        <p:spPr>
          <a:xfrm>
            <a:off x="838200" y="3276600"/>
            <a:ext cx="2971800" cy="5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Qué entregar</a:t>
            </a:r>
            <a:endParaRPr b="1" sz="1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2" name="Google Shape;362;p24"/>
          <p:cNvSpPr txBox="1"/>
          <p:nvPr/>
        </p:nvSpPr>
        <p:spPr>
          <a:xfrm>
            <a:off x="838200" y="3949700"/>
            <a:ext cx="2971800" cy="149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Corpus, una búsqueda, cita y rechazo.</a:t>
            </a:r>
            <a:endParaRPr sz="155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363" name="Google Shape;363;p2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641800" y="2779514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64" name="Google Shape;364;p24"/>
          <p:cNvSpPr txBox="1"/>
          <p:nvPr/>
        </p:nvSpPr>
        <p:spPr>
          <a:xfrm>
            <a:off x="4635500" y="3276600"/>
            <a:ext cx="2971800" cy="5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Qué no pedir</a:t>
            </a:r>
            <a:endParaRPr b="1" sz="1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5" name="Google Shape;365;p24"/>
          <p:cNvSpPr txBox="1"/>
          <p:nvPr/>
        </p:nvSpPr>
        <p:spPr>
          <a:xfrm>
            <a:off x="4635500" y="3949700"/>
            <a:ext cx="2971800" cy="149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Ni despliegue ni una cuenta de pago.</a:t>
            </a:r>
            <a:endParaRPr sz="155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366" name="Google Shape;366;p2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445400" y="2779514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67" name="Google Shape;367;p24"/>
          <p:cNvSpPr txBox="1"/>
          <p:nvPr/>
        </p:nvSpPr>
        <p:spPr>
          <a:xfrm>
            <a:off x="8445500" y="3276600"/>
            <a:ext cx="2971800" cy="5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Después</a:t>
            </a:r>
            <a:endParaRPr b="1" sz="1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8" name="Google Shape;368;p24"/>
          <p:cNvSpPr txBox="1"/>
          <p:nvPr/>
        </p:nvSpPr>
        <p:spPr>
          <a:xfrm>
            <a:off x="8445500" y="3949700"/>
            <a:ext cx="2971800" cy="149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El 27 de octubre el mismo asistente pasa a CRAG.</a:t>
            </a:r>
            <a:endParaRPr sz="155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369" name="Google Shape;369;p2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66787" y="2893814"/>
            <a:ext cx="2000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70" name="Google Shape;370;p2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756100" y="2893814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71" name="Google Shape;371;p24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8559700" y="2893814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2" name="Google Shape;372;p24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542925" y="6229350"/>
            <a:ext cx="1383650" cy="435175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24"/>
          <p:cNvSpPr txBox="1"/>
          <p:nvPr/>
        </p:nvSpPr>
        <p:spPr>
          <a:xfrm>
            <a:off x="546100" y="5613400"/>
            <a:ext cx="11099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Orientativo del encargo original: 4 a 6 horas.</a:t>
            </a:r>
            <a:endParaRPr sz="135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74" name="Google Shape;374;p24"/>
          <p:cNvSpPr txBox="1"/>
          <p:nvPr/>
        </p:nvSpPr>
        <p:spPr>
          <a:xfrm>
            <a:off x="9601200" y="6324600"/>
            <a:ext cx="20319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S10 · AI Engineer   12/15</a:t>
            </a:r>
            <a:endParaRPr sz="10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79" name="Google Shape;379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80" name="Google Shape;380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2925" y="6067425"/>
            <a:ext cx="11106150" cy="323850"/>
          </a:xfrm>
          <a:prstGeom prst="rect">
            <a:avLst/>
          </a:prstGeom>
          <a:noFill/>
          <a:ln>
            <a:noFill/>
          </a:ln>
        </p:spPr>
      </p:pic>
      <p:sp>
        <p:nvSpPr>
          <p:cNvPr id="381" name="Google Shape;381;p25"/>
          <p:cNvSpPr txBox="1"/>
          <p:nvPr/>
        </p:nvSpPr>
        <p:spPr>
          <a:xfrm>
            <a:off x="965200" y="431800"/>
            <a:ext cx="105411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Consulta · Demo y perfil real</a:t>
            </a:r>
            <a:endParaRPr b="1" sz="2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2" name="Google Shape;382;p25"/>
          <p:cNvSpPr txBox="1"/>
          <p:nvPr/>
        </p:nvSpPr>
        <p:spPr>
          <a:xfrm>
            <a:off x="546100" y="1066800"/>
            <a:ext cx="110997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La demo de hoy está verificada en local. Lo remoto sigue pendiente.</a:t>
            </a:r>
            <a:endParaRPr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383" name="Google Shape;383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2925" y="509587"/>
            <a:ext cx="2984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4" name="Google Shape;384;p2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42925" y="6229350"/>
            <a:ext cx="1383650" cy="43517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85" name="Google Shape;385;p25"/>
          <p:cNvGraphicFramePr/>
          <p:nvPr/>
        </p:nvGraphicFramePr>
        <p:xfrm>
          <a:off x="546100" y="19050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{A4338FCB-8677-43D3-963D-C3D86BA02EA8}</a:tableStyleId>
              </a:tblPr>
              <a:tblGrid>
                <a:gridCol w="3699925"/>
                <a:gridCol w="3699925"/>
                <a:gridCol w="3699925"/>
              </a:tblGrid>
              <a:tr h="9207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>
                          <a:solidFill>
                            <a:srgbClr val="32C5F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Pieza</a:t>
                      </a:r>
                      <a:endParaRPr b="1" sz="1500">
                        <a:solidFill>
                          <a:srgbClr val="32C5F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>
                          <a:solidFill>
                            <a:srgbClr val="32C5F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Demo de clase</a:t>
                      </a:r>
                      <a:endParaRPr b="1" sz="1500">
                        <a:solidFill>
                          <a:srgbClr val="32C5F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>
                          <a:solidFill>
                            <a:srgbClr val="32C5F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Perfil real</a:t>
                      </a:r>
                      <a:endParaRPr b="1" sz="1500">
                        <a:solidFill>
                          <a:srgbClr val="32C5F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</a:tr>
              <a:tr h="9207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Índice</a:t>
                      </a:r>
                      <a:endParaRPr sz="1500">
                        <a:solidFill>
                          <a:srgbClr val="F8FAFC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Hash lexical, 128 d</a:t>
                      </a:r>
                      <a:endParaRPr sz="1500">
                        <a:solidFill>
                          <a:srgbClr val="F8FAFC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Vectorize, dimensión pendiente</a:t>
                      </a:r>
                      <a:endParaRPr sz="1500">
                        <a:solidFill>
                          <a:srgbClr val="F8FAFC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</a:tr>
              <a:tr h="9207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Generación</a:t>
                      </a:r>
                      <a:endParaRPr sz="1500">
                        <a:solidFill>
                          <a:srgbClr val="F8FAFC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Stream sin modelo</a:t>
                      </a:r>
                      <a:endParaRPr sz="1500">
                        <a:solidFill>
                          <a:srgbClr val="F8FAFC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OpenRouter, modelo pendiente</a:t>
                      </a:r>
                      <a:endParaRPr sz="1500">
                        <a:solidFill>
                          <a:srgbClr val="F8FAFC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</a:tr>
              <a:tr h="9207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Umbral</a:t>
                      </a:r>
                      <a:endParaRPr sz="1500">
                        <a:solidFill>
                          <a:srgbClr val="F8FAFC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0,33 solo de esta demo</a:t>
                      </a:r>
                      <a:endParaRPr sz="1500">
                        <a:solidFill>
                          <a:srgbClr val="F8FAFC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Calibrado; no copiar 0,33</a:t>
                      </a:r>
                      <a:endParaRPr sz="1500">
                        <a:solidFill>
                          <a:srgbClr val="F8FAFC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</a:tr>
            </a:tbl>
          </a:graphicData>
        </a:graphic>
      </p:graphicFrame>
      <p:sp>
        <p:nvSpPr>
          <p:cNvPr id="386" name="Google Shape;386;p25"/>
          <p:cNvSpPr txBox="1"/>
          <p:nvPr/>
        </p:nvSpPr>
        <p:spPr>
          <a:xfrm>
            <a:off x="546100" y="5715000"/>
            <a:ext cx="110997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Un tope de gasto no demuestra solo el camino real.</a:t>
            </a:r>
            <a:endParaRPr sz="135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7" name="Google Shape;387;p25"/>
          <p:cNvSpPr txBox="1"/>
          <p:nvPr/>
        </p:nvSpPr>
        <p:spPr>
          <a:xfrm>
            <a:off x="9601200" y="6324600"/>
            <a:ext cx="20319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S10 · AI Engineer   13/15</a:t>
            </a:r>
            <a:endParaRPr sz="10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92" name="Google Shape;392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93" name="Google Shape;393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2925" y="6067425"/>
            <a:ext cx="11106150" cy="323850"/>
          </a:xfrm>
          <a:prstGeom prst="rect">
            <a:avLst/>
          </a:prstGeom>
          <a:noFill/>
          <a:ln>
            <a:noFill/>
          </a:ln>
        </p:spPr>
      </p:pic>
      <p:sp>
        <p:nvSpPr>
          <p:cNvPr id="394" name="Google Shape;394;p26"/>
          <p:cNvSpPr txBox="1"/>
          <p:nvPr/>
        </p:nvSpPr>
        <p:spPr>
          <a:xfrm>
            <a:off x="965200" y="431800"/>
            <a:ext cx="105411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Consulta · Si algo falla</a:t>
            </a:r>
            <a:endParaRPr b="1" sz="2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95" name="Google Shape;395;p26"/>
          <p:cNvSpPr txBox="1"/>
          <p:nvPr/>
        </p:nvSpPr>
        <p:spPr>
          <a:xfrm>
            <a:off x="546100" y="1066800"/>
            <a:ext cx="110997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La clase sigue con capturas del 3 de octubre, modo demo.</a:t>
            </a:r>
            <a:endParaRPr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396" name="Google Shape;396;p2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2925" y="509587"/>
            <a:ext cx="2603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7" name="Google Shape;397;p2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42925" y="6229350"/>
            <a:ext cx="1383650" cy="435175"/>
          </a:xfrm>
          <a:prstGeom prst="rect">
            <a:avLst/>
          </a:prstGeom>
          <a:noFill/>
          <a:ln>
            <a:noFill/>
          </a:ln>
        </p:spPr>
      </p:pic>
      <p:sp>
        <p:nvSpPr>
          <p:cNvPr id="398" name="Google Shape;398;p26"/>
          <p:cNvSpPr/>
          <p:nvPr/>
        </p:nvSpPr>
        <p:spPr>
          <a:xfrm>
            <a:off x="546100" y="2641600"/>
            <a:ext cx="2508300" cy="14223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32C5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26"/>
          <p:cNvSpPr txBox="1"/>
          <p:nvPr/>
        </p:nvSpPr>
        <p:spPr>
          <a:xfrm>
            <a:off x="698500" y="2768600"/>
            <a:ext cx="22035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32C5F4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b="1" sz="2200">
              <a:solidFill>
                <a:srgbClr val="32C5F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0" name="Google Shape;400;p26"/>
          <p:cNvSpPr txBox="1"/>
          <p:nvPr/>
        </p:nvSpPr>
        <p:spPr>
          <a:xfrm>
            <a:off x="698500" y="3251200"/>
            <a:ext cx="2203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Preflight</a:t>
            </a:r>
            <a:endParaRPr b="1" sz="17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401" name="Google Shape;401;p26"/>
          <p:cNvCxnSpPr/>
          <p:nvPr/>
        </p:nvCxnSpPr>
        <p:spPr>
          <a:xfrm>
            <a:off x="3092450" y="3352800"/>
            <a:ext cx="266700" cy="0"/>
          </a:xfrm>
          <a:prstGeom prst="straightConnector1">
            <a:avLst/>
          </a:prstGeom>
          <a:noFill/>
          <a:ln cap="flat" cmpd="sng" w="19050">
            <a:solidFill>
              <a:srgbClr val="32C5F4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402" name="Google Shape;402;p26"/>
          <p:cNvSpPr/>
          <p:nvPr/>
        </p:nvSpPr>
        <p:spPr>
          <a:xfrm>
            <a:off x="3409950" y="2641600"/>
            <a:ext cx="2508300" cy="14223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598C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26"/>
          <p:cNvSpPr txBox="1"/>
          <p:nvPr/>
        </p:nvSpPr>
        <p:spPr>
          <a:xfrm>
            <a:off x="3562350" y="2768600"/>
            <a:ext cx="22035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598CFF"/>
                </a:solidFill>
                <a:latin typeface="Inter"/>
                <a:ea typeface="Inter"/>
                <a:cs typeface="Inter"/>
                <a:sym typeface="Inter"/>
              </a:rPr>
              <a:t>2</a:t>
            </a:r>
            <a:endParaRPr b="1" sz="2200">
              <a:solidFill>
                <a:srgbClr val="598C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4" name="Google Shape;404;p26"/>
          <p:cNvSpPr txBox="1"/>
          <p:nvPr/>
        </p:nvSpPr>
        <p:spPr>
          <a:xfrm>
            <a:off x="3562350" y="3251200"/>
            <a:ext cx="2203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Demo</a:t>
            </a:r>
            <a:endParaRPr b="1" sz="17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405" name="Google Shape;405;p26"/>
          <p:cNvCxnSpPr/>
          <p:nvPr/>
        </p:nvCxnSpPr>
        <p:spPr>
          <a:xfrm>
            <a:off x="5956300" y="3352800"/>
            <a:ext cx="266700" cy="0"/>
          </a:xfrm>
          <a:prstGeom prst="straightConnector1">
            <a:avLst/>
          </a:prstGeom>
          <a:noFill/>
          <a:ln cap="flat" cmpd="sng" w="19050">
            <a:solidFill>
              <a:srgbClr val="598C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406" name="Google Shape;406;p26"/>
          <p:cNvSpPr/>
          <p:nvPr/>
        </p:nvSpPr>
        <p:spPr>
          <a:xfrm>
            <a:off x="6273800" y="2641600"/>
            <a:ext cx="2508300" cy="14223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B06C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26"/>
          <p:cNvSpPr txBox="1"/>
          <p:nvPr/>
        </p:nvSpPr>
        <p:spPr>
          <a:xfrm>
            <a:off x="6426200" y="2768600"/>
            <a:ext cx="22035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B06CFF"/>
                </a:solidFill>
                <a:latin typeface="Inter"/>
                <a:ea typeface="Inter"/>
                <a:cs typeface="Inter"/>
                <a:sym typeface="Inter"/>
              </a:rPr>
              <a:t>3</a:t>
            </a:r>
            <a:endParaRPr b="1" sz="2200">
              <a:solidFill>
                <a:srgbClr val="B06C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8" name="Google Shape;408;p26"/>
          <p:cNvSpPr txBox="1"/>
          <p:nvPr/>
        </p:nvSpPr>
        <p:spPr>
          <a:xfrm>
            <a:off x="6426200" y="3251200"/>
            <a:ext cx="2203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Captura</a:t>
            </a:r>
            <a:endParaRPr b="1" sz="17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409" name="Google Shape;409;p26"/>
          <p:cNvCxnSpPr/>
          <p:nvPr/>
        </p:nvCxnSpPr>
        <p:spPr>
          <a:xfrm>
            <a:off x="8820150" y="3352800"/>
            <a:ext cx="266700" cy="0"/>
          </a:xfrm>
          <a:prstGeom prst="straightConnector1">
            <a:avLst/>
          </a:prstGeom>
          <a:noFill/>
          <a:ln cap="flat" cmpd="sng" w="19050">
            <a:solidFill>
              <a:srgbClr val="B06C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410" name="Google Shape;410;p26"/>
          <p:cNvSpPr/>
          <p:nvPr/>
        </p:nvSpPr>
        <p:spPr>
          <a:xfrm>
            <a:off x="9137650" y="2641600"/>
            <a:ext cx="2508300" cy="14223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EE66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26"/>
          <p:cNvSpPr txBox="1"/>
          <p:nvPr/>
        </p:nvSpPr>
        <p:spPr>
          <a:xfrm>
            <a:off x="9290050" y="2768600"/>
            <a:ext cx="22035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EE66B8"/>
                </a:solidFill>
                <a:latin typeface="Inter"/>
                <a:ea typeface="Inter"/>
                <a:cs typeface="Inter"/>
                <a:sym typeface="Inter"/>
              </a:rPr>
              <a:t>4</a:t>
            </a:r>
            <a:endParaRPr b="1" sz="2200">
              <a:solidFill>
                <a:srgbClr val="EE66B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12" name="Google Shape;412;p26"/>
          <p:cNvSpPr txBox="1"/>
          <p:nvPr/>
        </p:nvSpPr>
        <p:spPr>
          <a:xfrm>
            <a:off x="9290050" y="3251200"/>
            <a:ext cx="2203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Diapositiva</a:t>
            </a:r>
            <a:endParaRPr b="1" sz="17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13" name="Google Shape;413;p26"/>
          <p:cNvSpPr txBox="1"/>
          <p:nvPr/>
        </p:nvSpPr>
        <p:spPr>
          <a:xfrm>
            <a:off x="546100" y="4559300"/>
            <a:ext cx="11099700" cy="73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No lances activate --execute. No hay alta autorizada.</a:t>
            </a:r>
            <a:endParaRPr sz="18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14" name="Google Shape;414;p26"/>
          <p:cNvSpPr txBox="1"/>
          <p:nvPr/>
        </p:nvSpPr>
        <p:spPr>
          <a:xfrm>
            <a:off x="546100" y="5473700"/>
            <a:ext cx="110997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32C5F4"/>
                </a:solidFill>
                <a:latin typeface="Fira Code"/>
                <a:ea typeface="Fira Code"/>
                <a:cs typeface="Fira Code"/>
                <a:sym typeface="Fira Code"/>
              </a:rPr>
              <a:t>bun run preflight &amp;&amp; bun run dev</a:t>
            </a:r>
            <a:endParaRPr>
              <a:solidFill>
                <a:srgbClr val="32C5F4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15" name="Google Shape;415;p26"/>
          <p:cNvSpPr txBox="1"/>
          <p:nvPr/>
        </p:nvSpPr>
        <p:spPr>
          <a:xfrm>
            <a:off x="9601200" y="6324600"/>
            <a:ext cx="20319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S10 · AI Engineer   14/15</a:t>
            </a:r>
            <a:endParaRPr sz="10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7" name="Google Shape;107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8" name="Google Shape;108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2925" y="6218039"/>
            <a:ext cx="11106150" cy="32385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/>
          <p:nvPr/>
        </p:nvSpPr>
        <p:spPr>
          <a:xfrm>
            <a:off x="965200" y="431800"/>
            <a:ext cx="105411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Para cerrar</a:t>
            </a:r>
            <a:endParaRPr b="1" sz="2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0" name="Google Shape;110;p14"/>
          <p:cNvSpPr txBox="1"/>
          <p:nvPr/>
        </p:nvSpPr>
        <p:spPr>
          <a:xfrm>
            <a:off x="546100" y="1066800"/>
            <a:ext cx="110997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El QR sigue siendo el de AI Engineer: evalúa S9, no esta clase.</a:t>
            </a:r>
            <a:endParaRPr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111" name="Google Shape;111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2925" y="509587"/>
            <a:ext cx="2603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42925" y="6229350"/>
            <a:ext cx="1383650" cy="435175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4"/>
          <p:cNvSpPr/>
          <p:nvPr/>
        </p:nvSpPr>
        <p:spPr>
          <a:xfrm>
            <a:off x="546100" y="1905000"/>
            <a:ext cx="5257800" cy="15621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32C5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4"/>
          <p:cNvSpPr/>
          <p:nvPr/>
        </p:nvSpPr>
        <p:spPr>
          <a:xfrm>
            <a:off x="546100" y="3746500"/>
            <a:ext cx="5257800" cy="15621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B06C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4"/>
          <p:cNvSpPr txBox="1"/>
          <p:nvPr/>
        </p:nvSpPr>
        <p:spPr>
          <a:xfrm>
            <a:off x="749300" y="2057400"/>
            <a:ext cx="48261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Tu feedback</a:t>
            </a:r>
            <a:endParaRPr b="1" sz="21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6" name="Google Shape;116;p14"/>
          <p:cNvSpPr txBox="1"/>
          <p:nvPr/>
        </p:nvSpPr>
        <p:spPr>
          <a:xfrm>
            <a:off x="749300" y="2565400"/>
            <a:ext cx="4826100" cy="749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Si no se ha escaneado, este es el momento.</a:t>
            </a:r>
            <a:endParaRPr sz="17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7" name="Google Shape;117;p14"/>
          <p:cNvSpPr txBox="1"/>
          <p:nvPr/>
        </p:nvSpPr>
        <p:spPr>
          <a:xfrm>
            <a:off x="749300" y="3898900"/>
            <a:ext cx="48261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La próxima</a:t>
            </a:r>
            <a:endParaRPr b="1" sz="21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8" name="Google Shape;118;p14"/>
          <p:cNvSpPr txBox="1"/>
          <p:nvPr/>
        </p:nvSpPr>
        <p:spPr>
          <a:xfrm>
            <a:off x="749300" y="4406900"/>
            <a:ext cx="4826100" cy="749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S11, 27 de octubre: el mismo asistente, con CRAG.</a:t>
            </a:r>
            <a:endParaRPr sz="17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9" name="Google Shape;119;p14"/>
          <p:cNvSpPr/>
          <p:nvPr/>
        </p:nvSpPr>
        <p:spPr>
          <a:xfrm>
            <a:off x="6286500" y="1473200"/>
            <a:ext cx="5359500" cy="4737000"/>
          </a:xfrm>
          <a:prstGeom prst="roundRect">
            <a:avLst>
              <a:gd fmla="val 16667" name="adj"/>
            </a:avLst>
          </a:prstGeom>
          <a:solidFill>
            <a:srgbClr val="080E1D"/>
          </a:solidFill>
          <a:ln cap="flat" cmpd="sng" w="15250">
            <a:solidFill>
              <a:srgbClr val="2845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0" name="Google Shape;120;p1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099300" y="1727200"/>
            <a:ext cx="4140201" cy="4140201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4"/>
          <p:cNvSpPr txBox="1"/>
          <p:nvPr/>
        </p:nvSpPr>
        <p:spPr>
          <a:xfrm>
            <a:off x="6629400" y="5918200"/>
            <a:ext cx="50166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Evaluación de la clase anterior</a:t>
            </a:r>
            <a:endParaRPr sz="12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601200" y="6324600"/>
            <a:ext cx="20319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S10 · AI Engineer   15/15</a:t>
            </a:r>
            <a:endParaRPr sz="10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
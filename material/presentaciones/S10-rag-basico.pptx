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0b675003d64a31" /><Relationship Type="http://schemas.openxmlformats.org/officeDocument/2006/relationships/extended-properties" Target="/docProps/app.xml" Id="R37f5e7a22155404d" /><Relationship Type="http://schemas.openxmlformats.org/officeDocument/2006/relationships/officeDocument" Target="/ppt/presentation.xml" Id="Ra7e0b5bae8174e62" /></Relationships>
</file>

<file path=ppt/presentation.xml><?xml version="1.0" encoding="utf-8"?>
<p:presentation xmlns:p="http://schemas.openxmlformats.org/presentationml/2006/main">
  <p:sldMasterIdLst>
    <p:sldMasterId xmlns:r="http://schemas.openxmlformats.org/officeDocument/2006/relationships" id="2147483648" r:id="Rf1a4bb1c77f14476"/>
  </p:sldMasterIdLst>
  <p:notesMasterIdLst>
    <p:notesMasterId xmlns:r="http://schemas.openxmlformats.org/officeDocument/2006/relationships" r:id="Rd58137c08d174221"/>
  </p:notesMasterIdLst>
  <p:sldIdLst>
    <p:sldId xmlns:r="http://schemas.openxmlformats.org/officeDocument/2006/relationships" id="256" r:id="Rf134b6b8629744fd"/>
    <p:sldId xmlns:r="http://schemas.openxmlformats.org/officeDocument/2006/relationships" id="257" r:id="R3be051ac48f64242"/>
    <p:sldId xmlns:r="http://schemas.openxmlformats.org/officeDocument/2006/relationships" id="258" r:id="R975bc409d5324e51"/>
    <p:sldId xmlns:r="http://schemas.openxmlformats.org/officeDocument/2006/relationships" id="259" r:id="R3f173f0d5fd14156"/>
    <p:sldId xmlns:r="http://schemas.openxmlformats.org/officeDocument/2006/relationships" id="260" r:id="Rcafab04cf3174306"/>
    <p:sldId xmlns:r="http://schemas.openxmlformats.org/officeDocument/2006/relationships" id="261" r:id="R945b57e192434559"/>
    <p:sldId xmlns:r="http://schemas.openxmlformats.org/officeDocument/2006/relationships" id="262" r:id="R188d34f92d6846ef"/>
    <p:sldId xmlns:r="http://schemas.openxmlformats.org/officeDocument/2006/relationships" id="263" r:id="R6c1e241d3d8b43ea"/>
    <p:sldId xmlns:r="http://schemas.openxmlformats.org/officeDocument/2006/relationships" id="264" r:id="R0114842fe3f64c47"/>
    <p:sldId xmlns:r="http://schemas.openxmlformats.org/officeDocument/2006/relationships" id="265" r:id="R6c331aa18e0d4200"/>
    <p:sldId xmlns:r="http://schemas.openxmlformats.org/officeDocument/2006/relationships" id="266" r:id="Rc7363e95954646cd"/>
    <p:sldId xmlns:r="http://schemas.openxmlformats.org/officeDocument/2006/relationships" id="267" r:id="R580d3813c7c9473b"/>
    <p:sldId xmlns:r="http://schemas.openxmlformats.org/officeDocument/2006/relationships" id="268" r:id="R3dfd9d96584447c0"/>
    <p:sldId xmlns:r="http://schemas.openxmlformats.org/officeDocument/2006/relationships" id="269" r:id="Ra1fb0d35bae24b59"/>
    <p:sldId xmlns:r="http://schemas.openxmlformats.org/officeDocument/2006/relationships" id="270" r:id="Rcafc24a289ad4fa0"/>
    <p:sldId xmlns:r="http://schemas.openxmlformats.org/officeDocument/2006/relationships" id="271" r:id="R98ea943c7fff4a9c"/>
    <p:sldId xmlns:r="http://schemas.openxmlformats.org/officeDocument/2006/relationships" id="272" r:id="R288057b5ec91432d"/>
    <p:sldId xmlns:r="http://schemas.openxmlformats.org/officeDocument/2006/relationships" id="273" r:id="Rb693da42d09a4fb6"/>
    <p:sldId xmlns:r="http://schemas.openxmlformats.org/officeDocument/2006/relationships" id="274" r:id="R65809337bcb64245"/>
    <p:sldId xmlns:r="http://schemas.openxmlformats.org/officeDocument/2006/relationships" id="275" r:id="R74e9d7c1e3e44220"/>
    <p:sldId xmlns:r="http://schemas.openxmlformats.org/officeDocument/2006/relationships" id="276" r:id="Rb6a3145575b146ea"/>
    <p:sldId xmlns:r="http://schemas.openxmlformats.org/officeDocument/2006/relationships" id="277" r:id="R85bd3e17c6a6480d"/>
    <p:sldId xmlns:r="http://schemas.openxmlformats.org/officeDocument/2006/relationships" id="278" r:id="R2779fc875a594888"/>
    <p:sldId xmlns:r="http://schemas.openxmlformats.org/officeDocument/2006/relationships" id="279" r:id="Rb93854ed3b5a43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cbb2b979654125" /><Relationship Type="http://schemas.openxmlformats.org/officeDocument/2006/relationships/slideMaster" Target="/ppt/slideMasters/slideMaster1.xml" Id="Rf1a4bb1c77f14476" /><Relationship Type="http://schemas.openxmlformats.org/officeDocument/2006/relationships/notesMaster" Target="/ppt/notesMasters/notesMaster1.xml" Id="Rd58137c08d174221" /><Relationship Type="http://schemas.openxmlformats.org/officeDocument/2006/relationships/presProps" Target="/ppt/presProps.xml" Id="Raa9bfeb2faa24dcc" /><Relationship Type="http://schemas.openxmlformats.org/officeDocument/2006/relationships/tableStyles" Target="/ppt/tableStyles.xml" Id="Rf5559e14931446f6" /><Relationship Type="http://schemas.openxmlformats.org/officeDocument/2006/relationships/slide" Target="/ppt/slides/slide1.xml" Id="Rf134b6b8629744fd" /><Relationship Type="http://schemas.openxmlformats.org/officeDocument/2006/relationships/slide" Target="/ppt/slides/slide2.xml" Id="R3be051ac48f64242" /><Relationship Type="http://schemas.openxmlformats.org/officeDocument/2006/relationships/slide" Target="/ppt/slides/slide3.xml" Id="R975bc409d5324e51" /><Relationship Type="http://schemas.openxmlformats.org/officeDocument/2006/relationships/slide" Target="/ppt/slides/slide4.xml" Id="R3f173f0d5fd14156" /><Relationship Type="http://schemas.openxmlformats.org/officeDocument/2006/relationships/slide" Target="/ppt/slides/slide5.xml" Id="Rcafab04cf3174306" /><Relationship Type="http://schemas.openxmlformats.org/officeDocument/2006/relationships/slide" Target="/ppt/slides/slide6.xml" Id="R945b57e192434559" /><Relationship Type="http://schemas.openxmlformats.org/officeDocument/2006/relationships/slide" Target="/ppt/slides/slide7.xml" Id="R188d34f92d6846ef" /><Relationship Type="http://schemas.openxmlformats.org/officeDocument/2006/relationships/slide" Target="/ppt/slides/slide8.xml" Id="R6c1e241d3d8b43ea" /><Relationship Type="http://schemas.openxmlformats.org/officeDocument/2006/relationships/slide" Target="/ppt/slides/slide9.xml" Id="R0114842fe3f64c47" /><Relationship Type="http://schemas.openxmlformats.org/officeDocument/2006/relationships/slide" Target="/ppt/slides/slide10.xml" Id="R6c331aa18e0d4200" /><Relationship Type="http://schemas.openxmlformats.org/officeDocument/2006/relationships/slide" Target="/ppt/slides/slide11.xml" Id="Rc7363e95954646cd" /><Relationship Type="http://schemas.openxmlformats.org/officeDocument/2006/relationships/slide" Target="/ppt/slides/slide12.xml" Id="R580d3813c7c9473b" /><Relationship Type="http://schemas.openxmlformats.org/officeDocument/2006/relationships/slide" Target="/ppt/slides/slide13.xml" Id="R3dfd9d96584447c0" /><Relationship Type="http://schemas.openxmlformats.org/officeDocument/2006/relationships/slide" Target="/ppt/slides/slide14.xml" Id="Ra1fb0d35bae24b59" /><Relationship Type="http://schemas.openxmlformats.org/officeDocument/2006/relationships/slide" Target="/ppt/slides/slide15.xml" Id="Rcafc24a289ad4fa0" /><Relationship Type="http://schemas.openxmlformats.org/officeDocument/2006/relationships/slide" Target="/ppt/slides/slide16.xml" Id="R98ea943c7fff4a9c" /><Relationship Type="http://schemas.openxmlformats.org/officeDocument/2006/relationships/slide" Target="/ppt/slides/slide17.xml" Id="R288057b5ec91432d" /><Relationship Type="http://schemas.openxmlformats.org/officeDocument/2006/relationships/slide" Target="/ppt/slides/slide18.xml" Id="Rb693da42d09a4fb6" /><Relationship Type="http://schemas.openxmlformats.org/officeDocument/2006/relationships/slide" Target="/ppt/slides/slide19.xml" Id="R65809337bcb64245" /><Relationship Type="http://schemas.openxmlformats.org/officeDocument/2006/relationships/slide" Target="/ppt/slides/slide20.xml" Id="R74e9d7c1e3e44220" /><Relationship Type="http://schemas.openxmlformats.org/officeDocument/2006/relationships/slide" Target="/ppt/slides/slide21.xml" Id="Rb6a3145575b146ea" /><Relationship Type="http://schemas.openxmlformats.org/officeDocument/2006/relationships/slide" Target="/ppt/slides/slide22.xml" Id="R85bd3e17c6a6480d" /><Relationship Type="http://schemas.openxmlformats.org/officeDocument/2006/relationships/slide" Target="/ppt/slides/slide23.xml" Id="R2779fc875a594888" /><Relationship Type="http://schemas.openxmlformats.org/officeDocument/2006/relationships/slide" Target="/ppt/slides/slide24.xml" Id="Rb93854ed3b5a43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c49b7e410d4c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c3b370b591492f" /><Relationship Type="http://schemas.openxmlformats.org/officeDocument/2006/relationships/notesMaster" Target="/ppt/notesMasters/notesMaster1.xml" Id="R6d2a770176b84b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afebf22e9b42fc" /><Relationship Type="http://schemas.openxmlformats.org/officeDocument/2006/relationships/notesMaster" Target="/ppt/notesMasters/notesMaster1.xml" Id="R75f3c28e2f2045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3504d671004ede" /><Relationship Type="http://schemas.openxmlformats.org/officeDocument/2006/relationships/notesMaster" Target="/ppt/notesMasters/notesMaster1.xml" Id="R37a0666ef5f448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68dfc158564fac" /><Relationship Type="http://schemas.openxmlformats.org/officeDocument/2006/relationships/notesMaster" Target="/ppt/notesMasters/notesMaster1.xml" Id="Rbf543238304648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9f37cad26e4efd" /><Relationship Type="http://schemas.openxmlformats.org/officeDocument/2006/relationships/notesMaster" Target="/ppt/notesMasters/notesMaster1.xml" Id="R7bf0d637cc224b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02aa692d484713" /><Relationship Type="http://schemas.openxmlformats.org/officeDocument/2006/relationships/notesMaster" Target="/ppt/notesMasters/notesMaster1.xml" Id="R776aebcb6c8d4a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025b83b0c347dd" /><Relationship Type="http://schemas.openxmlformats.org/officeDocument/2006/relationships/notesMaster" Target="/ppt/notesMasters/notesMaster1.xml" Id="R8bb7d91e12d448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ac8a3de5f84c59" /><Relationship Type="http://schemas.openxmlformats.org/officeDocument/2006/relationships/notesMaster" Target="/ppt/notesMasters/notesMaster1.xml" Id="R00fcf9e1c82546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41a3071afb4d38" /><Relationship Type="http://schemas.openxmlformats.org/officeDocument/2006/relationships/notesMaster" Target="/ppt/notesMasters/notesMaster1.xml" Id="R74b5bc2ad48f41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d1d841a73c499a" /><Relationship Type="http://schemas.openxmlformats.org/officeDocument/2006/relationships/notesMaster" Target="/ppt/notesMasters/notesMaster1.xml" Id="R6c2f77c891fd40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d10574776d49ba" /><Relationship Type="http://schemas.openxmlformats.org/officeDocument/2006/relationships/notesMaster" Target="/ppt/notesMasters/notesMaster1.xml" Id="R2673199f7f4442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9f444a96f841ab" /><Relationship Type="http://schemas.openxmlformats.org/officeDocument/2006/relationships/notesMaster" Target="/ppt/notesMasters/notesMaster1.xml" Id="Raba2da3ade384e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62e523501a4c14" /><Relationship Type="http://schemas.openxmlformats.org/officeDocument/2006/relationships/notesMaster" Target="/ppt/notesMasters/notesMaster1.xml" Id="R9fd08f04029b4a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91eca1de3c426c" /><Relationship Type="http://schemas.openxmlformats.org/officeDocument/2006/relationships/notesMaster" Target="/ppt/notesMasters/notesMaster1.xml" Id="R9cbc1ff4430a46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8c933b4de04a22" /><Relationship Type="http://schemas.openxmlformats.org/officeDocument/2006/relationships/notesMaster" Target="/ppt/notesMasters/notesMaster1.xml" Id="R0d7d6975ef0245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d08b4d3e8d4f1c" /><Relationship Type="http://schemas.openxmlformats.org/officeDocument/2006/relationships/notesMaster" Target="/ppt/notesMasters/notesMaster1.xml" Id="Rd19e5392bc6a43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5fc333b5d3415e" /><Relationship Type="http://schemas.openxmlformats.org/officeDocument/2006/relationships/notesMaster" Target="/ppt/notesMasters/notesMaster1.xml" Id="Rebce2ea6983845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7d772e6cbe4092" /><Relationship Type="http://schemas.openxmlformats.org/officeDocument/2006/relationships/notesMaster" Target="/ppt/notesMasters/notesMaster1.xml" Id="R4867311053364b9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2fa6e4089f4187" /><Relationship Type="http://schemas.openxmlformats.org/officeDocument/2006/relationships/notesMaster" Target="/ppt/notesMasters/notesMaster1.xml" Id="Rd0209d99d6e14a0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ed6500e5d98413b" /><Relationship Type="http://schemas.openxmlformats.org/officeDocument/2006/relationships/notesMaster" Target="/ppt/notesMasters/notesMaster1.xml" Id="R1b9af9baacdd4b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5640eb5a70e4c16" /><Relationship Type="http://schemas.openxmlformats.org/officeDocument/2006/relationships/notesMaster" Target="/ppt/notesMasters/notesMaster1.xml" Id="Raa4fdd925d26430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538b7119c1e4996" /><Relationship Type="http://schemas.openxmlformats.org/officeDocument/2006/relationships/notesMaster" Target="/ppt/notesMasters/notesMaster1.xml" Id="R50396642f2c147a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b18d1f8a55e40f7" /><Relationship Type="http://schemas.openxmlformats.org/officeDocument/2006/relationships/notesMaster" Target="/ppt/notesMasters/notesMaster1.xml" Id="R7b99a29617824d2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ac784cea61943cd" /><Relationship Type="http://schemas.openxmlformats.org/officeDocument/2006/relationships/notesMaster" Target="/ppt/notesMasters/notesMaster1.xml" Id="Re893146bcb8c41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18:30–18:31 · RAG: chatbot con documentación propia</a:t>
            </a:r>
          </a:p>
          <a:p xmlns:a="http://schemas.openxmlformats.org/drawingml/2006/main">
            <a:r>
              <a:t/>
            </a:r>
          </a:p>
          <a:p xmlns:a="http://schemas.openxmlformats.org/drawingml/2006/main">
            <a:r>
              <a:t>DI</a:t>
            </a:r>
          </a:p>
          <a:p xmlns:a="http://schemas.openxmlformats.org/drawingml/2006/main">
            <a:r>
              <a:t>Hoy vamos a seguir una pregunta desde los documentos hasta una respuesta que podamos comprobar. Ya sabemos guardar vectores de S9; hoy conectamos esa búsqueda con un modelo y decidimos cuándo no debe responder. El programa ya está construido: leeremos sus piezas y ejecutaremos el recorrido, no instalaremos una aplicación entera en 90 minutos.</a:t>
            </a:r>
          </a:p>
          <a:p xmlns:a="http://schemas.openxmlformats.org/drawingml/2006/main">
            <a:r>
              <a:t/>
            </a:r>
          </a:p>
          <a:p xmlns:a="http://schemas.openxmlformats.org/drawingml/2006/main">
            <a:r>
              <a:t>HAZ</a:t>
            </a:r>
          </a:p>
          <a:p xmlns:a="http://schemas.openxmlformats.org/drawingml/2006/main">
            <a:r>
              <a:t>Abre la presentación en modo de exposición y el guion en una segunda pantalla. Deja la terminal en la raíz de 3-rag y el editor con lab/ abierto.</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El grupo entiende que el objetivo es explicar y verificar el flujo completo. La práctica autónoma tiene su propio tiempo.</a:t>
            </a:r>
          </a:p>
          <a:p xmlns:a="http://schemas.openxmlformats.org/drawingml/2006/main">
            <a:r>
              <a:t/>
            </a:r>
          </a:p>
          <a:p xmlns:a="http://schemas.openxmlformats.org/drawingml/2006/main">
            <a:r>
              <a:t>SI FALLA</a:t>
            </a:r>
          </a:p>
          <a:p xmlns:a="http://schemas.openxmlformats.org/drawingml/2006/main">
            <a:r>
              <a:t>Si alguien no tiene entorno instalado, puede seguir las evidencias y preparar el ejercicio después.</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18:31–18:33 · Feedback de S9 y objetivo de hoy</a:t>
            </a:r>
          </a:p>
          <a:p xmlns:a="http://schemas.openxmlformats.org/drawingml/2006/main">
            <a:r>
              <a:t/>
            </a:r>
          </a:p>
          <a:p xmlns:a="http://schemas.openxmlformats.org/drawingml/2006/main">
            <a:r>
              <a:t>DI</a:t>
            </a:r>
          </a:p>
          <a:p xmlns:a="http://schemas.openxmlformats.org/drawingml/2006/main">
            <a:r>
              <a:t>Este QR evalúa la clase anterior, S9. Os dejo unos segundos para responder porque ese feedback ayuda a ajustar el ritmo. Para hoy quiero que salgáis pudiendo explicar qué información leyó el modelo, por qué se eligió y qué sucede si falta la respuesta.</a:t>
            </a:r>
          </a:p>
          <a:p xmlns:a="http://schemas.openxmlformats.org/drawingml/2006/main">
            <a:r>
              <a:t/>
            </a:r>
          </a:p>
          <a:p xmlns:a="http://schemas.openxmlformats.org/drawingml/2006/main">
            <a:r>
              <a:t>HAZ</a:t>
            </a:r>
          </a:p>
          <a:p xmlns:a="http://schemas.openxmlformats.org/drawingml/2006/main">
            <a:r>
              <a:t>Muestra el QR nuevo de Laura. Espera unos 40 segundos. Pregunta: ¿una base vectorial por sí sola ya es un chatbot?</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El QR abre el formulario de AI Engineer en kb.tools.thepower.education. No pidas datos del formulario ni completes respuestas por alumnos.</a:t>
            </a:r>
          </a:p>
          <a:p xmlns:a="http://schemas.openxmlformats.org/drawingml/2006/main">
            <a:r>
              <a:t/>
            </a:r>
          </a:p>
          <a:p xmlns:a="http://schemas.openxmlformats.org/drawingml/2006/main">
            <a:r>
              <a:t>SI FALLA</a:t>
            </a:r>
          </a:p>
          <a:p xmlns:a="http://schemas.openxmlformats.org/drawingml/2006/main">
            <a:r>
              <a:t>Si una cámara no lo lee, comparte el enlace del QR nuevo en el chat de clase manualmente.</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18:33–18:35 · Prompting, fine-tuning y RAG</a:t>
            </a:r>
          </a:p>
          <a:p xmlns:a="http://schemas.openxmlformats.org/drawingml/2006/main">
            <a:r>
              <a:t/>
            </a:r>
          </a:p>
          <a:p xmlns:a="http://schemas.openxmlformats.org/drawingml/2006/main">
            <a:r>
              <a:t>DI</a:t>
            </a:r>
          </a:p>
          <a:p xmlns:a="http://schemas.openxmlformats.org/drawingml/2006/main">
            <a:r>
              <a:t>En S7 y S8 trabajamos con comportamiento y adaptación. Si cambia una política o una fecha, normalmente actualizo su documento y su índice. Si quiero un patrón estable de clasificación o formato, primero comparo prompts y después valoro el ajuste. Podemos combinar las técnicas; consultar documentación no cambia los pesos del modelo.</a:t>
            </a:r>
          </a:p>
          <a:p xmlns:a="http://schemas.openxmlformats.org/drawingml/2006/main">
            <a:r>
              <a:t/>
            </a:r>
          </a:p>
          <a:p xmlns:a="http://schemas.openxmlformats.org/drawingml/2006/main">
            <a:r>
              <a:t>HAZ</a:t>
            </a:r>
          </a:p>
          <a:p xmlns:a="http://schemas.openxmlformats.org/drawingml/2006/main">
            <a:r>
              <a:t>Pide una decisión rápida: para cambiar mañana la fecha de una clase, ¿actualizaríamos un documento o entrenaríamos de nuevo?</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La respuesta conecta hechos cambiantes con documentos y distingue comportamiento de conocimiento disponible.</a:t>
            </a:r>
          </a:p>
          <a:p xmlns:a="http://schemas.openxmlformats.org/drawingml/2006/main">
            <a:r>
              <a:t/>
            </a:r>
          </a:p>
          <a:p xmlns:a="http://schemas.openxmlformats.org/drawingml/2006/main">
            <a:r>
              <a:t>SI FALLA</a:t>
            </a:r>
          </a:p>
          <a:p xmlns:a="http://schemas.openxmlformats.org/drawingml/2006/main">
            <a:r>
              <a:t>No abras otro tutorial de fine-tuning: recoge la duda y vuelve al recorrido de RAG.</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18:35–18:37 · Tres formas de aportar contexto</a:t>
            </a:r>
          </a:p>
          <a:p xmlns:a="http://schemas.openxmlformats.org/drawingml/2006/main">
            <a:r>
              <a:t/>
            </a:r>
          </a:p>
          <a:p xmlns:a="http://schemas.openxmlformats.org/drawingml/2006/main">
            <a:r>
              <a:t>DI</a:t>
            </a:r>
          </a:p>
          <a:p xmlns:a="http://schemas.openxmlformats.org/drawingml/2006/main">
            <a:r>
              <a:t>La web del curso ofrece ahora RAG semántico. Su ruta de contexto completo sigue en el código como alternativa para corpus pequeños. Hoy enseñamos el recorrido selectivo, que es el que necesita la práctica. CRAG añade decisiones y búsquedas de corrección; lo desarrollaremos el martes 27.</a:t>
            </a:r>
          </a:p>
          <a:p xmlns:a="http://schemas.openxmlformats.org/drawingml/2006/main">
            <a:r>
              <a:t/>
            </a:r>
          </a:p>
          <a:p xmlns:a="http://schemas.openxmlformats.org/drawingml/2006/main">
            <a:r>
              <a:t>HAZ</a:t>
            </a:r>
          </a:p>
          <a:p xmlns:a="http://schemas.openxmlformats.org/drawingml/2006/main">
            <a:r>
              <a:t>Abre, si hace falta, https://rag-thepower.josenuevo.dev/api/health y señala modelConfiguration.ragContextMode: semantic. No gastes un turno público para comprobar solo la configuración.</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Distinguen una lectura completa desde D1 de una consulta vectorial y no atribuyen al modo completo un umbral que no ejecuta.</a:t>
            </a:r>
          </a:p>
          <a:p xmlns:a="http://schemas.openxmlformats.org/drawingml/2006/main">
            <a:r>
              <a:t/>
            </a:r>
          </a:p>
          <a:p xmlns:a="http://schemas.openxmlformats.org/drawingml/2006/main">
            <a:r>
              <a:t>SI FALLA</a:t>
            </a:r>
          </a:p>
          <a:p xmlns:a="http://schemas.openxmlformats.org/drawingml/2006/main">
            <a:r>
              <a:t>Si la web no responde, usa el laboratorio local; sus proveedores e índice se identifican en preflight.</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18:37–18:39 · El corpus delimita lo que se puede saber</a:t>
            </a:r>
          </a:p>
          <a:p xmlns:a="http://schemas.openxmlformats.org/drawingml/2006/main">
            <a:r>
              <a:t/>
            </a:r>
          </a:p>
          <a:p xmlns:a="http://schemas.openxmlformats.org/drawingml/2006/main">
            <a:r>
              <a:t>DI</a:t>
            </a:r>
          </a:p>
          <a:p xmlns:a="http://schemas.openxmlformats.org/drawingml/2006/main">
            <a:r>
              <a:t>Usaremos el corpus del curso para explicar los grupos y AetherCloud para reconstruir el ejercicio. Los documentos son la autoridad de esta práctica, no el conocimiento general del modelo. Si el corpus no dice un precio o una licencia, no lo deducimos. Son casos distintos que comparten el patrón de ingeniería.</a:t>
            </a:r>
          </a:p>
          <a:p xmlns:a="http://schemas.openxmlformats.org/drawingml/2006/main">
            <a:r>
              <a:t/>
            </a:r>
          </a:p>
          <a:p xmlns:a="http://schemas.openxmlformats.org/drawingml/2006/main">
            <a:r>
              <a:t>HAZ</a:t>
            </a:r>
          </a:p>
          <a:p xmlns:a="http://schemas.openxmlformats.org/drawingml/2006/main">
            <a:r>
              <a:t>Abre lab/corpus/sources/04-almacenamiento-y-cifrado-kms.md. Localiza AES-256-GCM y las 72 horas. Enseña después los dos calendarios del curso sin mezclarlos con AetherCloud.</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El alumnado puede señalar el párrafo que tendrá que respaldar la primera respuesta.</a:t>
            </a:r>
          </a:p>
          <a:p xmlns:a="http://schemas.openxmlformats.org/drawingml/2006/main">
            <a:r>
              <a:t/>
            </a:r>
          </a:p>
          <a:p xmlns:a="http://schemas.openxmlformats.org/drawingml/2006/main">
            <a:r>
              <a:t>SI FALLA</a:t>
            </a:r>
          </a:p>
          <a:p xmlns:a="http://schemas.openxmlformats.org/drawingml/2006/main">
            <a:r>
              <a:t>Si se pierde tiempo navegando, usa la copia del fragmento incluida en material/S10/evidencias/consulta-con-fuentes.json.</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18:39–18:42 · Preparar una vez; consultar muchas veces</a:t>
            </a:r>
          </a:p>
          <a:p xmlns:a="http://schemas.openxmlformats.org/drawingml/2006/main">
            <a:r>
              <a:t/>
            </a:r>
          </a:p>
          <a:p xmlns:a="http://schemas.openxmlformats.org/drawingml/2006/main">
            <a:r>
              <a:t>DI</a:t>
            </a:r>
          </a:p>
          <a:p xmlns:a="http://schemas.openxmlformats.org/drawingml/2006/main">
            <a:r>
              <a:t>Indexar documentos y responder preguntas son dos momentos distintos. Al cambiar un documento hay que reconstruir sus vectores y conservar la identidad de la versión. Al llegar una pregunta reutilizamos el índice. El modelo generativo recibe los fragmentos legibles; los números del embedding sirven al buscador.</a:t>
            </a:r>
          </a:p>
          <a:p xmlns:a="http://schemas.openxmlformats.org/drawingml/2006/main">
            <a:r>
              <a:t/>
            </a:r>
          </a:p>
          <a:p xmlns:a="http://schemas.openxmlformats.org/drawingml/2006/main">
            <a:r>
              <a:t>HAZ</a:t>
            </a:r>
          </a:p>
          <a:p xmlns:a="http://schemas.openxmlformats.org/drawingml/2006/main">
            <a:r>
              <a:t>Abre lab/src/corpus.ts y muestra prepareLabCorpusFromDirectory. Después señala las dos llamadas de embeddings: documentos durante rebuild y pregunta durante query.</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Pueden situar cada coste y cada fallo en preparación o consulta.</a:t>
            </a:r>
          </a:p>
          <a:p xmlns:a="http://schemas.openxmlformats.org/drawingml/2006/main">
            <a:r>
              <a:t/>
            </a:r>
          </a:p>
          <a:p xmlns:a="http://schemas.openxmlformats.org/drawingml/2006/main">
            <a:r>
              <a:t>SI FALLA</a:t>
            </a:r>
          </a:p>
          <a:p xmlns:a="http://schemas.openxmlformats.org/drawingml/2006/main">
            <a:r>
              <a:t>No recorras cada línea del archivo: identifica entrada, salida y siguiente etapa.</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18:42–18:45 · Fragmentación con significado y procedencia</a:t>
            </a:r>
          </a:p>
          <a:p xmlns:a="http://schemas.openxmlformats.org/drawingml/2006/main">
            <a:r>
              <a:t/>
            </a:r>
          </a:p>
          <a:p xmlns:a="http://schemas.openxmlformats.org/drawingml/2006/main">
            <a:r>
              <a:t>DI</a:t>
            </a:r>
          </a:p>
          <a:p xmlns:a="http://schemas.openxmlformats.org/drawingml/2006/main">
            <a:r>
              <a:t>Un fragmento debe conservar suficiente contexto para entender sus cifras y condiciones. El solapamiento ayuda en los bordes, pero no garantiza recuperar la evidencia correcta. Aquí preservamos el título, la sección, la fuente y un ID estable. Si el corpus cambia, la versión también cambia.</a:t>
            </a:r>
          </a:p>
          <a:p xmlns:a="http://schemas.openxmlformats.org/drawingml/2006/main">
            <a:r>
              <a:t/>
            </a:r>
          </a:p>
          <a:p xmlns:a="http://schemas.openxmlformats.org/drawingml/2006/main">
            <a:r>
              <a:t>HAZ</a:t>
            </a:r>
          </a:p>
          <a:p xmlns:a="http://schemas.openxmlformats.org/drawingml/2006/main">
            <a:r>
              <a:t>Abre lab/src/corpus.ts y packages/rag/src/chunk.ts. Localiza maxChars y overlapChars. Muestra el ID lab-689164ca81cd:04-almacenamiento-y-cifrado-kms:00 en el recibo.</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La cifra 72 horas sigue unida a la destrucción de CMK y a su fuente.</a:t>
            </a:r>
          </a:p>
          <a:p xmlns:a="http://schemas.openxmlformats.org/drawingml/2006/main">
            <a:r>
              <a:t/>
            </a:r>
          </a:p>
          <a:p xmlns:a="http://schemas.openxmlformats.org/drawingml/2006/main">
            <a:r>
              <a:t>SI FALLA</a:t>
            </a:r>
          </a:p>
          <a:p xmlns:a="http://schemas.openxmlformats.org/drawingml/2006/main">
            <a:r>
              <a:t>Si preguntan por un tamaño universal, explica que se valida con las preguntas del dominio; no ajustes con el test.</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18:45–18:48 · Embeddings compatibles</a:t>
            </a:r>
          </a:p>
          <a:p xmlns:a="http://schemas.openxmlformats.org/drawingml/2006/main">
            <a:r>
              <a:t/>
            </a:r>
          </a:p>
          <a:p xmlns:a="http://schemas.openxmlformats.org/drawingml/2006/main">
            <a:r>
              <a:t>DI</a:t>
            </a:r>
          </a:p>
          <a:p xmlns:a="http://schemas.openxmlformats.org/drawingml/2006/main">
            <a:r>
              <a:t>El embedding representa una entrada en un espacio aprendido. Dos textos parecidos pueden no contener el dato solicitado. Mismo tamaño no basta si cambiamos de modelo. En este laboratorio hemos observado 768 componentes devueltos por el proveedor. La web usa BGE-M3 de 1024: son índices diferentes, no vectores intercambiables.</a:t>
            </a:r>
          </a:p>
          <a:p xmlns:a="http://schemas.openxmlformats.org/drawingml/2006/main">
            <a:r>
              <a:t/>
            </a:r>
          </a:p>
          <a:p xmlns:a="http://schemas.openxmlformats.org/drawingml/2006/main">
            <a:r>
              <a:t>HAZ</a:t>
            </a:r>
          </a:p>
          <a:p xmlns:a="http://schemas.openxmlformats.org/drawingml/2006/main">
            <a:r>
              <a:t>Muestra la identidad del modelo en preflight y los valores mínimo/máximo de vector_dims en status. La ilustración es conceptual; las puntuaciones de la terminal sí proceden de consultas reales.</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No se confunde el respaldo léxico offline con un embedding aprendido.</a:t>
            </a:r>
          </a:p>
          <a:p xmlns:a="http://schemas.openxmlformats.org/drawingml/2006/main">
            <a:r>
              <a:t/>
            </a:r>
          </a:p>
          <a:p xmlns:a="http://schemas.openxmlformats.org/drawingml/2006/main">
            <a:r>
              <a:t>SI FALLA</a:t>
            </a:r>
          </a:p>
          <a:p xmlns:a="http://schemas.openxmlformats.org/drawingml/2006/main">
            <a:r>
              <a:t>Si falla la API, no se recortan ni rellenan vectores: se detiene la ingesta y se conserva el índice anterior.</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18:48–18:51 · PostgreSQL, pgvector y HNSW</a:t>
            </a:r>
          </a:p>
          <a:p xmlns:a="http://schemas.openxmlformats.org/drawingml/2006/main">
            <a:r>
              <a:t/>
            </a:r>
          </a:p>
          <a:p xmlns:a="http://schemas.openxmlformats.org/drawingml/2006/main">
            <a:r>
              <a:t>DI</a:t>
            </a:r>
          </a:p>
          <a:p xmlns:a="http://schemas.openxmlformats.org/drawingml/2006/main">
            <a:r>
              <a:t>pgvector añade operadores e índices vectoriales a PostgreSQL. El índice HNSW permite aproximar vecinos; con veinte fragmentos el planificador puede preferir un escaneo y eso no es un fallo. La consulta ordena directamente por distancia y limita los candidatos. Similitud es uno menos distancia y no es una probabilidad.</a:t>
            </a:r>
          </a:p>
          <a:p xmlns:a="http://schemas.openxmlformats.org/drawingml/2006/main">
            <a:r>
              <a:t/>
            </a:r>
          </a:p>
          <a:p xmlns:a="http://schemas.openxmlformats.org/drawingml/2006/main">
            <a:r>
              <a:t>HAZ</a:t>
            </a:r>
          </a:p>
          <a:p xmlns:a="http://schemas.openxmlformats.org/drawingml/2006/main">
            <a:r>
              <a:t>Abre lab/schema.sql. Señala la columna y el índice. Abre queryNearest en lab/src/pgvector-store.ts y localiza ORDER BY y LIMIT. El bloque SQL de la diapositiva muestra fragmentos del esquema y la consulta, no una sentencia completa para pegar en la terminal.</a:t>
            </a:r>
          </a:p>
          <a:p xmlns:a="http://schemas.openxmlformats.org/drawingml/2006/main">
            <a:r>
              <a:t>embedding vector(768) NOT NULL</a:t>
            </a:r>
          </a:p>
          <a:p xmlns:a="http://schemas.openxmlformats.org/drawingml/2006/main">
            <a:r>
              <a:t>USING hnsw (embedding vector_cosine_ops)</a:t>
            </a:r>
          </a:p>
          <a:p xmlns:a="http://schemas.openxmlformats.org/drawingml/2006/main">
            <a:r>
              <a:t>ORDER BY embedding &lt;=&gt; $1::vector(768) ASC</a:t>
            </a:r>
          </a:p>
          <a:p xmlns:a="http://schemas.openxmlformats.org/drawingml/2006/main">
            <a:r>
              <a:t>LIMIT $4</a:t>
            </a:r>
          </a:p>
          <a:p xmlns:a="http://schemas.openxmlformats.org/drawingml/2006/main">
            <a:r>
              <a:t/>
            </a:r>
          </a:p>
          <a:p xmlns:a="http://schemas.openxmlformats.org/drawingml/2006/main">
            <a:r>
              <a:t>COMPRUEBA</a:t>
            </a:r>
          </a:p>
          <a:p xmlns:a="http://schemas.openxmlformats.org/drawingml/2006/main">
            <a:r>
              <a:t>Entienden la dirección de la puntuación y que crear HNSW no significa que todas las consultas lo utilicen.</a:t>
            </a:r>
          </a:p>
          <a:p xmlns:a="http://schemas.openxmlformats.org/drawingml/2006/main">
            <a:r>
              <a:t/>
            </a:r>
          </a:p>
          <a:p xmlns:a="http://schemas.openxmlformats.org/drawingml/2006/main">
            <a:r>
              <a:t>SI FALLA</a:t>
            </a:r>
          </a:p>
          <a:p xmlns:a="http://schemas.openxmlformats.org/drawingml/2006/main">
            <a:r>
              <a:t>No fuerces un plan de ejecución ni abras optimización de producción durante esta clase.</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18:51–18:54 · Recuperar candidatos y seleccionar contexto</a:t>
            </a:r>
          </a:p>
          <a:p xmlns:a="http://schemas.openxmlformats.org/drawingml/2006/main">
            <a:r>
              <a:t/>
            </a:r>
          </a:p>
          <a:p xmlns:a="http://schemas.openxmlformats.org/drawingml/2006/main">
            <a:r>
              <a:t>DI</a:t>
            </a:r>
          </a:p>
          <a:p xmlns:a="http://schemas.openxmlformats.org/drawingml/2006/main">
            <a:r>
              <a:t>Buscar candidatos no es recuperar una respuesta. La consulta aplica filtros, ordena y devuelve como máximo cuatro vecinos. Después el código compara sus puntuaciones con el corte calibrado. Un vecino de facturación puede estar cerca de una pregunta sobre licencias sin contener el precio de esas licencias.</a:t>
            </a:r>
          </a:p>
          <a:p xmlns:a="http://schemas.openxmlformats.org/drawingml/2006/main">
            <a:r>
              <a:t/>
            </a:r>
          </a:p>
          <a:p xmlns:a="http://schemas.openxmlformats.org/drawingml/2006/main">
            <a:r>
              <a:t>HAZ</a:t>
            </a:r>
          </a:p>
          <a:p xmlns:a="http://schemas.openxmlformats.org/drawingml/2006/main">
            <a:r>
              <a:t>Recorre queryNearest y selected en runLabBasicRag. Identifica el filtro SQL y el filtro de puntuación como dos decisiones diferentes.</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Un top-k de cuatro no se interpreta como cuatro fragmentos útiles garantizados.</a:t>
            </a:r>
          </a:p>
          <a:p xmlns:a="http://schemas.openxmlformats.org/drawingml/2006/main">
            <a:r>
              <a:t/>
            </a:r>
          </a:p>
          <a:p xmlns:a="http://schemas.openxmlformats.org/drawingml/2006/main">
            <a:r>
              <a:t>SI FALLA</a:t>
            </a:r>
          </a:p>
          <a:p xmlns:a="http://schemas.openxmlformats.org/drawingml/2006/main">
            <a:r>
              <a:t>Si se adelantan a reranking, enlázalo con S11 y termina primero el recorrido de una sola búsqueda.</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18:54–18:57 · Calibrar y decidir antes de generar</a:t>
            </a:r>
          </a:p>
          <a:p xmlns:a="http://schemas.openxmlformats.org/drawingml/2006/main">
            <a:r>
              <a:t/>
            </a:r>
          </a:p>
          <a:p xmlns:a="http://schemas.openxmlformats.org/drawingml/2006/main">
            <a:r>
              <a:t>DI</a:t>
            </a:r>
          </a:p>
          <a:p xmlns:a="http://schemas.openxmlformats.org/drawingml/2006/main">
            <a:r>
              <a:t>El corte no se elige porque el número resulte cómodo. En el ensayo se consultaron seis ejemplos de validación y se separaron las puntuaciones positivas y negativas. Solo después se congeló el umbral. Si se solapan, el comando para; no consulta el test para buscar un resultado bonito. Un rechazo evita generar, aunque ya haya usado embeddings para buscar.</a:t>
            </a:r>
          </a:p>
          <a:p xmlns:a="http://schemas.openxmlformats.org/drawingml/2006/main">
            <a:r>
              <a:t/>
            </a:r>
          </a:p>
          <a:p xmlns:a="http://schemas.openxmlformats.org/drawingml/2006/main">
            <a:r>
              <a:t>HAZ</a:t>
            </a:r>
          </a:p>
          <a:p xmlns:a="http://schemas.openxmlformats.org/drawingml/2006/main">
            <a:r>
              <a:t>Abre lab/.local/calibration.json o material/S10/evidencias/calibracion-real.json. Señala las seis filas y el threshold. No ejecutes calibrate otra vez durante el directo.</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Queda clara la separación entre el coste de recuperar y el de generar.</a:t>
            </a:r>
          </a:p>
          <a:p xmlns:a="http://schemas.openxmlformats.org/drawingml/2006/main">
            <a:r>
              <a:t/>
            </a:r>
          </a:p>
          <a:p xmlns:a="http://schemas.openxmlformats.org/drawingml/2006/main">
            <a:r>
              <a:t>SI FALLA</a:t>
            </a:r>
          </a:p>
          <a:p xmlns:a="http://schemas.openxmlformats.org/drawingml/2006/main">
            <a:r>
              <a:t>No reutilices 0,25 del respaldo léxico ni 0,50 de BGE-M3 en este índice.</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18:57–19:00 · Contexto, respuesta y citas</a:t>
            </a:r>
          </a:p>
          <a:p xmlns:a="http://schemas.openxmlformats.org/drawingml/2006/main">
            <a:r>
              <a:t/>
            </a:r>
          </a:p>
          <a:p xmlns:a="http://schemas.openxmlformats.org/drawingml/2006/main">
            <a:r>
              <a:t>DI</a:t>
            </a:r>
          </a:p>
          <a:p xmlns:a="http://schemas.openxmlformats.org/drawingml/2006/main">
            <a:r>
              <a:t>Construimos un bloque que marca el contenido documental como datos no fiables. Eso ayuda a separar el contenido de las instrucciones, sin ser una garantía universal contra inyección. La respuesta debe citar identificadores que realmente llegaron al contexto. Filtrar IDs inventados tampoco prueba por sí solo que cada afirmación esté respaldada: vamos a abrir la fuente.</a:t>
            </a:r>
          </a:p>
          <a:p xmlns:a="http://schemas.openxmlformats.org/drawingml/2006/main">
            <a:r>
              <a:t/>
            </a:r>
          </a:p>
          <a:p xmlns:a="http://schemas.openxmlformats.org/drawingml/2006/main">
            <a:r>
              <a:t>HAZ</a:t>
            </a:r>
          </a:p>
          <a:p xmlns:a="http://schemas.openxmlformats.org/drawingml/2006/main">
            <a:r>
              <a:t>Muestra buildUntrustedDataBlock en lab/src/rag-basic.ts y el prompt en apps/api/src/lab-models.ts. Al llegar a las 19:00, cambia a la terminal aunque queden dudas conceptuales.</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El grupo conoce el flujo y está listo para observarlo en ejecución.</a:t>
            </a:r>
          </a:p>
          <a:p xmlns:a="http://schemas.openxmlformats.org/drawingml/2006/main">
            <a:r>
              <a:t/>
            </a:r>
          </a:p>
          <a:p xmlns:a="http://schemas.openxmlformats.org/drawingml/2006/main">
            <a:r>
              <a:t>SI FALLA</a:t>
            </a:r>
          </a:p>
          <a:p xmlns:a="http://schemas.openxmlformats.org/drawingml/2006/main">
            <a:r>
              <a:t>Apunta preguntas largas para las 19:50; conserva el bloque práctico de 50 minutos.</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19:00–19:05 · La misma pregunta sin documentos</a:t>
            </a:r>
          </a:p>
          <a:p xmlns:a="http://schemas.openxmlformats.org/drawingml/2006/main">
            <a:r>
              <a:t/>
            </a:r>
          </a:p>
          <a:p xmlns:a="http://schemas.openxmlformats.org/drawingml/2006/main">
            <a:r>
              <a:t>DI</a:t>
            </a:r>
          </a:p>
          <a:p xmlns:a="http://schemas.openxmlformats.org/drawingml/2006/main">
            <a:r>
              <a:t>Vamos a preguntar por el cifrado y la destrucción de claves de AetherCloud sin darle documentos. Mantenemos las instrucciones de responder solo con evidencia. Lo honesto es reconocer que faltan datos, no forzar una alucinación para que la comparación parezca más espectacular.</a:t>
            </a:r>
          </a:p>
          <a:p xmlns:a="http://schemas.openxmlformats.org/drawingml/2006/main">
            <a:r>
              <a:t/>
            </a:r>
          </a:p>
          <a:p xmlns:a="http://schemas.openxmlformats.org/drawingml/2006/main">
            <a:r>
              <a:t>HAZ</a:t>
            </a:r>
          </a:p>
          <a:p xmlns:a="http://schemas.openxmlformats.org/drawingml/2006/main">
            <a:r>
              <a:t>Ejecuta las cuatro líneas del comando baseline de abajo, incluida la asignación de pregunta. Lee suppliedDocuments: 0 y retrievalCount: 0. Haz la pregunta al grupo antes de mostrar la segunda ejecución.</a:t>
            </a:r>
          </a:p>
          <a:p xmlns:a="http://schemas.openxmlformats.org/drawingml/2006/main">
            <a:r>
              <a:t>pregunta='¿Con qué algoritmo se cifran los volúmenes en reposo y '\</a:t>
            </a:r>
          </a:p>
          <a:p xmlns:a="http://schemas.openxmlformats.org/drawingml/2006/main">
            <a:r>
              <a:t>'qué periodo de enfriamiento exige destruir una CMK?'</a:t>
            </a:r>
          </a:p>
          <a:p xmlns:a="http://schemas.openxmlformats.org/drawingml/2006/main">
            <a:r>
              <a:t>bun run lab:real baseline --question "$pregunta" \</a:t>
            </a:r>
          </a:p>
          <a:p xmlns:a="http://schemas.openxmlformats.org/drawingml/2006/main">
            <a:r>
              <a:t>  --execute --max-spend-usd 1</a:t>
            </a:r>
          </a:p>
          <a:p xmlns:a="http://schemas.openxmlformats.org/drawingml/2006/main">
            <a:r>
              <a:t/>
            </a:r>
          </a:p>
          <a:p xmlns:a="http://schemas.openxmlformats.org/drawingml/2006/main">
            <a:r>
              <a:t>COMPRUEBA</a:t>
            </a:r>
          </a:p>
          <a:p xmlns:a="http://schemas.openxmlformats.org/drawingml/2006/main">
            <a:r>
              <a:t>El ensayo guardado no aportó algoritmo ni plazo cuando el bloque de documentos estaba vacío.</a:t>
            </a:r>
          </a:p>
          <a:p xmlns:a="http://schemas.openxmlformats.org/drawingml/2006/main">
            <a:r>
              <a:t/>
            </a:r>
          </a:p>
          <a:p xmlns:a="http://schemas.openxmlformats.org/drawingml/2006/main">
            <a:r>
              <a:t>SI FALLA</a:t>
            </a:r>
          </a:p>
          <a:p xmlns:a="http://schemas.openxmlformats.org/drawingml/2006/main">
            <a:r>
              <a:t>Abre material/S10/evidencias/sin-documentos.json y aclara que es una ejecución real guardada.</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19:05–19:13 · Reconstruir el índice desde los archivos</a:t>
            </a:r>
          </a:p>
          <a:p xmlns:a="http://schemas.openxmlformats.org/drawingml/2006/main">
            <a:r>
              <a:t/>
            </a:r>
          </a:p>
          <a:p xmlns:a="http://schemas.openxmlformats.org/drawingml/2006/main">
            <a:r>
              <a:t>DI</a:t>
            </a:r>
          </a:p>
          <a:p xmlns:a="http://schemas.openxmlformats.org/drawingml/2006/main">
            <a:r>
              <a:t>Ahora reconstruimos desde los documentos, no desde respuestas precocinadas. Los embeddings se obtienen antes de vaciar la versión anterior. Después la sustitución ocurre en una transacción y se comprueban los conteos. Si falla el proveedor, se detiene; no aparece un índice simulado con la misma etiqueta.</a:t>
            </a:r>
          </a:p>
          <a:p xmlns:a="http://schemas.openxmlformats.org/drawingml/2006/main">
            <a:r>
              <a:t/>
            </a:r>
          </a:p>
          <a:p xmlns:a="http://schemas.openxmlformats.org/drawingml/2006/main">
            <a:r>
              <a:t>HAZ</a:t>
            </a:r>
          </a:p>
          <a:p xmlns:a="http://schemas.openxmlformats.org/drawingml/2006/main">
            <a:r>
              <a:t>Ejecuta rebuild y status. Abre lab/src/corpus.ts (prepareLabCorpusFromDirectory), apps/api/src/lab-models.ts (embed) y lab/src/pgvector-store.ts (rebuildFromEmptyIndex). No muestres archivos .env ni valores de claves.</a:t>
            </a:r>
          </a:p>
          <a:p xmlns:a="http://schemas.openxmlformats.org/drawingml/2006/main">
            <a:r>
              <a:t>bun run lab:real rebuild --execute --max-spend-usd 1</a:t>
            </a:r>
          </a:p>
          <a:p xmlns:a="http://schemas.openxmlformats.org/drawingml/2006/main">
            <a:r>
              <a:t>bun run lab:real status</a:t>
            </a:r>
          </a:p>
          <a:p xmlns:a="http://schemas.openxmlformats.org/drawingml/2006/main">
            <a:r>
              <a:t/>
            </a:r>
          </a:p>
          <a:p xmlns:a="http://schemas.openxmlformats.org/drawingml/2006/main">
            <a:r>
              <a:t>COMPRUEBA</a:t>
            </a:r>
          </a:p>
          <a:p xmlns:a="http://schemas.openxmlformats.org/drawingml/2006/main">
            <a:r>
              <a:t>Ves 10 documentos, 20 fragmentos, dimensions 768, pgvector y la definición real del índice HNSW.</a:t>
            </a:r>
          </a:p>
          <a:p xmlns:a="http://schemas.openxmlformats.org/drawingml/2006/main">
            <a:r>
              <a:t/>
            </a:r>
          </a:p>
          <a:p xmlns:a="http://schemas.openxmlformats.org/drawingml/2006/main">
            <a:r>
              <a:t>SI FALLA</a:t>
            </a:r>
          </a:p>
          <a:p xmlns:a="http://schemas.openxmlformats.org/drawingml/2006/main">
            <a:r>
              <a:t>Usa material/S10/evidencias/indice-real.json. Si el proveedor falla, el índice anterior sigue disponible para consultar; no repitas envíos automáticamente.</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19:13–19:23 · Consultar con recuperación real</a:t>
            </a:r>
          </a:p>
          <a:p xmlns:a="http://schemas.openxmlformats.org/drawingml/2006/main">
            <a:r>
              <a:t/>
            </a:r>
          </a:p>
          <a:p xmlns:a="http://schemas.openxmlformats.org/drawingml/2006/main">
            <a:r>
              <a:t>DI</a:t>
            </a:r>
          </a:p>
          <a:p xmlns:a="http://schemas.openxmlformats.org/drawingml/2006/main">
            <a:r>
              <a:t>Es exactamente la pregunta que antes no tenía documentos. Mira primero los candidatos y sus puntuaciones, después la respuesta. En el ensayo el fragmento de cifrado obtuvo aproximadamente 0,814 y superó 0,724767. Los vecinos por debajo del corte no entraron en el prompt.</a:t>
            </a:r>
          </a:p>
          <a:p xmlns:a="http://schemas.openxmlformats.org/drawingml/2006/main">
            <a:r>
              <a:t/>
            </a:r>
          </a:p>
          <a:p xmlns:a="http://schemas.openxmlformats.org/drawingml/2006/main">
            <a:r>
              <a:t>HAZ</a:t>
            </a:r>
          </a:p>
          <a:p xmlns:a="http://schemas.openxmlformats.org/drawingml/2006/main">
            <a:r>
              <a:t>Ejecuta las cuatro líneas de query con --brief, incluida la asignación de la misma pregunta que en baseline. Lee las columnas seleccionado y similitud; relaciona cada fila con selected en el código. Enseña la respuesta y la marca cite.</a:t>
            </a:r>
          </a:p>
          <a:p xmlns:a="http://schemas.openxmlformats.org/drawingml/2006/main">
            <a:r>
              <a:t>pregunta='¿Con qué algoritmo se cifran los volúmenes en reposo y '\</a:t>
            </a:r>
          </a:p>
          <a:p xmlns:a="http://schemas.openxmlformats.org/drawingml/2006/main">
            <a:r>
              <a:t>'qué periodo de enfriamiento exige destruir una CMK?'</a:t>
            </a:r>
          </a:p>
          <a:p xmlns:a="http://schemas.openxmlformats.org/drawingml/2006/main">
            <a:r>
              <a:t>bun run lab:real query --question "$pregunta" \</a:t>
            </a:r>
          </a:p>
          <a:p xmlns:a="http://schemas.openxmlformats.org/drawingml/2006/main">
            <a:r>
              <a:t>  --execute --max-spend-usd 1 --brief</a:t>
            </a:r>
          </a:p>
          <a:p xmlns:a="http://schemas.openxmlformats.org/drawingml/2006/main">
            <a:r>
              <a:t/>
            </a:r>
          </a:p>
          <a:p xmlns:a="http://schemas.openxmlformats.org/drawingml/2006/main">
            <a:r>
              <a:t>COMPRUEBA</a:t>
            </a:r>
          </a:p>
          <a:p xmlns:a="http://schemas.openxmlformats.org/drawingml/2006/main">
            <a:r>
              <a:t>La respuesta cita 04-almacenamiento-y-cifrado-kms:00 y contiene AES-256-GCM y 72 horas.</a:t>
            </a:r>
          </a:p>
          <a:p xmlns:a="http://schemas.openxmlformats.org/drawingml/2006/main">
            <a:r>
              <a:t/>
            </a:r>
          </a:p>
          <a:p xmlns:a="http://schemas.openxmlformats.org/drawingml/2006/main">
            <a:r>
              <a:t>SI FALLA</a:t>
            </a:r>
          </a:p>
          <a:p xmlns:a="http://schemas.openxmlformats.org/drawingml/2006/main">
            <a:r>
              <a:t>Abre material/S10/evidencias/consulta-con-fuentes.json y lab/corpus/sources/04-almacenamiento-y-cifrado-kms.md. No atribuyas las puntuaciones guardadas a una consulta nueva.</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19:23–19:30 · Abrir la fuente y verificar la afirmación</a:t>
            </a:r>
          </a:p>
          <a:p xmlns:a="http://schemas.openxmlformats.org/drawingml/2006/main">
            <a:r>
              <a:t/>
            </a:r>
          </a:p>
          <a:p xmlns:a="http://schemas.openxmlformats.org/drawingml/2006/main">
            <a:r>
              <a:t>DI</a:t>
            </a:r>
          </a:p>
          <a:p xmlns:a="http://schemas.openxmlformats.org/drawingml/2006/main">
            <a:r>
              <a:t>Una respuesta con corchetes no es una respuesta validada. Vamos a localizar el algoritmo y la condición temporal en el documento. Si el modelo añadiera otra afirmación sin soporte, la marcaríamos como error aunque el ID exista. Esta revisión humana es parte de evaluar el sistema.</a:t>
            </a:r>
          </a:p>
          <a:p xmlns:a="http://schemas.openxmlformats.org/drawingml/2006/main">
            <a:r>
              <a:t/>
            </a:r>
          </a:p>
          <a:p xmlns:a="http://schemas.openxmlformats.org/drawingml/2006/main">
            <a:r>
              <a:t>HAZ</a:t>
            </a:r>
          </a:p>
          <a:p xmlns:a="http://schemas.openxmlformats.org/drawingml/2006/main">
            <a:r>
              <a:t>Abre lab/corpus/sources/04-almacenamiento-y-cifrado-kms.md y compáralo con la respuesta. Abre lab/.local/last-query.json para ver result.retrieved, result.selected, result.citations, result.latencyMs y los tokens en operations. Antes de la siguiente consulta, copia el recibo si quieres conservarlo. Pregunta qué dato no podríamos afirmar si no estuviera en el párrafo.</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Cada afirmación señalada se encuentra en el texto recuperado. El consumo observado se diferencia de las reservas.</a:t>
            </a:r>
          </a:p>
          <a:p xmlns:a="http://schemas.openxmlformats.org/drawingml/2006/main">
            <a:r>
              <a:t/>
            </a:r>
          </a:p>
          <a:p xmlns:a="http://schemas.openxmlformats.org/drawingml/2006/main">
            <a:r>
              <a:t>SI FALLA</a:t>
            </a:r>
          </a:p>
          <a:p xmlns:a="http://schemas.openxmlformats.org/drawingml/2006/main">
            <a:r>
              <a:t>La copia del recibo está en material/S10/evidencias/consulta-con-fuentes.json.</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19:30–19:38 · Una pregunta sin respuesta documental</a:t>
            </a:r>
          </a:p>
          <a:p xmlns:a="http://schemas.openxmlformats.org/drawingml/2006/main">
            <a:r>
              <a:t/>
            </a:r>
          </a:p>
          <a:p xmlns:a="http://schemas.openxmlformats.org/drawingml/2006/main">
            <a:r>
              <a:t>DI</a:t>
            </a:r>
          </a:p>
          <a:p xmlns:a="http://schemas.openxmlformats.org/drawingml/2006/main">
            <a:r>
              <a:t>Ahora preguntamos por un precio que la documentación no incluye. La búsqueda puede devolver documentos de facturación: cercanía temática no es respuesta. En el ensayo la puntuación más alta fue 0,70153, inferior al corte. El código rechazó sin invocar al generador. Sí hubo una llamada de embeddings; no debemos decir que todo el turno fue gratis.</a:t>
            </a:r>
          </a:p>
          <a:p xmlns:a="http://schemas.openxmlformats.org/drawingml/2006/main">
            <a:r>
              <a:t/>
            </a:r>
          </a:p>
          <a:p xmlns:a="http://schemas.openxmlformats.org/drawingml/2006/main">
            <a:r>
              <a:t>HAZ</a:t>
            </a:r>
          </a:p>
          <a:p xmlns:a="http://schemas.openxmlformats.org/drawingml/2006/main">
            <a:r>
              <a:t>Ejecuta las cuatro líneas de la pregunta sin respuesta con --brief. Antes de leer la respuesta, pide al grupo que decida mirando la tabla. Abre la rama selected.length === 0 en runLabBasicRag.</a:t>
            </a:r>
          </a:p>
          <a:p xmlns:a="http://schemas.openxmlformats.org/drawingml/2006/main">
            <a:r>
              <a:t>pregunta='¿Qué coste mensual tienen las licencias de '\</a:t>
            </a:r>
          </a:p>
          <a:p xmlns:a="http://schemas.openxmlformats.org/drawingml/2006/main">
            <a:r>
              <a:t>'Windows Server 2025 en AetherCloud?'</a:t>
            </a:r>
          </a:p>
          <a:p xmlns:a="http://schemas.openxmlformats.org/drawingml/2006/main">
            <a:r>
              <a:t>bun run lab:real query --question "$pregunta" \</a:t>
            </a:r>
          </a:p>
          <a:p xmlns:a="http://schemas.openxmlformats.org/drawingml/2006/main">
            <a:r>
              <a:t>  --execute --max-spend-usd 1 --brief</a:t>
            </a:r>
          </a:p>
          <a:p xmlns:a="http://schemas.openxmlformats.org/drawingml/2006/main">
            <a:r>
              <a:t/>
            </a:r>
          </a:p>
          <a:p xmlns:a="http://schemas.openxmlformats.org/drawingml/2006/main">
            <a:r>
              <a:t>COMPRUEBA</a:t>
            </a:r>
          </a:p>
          <a:p xmlns:a="http://schemas.openxmlformats.org/drawingml/2006/main">
            <a:r>
              <a:t>Decisión refuse, fuentes vacías y generationCalled false. No se inventa el precio de una licencia.</a:t>
            </a:r>
          </a:p>
          <a:p xmlns:a="http://schemas.openxmlformats.org/drawingml/2006/main">
            <a:r>
              <a:t/>
            </a:r>
          </a:p>
          <a:p xmlns:a="http://schemas.openxmlformats.org/drawingml/2006/main">
            <a:r>
              <a:t>SI FALLA</a:t>
            </a:r>
          </a:p>
          <a:p xmlns:a="http://schemas.openxmlformats.org/drawingml/2006/main">
            <a:r>
              <a:t>Abre material/S10/evidencias/consulta-rechazada.json y muestra sus operaciones: solo embedding.</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19:38–19:42 · Filtros de grupo en el asistente del curso</a:t>
            </a:r>
          </a:p>
          <a:p xmlns:a="http://schemas.openxmlformats.org/drawingml/2006/main">
            <a:r>
              <a:t/>
            </a:r>
          </a:p>
          <a:p xmlns:a="http://schemas.openxmlformats.org/drawingml/2006/main">
            <a:r>
              <a:t>DI</a:t>
            </a:r>
          </a:p>
          <a:p xmlns:a="http://schemas.openxmlformats.org/drawingml/2006/main">
            <a:r>
              <a:t>El patrón también necesita permisos o audiencias. Nuestro laboratorio separa corpus y modelo; la aplicación del curso añade filtros de grupo. Un documento puede ser muy parecido y pertenecer a otro grupo. En el calendario definitivo S10 de L/X es el día 26, no el 21: el 21 es S9.</a:t>
            </a:r>
          </a:p>
          <a:p xmlns:a="http://schemas.openxmlformats.org/drawingml/2006/main">
            <a:r>
              <a:t/>
            </a:r>
          </a:p>
          <a:p xmlns:a="http://schemas.openxmlformats.org/drawingml/2006/main">
            <a:r>
              <a:t>HAZ</a:t>
            </a:r>
          </a:p>
          <a:p xmlns:a="http://schemas.openxmlformats.org/drawingml/2006/main">
            <a:r>
              <a:t>Abre corpus/sources/cohorts/calendario-mj.md y corpus/sources/cohorts/calendario-lx.md. Si la web está preparada, señala el selector de grupo sin iniciar consultas de pago. Abre apps/api/src/stores.ts y muestra audienceFilter y el filtro audience de queryVectorize antes de construir el contexto.</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El grupo entiende por qué el calendario L/X no puede respaldar una fecha M/J.</a:t>
            </a:r>
          </a:p>
          <a:p xmlns:a="http://schemas.openxmlformats.org/drawingml/2006/main">
            <a:r>
              <a:t/>
            </a:r>
          </a:p>
          <a:p xmlns:a="http://schemas.openxmlformats.org/drawingml/2006/main">
            <a:r>
              <a:t>SI FALLA</a:t>
            </a:r>
          </a:p>
          <a:p xmlns:a="http://schemas.openxmlformats.org/drawingml/2006/main">
            <a:r>
              <a:t>Usa directamente los dos archivos; esta parte de la clase no depende del presupuesto público.</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19:42–19:47 · Evaluar sin ajustar con el test</a:t>
            </a:r>
          </a:p>
          <a:p xmlns:a="http://schemas.openxmlformats.org/drawingml/2006/main">
            <a:r>
              <a:t/>
            </a:r>
          </a:p>
          <a:p xmlns:a="http://schemas.openxmlformats.org/drawingml/2006/main">
            <a:r>
              <a:t>DI</a:t>
            </a:r>
          </a:p>
          <a:p xmlns:a="http://schemas.openxmlformats.org/drawingml/2006/main">
            <a:r>
              <a:t>Una buena demostración no mide toda la calidad. Hemos preparado y ejecutado un lote de veinte preguntas con expectativas escritas antes. El umbral se congeló previamente con validación. Revisamos manualmente las respuestas y contamos por separado los aciertos en catorce y los rechazos en seis. Las cifras describen este corpus y esta configuración.</a:t>
            </a:r>
          </a:p>
          <a:p xmlns:a="http://schemas.openxmlformats.org/drawingml/2006/main">
            <a:r>
              <a:t/>
            </a:r>
          </a:p>
          <a:p xmlns:a="http://schemas.openxmlformats.org/drawingml/2006/main">
            <a:r>
              <a:t>HAZ</a:t>
            </a:r>
          </a:p>
          <a:p xmlns:a="http://schemas.openxmlformats.org/drawingml/2006/main">
            <a:r>
              <a:t>Abre material/S10/evidencias/evaluacion-real-resumen.md y material/S10/evidencias/evaluacion-real.json. Contrasta los casos 1 (completo) y 4 (abstención incorrecta). Lee los fallos además de los aciertos. No ejecutes las veinte llamadas de nuevo durante la clase.</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Saben distinguir evaluación real, prueba del código y respaldo offline. No se presentan 16/20 del laboratorio léxico como resultado de Sonnet.</a:t>
            </a:r>
          </a:p>
          <a:p xmlns:a="http://schemas.openxmlformats.org/drawingml/2006/main">
            <a:r>
              <a:t/>
            </a:r>
          </a:p>
          <a:p xmlns:a="http://schemas.openxmlformats.org/drawingml/2006/main">
            <a:r>
              <a:t>SI FALLA</a:t>
            </a:r>
          </a:p>
          <a:p xmlns:a="http://schemas.openxmlformats.org/drawingml/2006/main">
            <a:r>
              <a:t>Si falta una ejecución, muestra su estado pendiente y explica la limitación; nunca completes cifras inventadas.</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19:47–19:50 · La práctica que debéis entregar</a:t>
            </a:r>
          </a:p>
          <a:p xmlns:a="http://schemas.openxmlformats.org/drawingml/2006/main">
            <a:r>
              <a:t/>
            </a:r>
          </a:p>
          <a:p xmlns:a="http://schemas.openxmlformats.org/drawingml/2006/main">
            <a:r>
              <a:t>DI</a:t>
            </a:r>
          </a:p>
          <a:p xmlns:a="http://schemas.openxmlformats.org/drawingml/2006/main">
            <a:r>
              <a:t>La clase enseña el recorrido; vuestra práctica lo reconstruye en un dominio ficticio propio. Basta terminal, notebook o API. No pedimos una interfaz ni desplegar. Reservad unas cuatro a seis horas con entorno preparado. Usad validación para ajustar y escribid las expectativas del test antes de ejecutarlo.</a:t>
            </a:r>
          </a:p>
          <a:p xmlns:a="http://schemas.openxmlformats.org/drawingml/2006/main">
            <a:r>
              <a:t/>
            </a:r>
          </a:p>
          <a:p xmlns:a="http://schemas.openxmlformats.org/drawingml/2006/main">
            <a:r>
              <a:t>HAZ</a:t>
            </a:r>
          </a:p>
          <a:p xmlns:a="http://schemas.openxmlformats.org/drawingml/2006/main">
            <a:r>
              <a:t>Abre material/ejercicios/S10-enunciado.md y material/ejercicios/laboratorio-apoyo.md. Señala el ejemplo de variables y el orden preflight, rebuild, calibrate, query, eval. Explica que los nombres del proveedor y los modelos realmente usados deben quedar registrados.</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Cada alumno puede enumerar las piezas y evidencias que entregará.</a:t>
            </a:r>
          </a:p>
          <a:p xmlns:a="http://schemas.openxmlformats.org/drawingml/2006/main">
            <a:r>
              <a:t/>
            </a:r>
          </a:p>
          <a:p xmlns:a="http://schemas.openxmlformats.org/drawingml/2006/main">
            <a:r>
              <a:t>SI FALLA</a:t>
            </a:r>
          </a:p>
          <a:p xmlns:a="http://schemas.openxmlformats.org/drawingml/2006/main">
            <a:r>
              <a:t>Para problemas de instalación, remite a la guía y pide el error sin claves; no abras una instalación colectiva al final.</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19:50–19:53 · Lo que debe poder explicar un RAG</a:t>
            </a:r>
          </a:p>
          <a:p xmlns:a="http://schemas.openxmlformats.org/drawingml/2006/main">
            <a:r>
              <a:t/>
            </a:r>
          </a:p>
          <a:p xmlns:a="http://schemas.openxmlformats.org/drawingml/2006/main">
            <a:r>
              <a:t>DI</a:t>
            </a:r>
          </a:p>
          <a:p xmlns:a="http://schemas.openxmlformats.org/drawingml/2006/main">
            <a:r>
              <a:t>Repasemos el sistema sin mirar código. Indexamos cuando cambian los documentos. Consultamos con el mismo embedding, filtramos, aplicamos un corte y solo entonces generamos. Conservamos procedencia y verificamos las citas. Si falta evidencia, la aplicación controla el rechazo; no depende solo de una frase en el prompt.</a:t>
            </a:r>
          </a:p>
          <a:p xmlns:a="http://schemas.openxmlformats.org/drawingml/2006/main">
            <a:r>
              <a:t/>
            </a:r>
          </a:p>
          <a:p xmlns:a="http://schemas.openxmlformats.org/drawingml/2006/main">
            <a:r>
              <a:t>HAZ</a:t>
            </a:r>
          </a:p>
          <a:p xmlns:a="http://schemas.openxmlformats.org/drawingml/2006/main">
            <a:r>
              <a:t>Pide que alguien reconstruya oralmente el flujo. Haz una pausa entre recuperación, selección y generación.</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La explicación menciona el control previo y no confunde el generador con el índice.</a:t>
            </a:r>
          </a:p>
          <a:p xmlns:a="http://schemas.openxmlformats.org/drawingml/2006/main">
            <a:r>
              <a:t/>
            </a:r>
          </a:p>
          <a:p xmlns:a="http://schemas.openxmlformats.org/drawingml/2006/main">
            <a:r>
              <a:t>SI FALLA</a:t>
            </a:r>
          </a:p>
          <a:p xmlns:a="http://schemas.openxmlformats.org/drawingml/2006/main">
            <a:r>
              <a:t>Si falta tiempo, esta recapitulación tiene prioridad sobre el apéndice de métricas.</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19:53–19:58 · Preguntas y decisiones de diseño</a:t>
            </a:r>
          </a:p>
          <a:p xmlns:a="http://schemas.openxmlformats.org/drawingml/2006/main">
            <a:r>
              <a:t/>
            </a:r>
          </a:p>
          <a:p xmlns:a="http://schemas.openxmlformats.org/drawingml/2006/main">
            <a:r>
              <a:t>DI</a:t>
            </a:r>
          </a:p>
          <a:p xmlns:a="http://schemas.openxmlformats.org/drawingml/2006/main">
            <a:r>
              <a:t>Respondemos primero a dudas que afecten a completar el ejercicio. Para una mala respuesta, diagnostiquemos por capas: el dato quizá no estaba, se fragmentó mal, no llegó al contexto o el generador lo interpretó mal. Cambiar el modelo no arregla necesariamente la primera capa.</a:t>
            </a:r>
          </a:p>
          <a:p xmlns:a="http://schemas.openxmlformats.org/drawingml/2006/main">
            <a:r>
              <a:t/>
            </a:r>
          </a:p>
          <a:p xmlns:a="http://schemas.openxmlformats.org/drawingml/2006/main">
            <a:r>
              <a:t>HAZ</a:t>
            </a:r>
          </a:p>
          <a:p xmlns:a="http://schemas.openxmlformats.org/drawingml/2006/main">
            <a:r>
              <a:t>Recupera las preguntas anotadas. Si sale evaluación de recuperación, usa la diapositiva 24; si sale instalación individual, conserva la consulta para el soporte posterior.</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Las dudas se responden con una ruta concreta del código o una evidencia, sin prometer calidad general.</a:t>
            </a:r>
          </a:p>
          <a:p xmlns:a="http://schemas.openxmlformats.org/drawingml/2006/main">
            <a:r>
              <a:t/>
            </a:r>
          </a:p>
          <a:p xmlns:a="http://schemas.openxmlformats.org/drawingml/2006/main">
            <a:r>
              <a:t>SI FALLA</a:t>
            </a:r>
          </a:p>
          <a:p xmlns:a="http://schemas.openxmlformats.org/drawingml/2006/main">
            <a:r>
              <a:t>Para una pregunta que no podamos verificar, deja anotado qué evidencia falta.</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19:58–20:00 · El siguiente paso: CRAG</a:t>
            </a:r>
          </a:p>
          <a:p xmlns:a="http://schemas.openxmlformats.org/drawingml/2006/main">
            <a:r>
              <a:t/>
            </a:r>
          </a:p>
          <a:p xmlns:a="http://schemas.openxmlformats.org/drawingml/2006/main">
            <a:r>
              <a:t>DI</a:t>
            </a:r>
          </a:p>
          <a:p xmlns:a="http://schemas.openxmlformats.org/drawingml/2006/main">
            <a:r>
              <a:t>Hoy hicimos una búsqueda y aplicamos un corte. El martes preguntaremos si la evidencia cubre toda la pregunta, cómo conservar una parte útil y cómo buscar lo que falta con límites. No asumiremos que CRAG siempre mejora: lo compararemos. Gracias por el feedback y recordad la entrega de fuentes y resultados.</a:t>
            </a:r>
          </a:p>
          <a:p xmlns:a="http://schemas.openxmlformats.org/drawingml/2006/main">
            <a:r>
              <a:t/>
            </a:r>
          </a:p>
          <a:p xmlns:a="http://schemas.openxmlformats.org/drawingml/2006/main">
            <a:r>
              <a:t>HAZ</a:t>
            </a:r>
          </a:p>
          <a:p xmlns:a="http://schemas.openxmlformats.org/drawingml/2006/main">
            <a:r>
              <a:t>Recuerda el QR si quedó alguien pendiente. Deja visibles los enlaces al ejercicio y a la guía del laboratorio.</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Cierre a las 20:00. El grupo sabe cuándo es S11 y qué amplía respecto a S10.</a:t>
            </a:r>
          </a:p>
          <a:p xmlns:a="http://schemas.openxmlformats.org/drawingml/2006/main">
            <a:r>
              <a:t/>
            </a:r>
          </a:p>
          <a:p xmlns:a="http://schemas.openxmlformats.org/drawingml/2006/main">
            <a:r>
              <a:t>SI FALLA</a:t>
            </a:r>
          </a:p>
          <a:p xmlns:a="http://schemas.openxmlformats.org/drawingml/2006/main">
            <a:r>
              <a:t>No empieces ahora la implementación de CRAG.</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20:00–20:00 · Apéndice: medir recuperación</a:t>
            </a:r>
          </a:p>
          <a:p xmlns:a="http://schemas.openxmlformats.org/drawingml/2006/main">
            <a:r>
              <a:t/>
            </a:r>
          </a:p>
          <a:p xmlns:a="http://schemas.openxmlformats.org/drawingml/2006/main">
            <a:r>
              <a:t>DI</a:t>
            </a:r>
          </a:p>
          <a:p xmlns:a="http://schemas.openxmlformats.org/drawingml/2006/main">
            <a:r>
              <a:t>Con dos documentos relevantes esperados, recuperar solo uno puede dar Hit@k igual a uno, pero Recall@k es un medio. Los casos sin evidencia esperada requieren una métrica de rechazo separada. No confundamos que una fuente aparezca con que toda la pregunta quede cubierta.</a:t>
            </a:r>
          </a:p>
          <a:p xmlns:a="http://schemas.openxmlformats.org/drawingml/2006/main">
            <a:r>
              <a:t/>
            </a:r>
          </a:p>
          <a:p xmlns:a="http://schemas.openxmlformats.org/drawingml/2006/main">
            <a:r>
              <a:t>HAZ</a:t>
            </a:r>
          </a:p>
          <a:p xmlns:a="http://schemas.openxmlformats.org/drawingml/2006/main">
            <a:r>
              <a:t>Úsala solo como consulta durante preguntas. Ejemplo: esperados A y B; recuperados A y C.</a:t>
            </a:r>
          </a:p>
          <a:p xmlns:a="http://schemas.openxmlformats.org/drawingml/2006/main">
            <a:r>
              <a:t/>
            </a:r>
          </a:p>
          <a:p xmlns:a="http://schemas.openxmlformats.org/drawingml/2006/main">
            <a:r>
              <a:t/>
            </a:r>
          </a:p>
          <a:p xmlns:a="http://schemas.openxmlformats.org/drawingml/2006/main">
            <a:r>
              <a:t>COMPRUEBA</a:t>
            </a:r>
          </a:p>
          <a:p xmlns:a="http://schemas.openxmlformats.org/drawingml/2006/main">
            <a:r>
              <a:t>Hit=1, Recall=1/2; el ejemplo aclara el denominador.</a:t>
            </a:r>
          </a:p>
          <a:p xmlns:a="http://schemas.openxmlformats.org/drawingml/2006/main">
            <a:r>
              <a:t/>
            </a:r>
          </a:p>
          <a:p xmlns:a="http://schemas.openxmlformats.org/drawingml/2006/main">
            <a:r>
              <a:t>SI FALLA</a:t>
            </a:r>
          </a:p>
          <a:p xmlns:a="http://schemas.openxmlformats.org/drawingml/2006/main">
            <a:r>
              <a:t>Si el tiempo se agota, deja el apéndice para lectura posterior.</a:t>
            </a:r>
          </a:p>
          <a:p xmlns:a="http://schemas.openxmlformats.org/drawingml/2006/main">
            <a:r>
              <a:t/>
            </a:r>
          </a:p>
          <a:p xmlns:a="http://schemas.openxmlformats.org/drawingml/2006/main">
            <a:r>
              <a:t>FUENTES</a:t>
            </a:r>
          </a:p>
          <a:p xmlns:a="http://schemas.openxmlformats.org/drawingml/2006/main">
            <a:r>
              <a:t>Guion canónico de S10 y evidencias del ensayo local real.</a:t>
            </a:r>
          </a:p>
          <a:p xmlns:a="http://schemas.openxmlformats.org/drawingml/2006/main">
            <a:r>
              <a:t>https://github.com/pgvector/pgvector</a:t>
            </a:r>
          </a:p>
          <a:p xmlns:a="http://schemas.openxmlformats.org/drawingml/2006/main">
            <a:r>
              <a:t>https://ai-sdk.dev/providers/ai-sdk-providers/google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c64b5be67847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7856d3aa4d44c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0e0b6ebae440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c0ea72b1e444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206822620b42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439e97858740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2C5528-4FCC-443E-999F-0A03810A0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05A1F41-DC2A-4BBB-AA7C-4C55458D144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4C0418-BEE8-4AF8-BFBB-25D7B404B3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022CE9-CB1C-4005-AD55-2A9954BABF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E7991B-2416-428F-8030-B320C7FA4E6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D81C3B-FE17-42A1-8C12-961AF15E88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86CFA3-5974-46FF-9C50-5F1CDCAD11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CD11638-7836-4E44-AE2F-ECD45C1A5F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D1F8D-019B-4471-AD61-5479841693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F05456-AEA5-4FFA-91DA-045E655B02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684768c5834cd1" /><Relationship Type="http://schemas.openxmlformats.org/officeDocument/2006/relationships/slideLayout" Target="/ppt/slideLayouts/slideLayout1.xml" Id="Rd2f20fca5f8947be" /><Relationship Type="http://schemas.openxmlformats.org/officeDocument/2006/relationships/slideLayout" Target="/ppt/slideLayouts/slideLayout2.xml" Id="R32251c3372284b41" /><Relationship Type="http://schemas.openxmlformats.org/officeDocument/2006/relationships/slideLayout" Target="/ppt/slideLayouts/slideLayout3.xml" Id="Ree127b4b3d624717" /><Relationship Type="http://schemas.openxmlformats.org/officeDocument/2006/relationships/slideLayout" Target="/ppt/slideLayouts/slideLayout4.xml" Id="Rbae264bb5dfa4037" /><Relationship Type="http://schemas.openxmlformats.org/officeDocument/2006/relationships/slideLayout" Target="/ppt/slideLayouts/slideLayout5.xml" Id="R26e31082ad14426f" /><Relationship Type="http://schemas.openxmlformats.org/officeDocument/2006/relationships/slideLayout" Target="/ppt/slideLayouts/slideLayout6.xml" Id="Re75dac5c36f047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f20fca5f8947be"/>
    <p:sldLayoutId xmlns:r="http://schemas.openxmlformats.org/officeDocument/2006/relationships" id="2147483650" r:id="R32251c3372284b41"/>
    <p:sldLayoutId xmlns:r="http://schemas.openxmlformats.org/officeDocument/2006/relationships" id="2147483651" r:id="Ree127b4b3d624717"/>
    <p:sldLayoutId xmlns:r="http://schemas.openxmlformats.org/officeDocument/2006/relationships" id="2147483652" r:id="Rbae264bb5dfa4037"/>
    <p:sldLayoutId xmlns:r="http://schemas.openxmlformats.org/officeDocument/2006/relationships" id="2147483653" r:id="R26e31082ad14426f"/>
    <p:sldLayoutId xmlns:r="http://schemas.openxmlformats.org/officeDocument/2006/relationships" id="2147483654" r:id="Re75dac5c36f047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7aef7962294dfe" /><Relationship Type="http://schemas.openxmlformats.org/officeDocument/2006/relationships/image" Target="/ppt/media/image.png" Id="Rd43ab9e5a3304afa" /><Relationship Type="http://schemas.openxmlformats.org/officeDocument/2006/relationships/notesSlide" Target="/ppt/notesSlides/notesSlide1.xml" Id="R9b22be7d35da42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21af176d854224" /><Relationship Type="http://schemas.openxmlformats.org/officeDocument/2006/relationships/image" Target="/ppt/media/image.jpeg" Id="R6a43c7ef109144ec" /><Relationship Type="http://schemas.openxmlformats.org/officeDocument/2006/relationships/notesSlide" Target="/ppt/notesSlides/notesSlide2.xml" Id="R5a8ce0abb2ad40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cf0476f9f146a4" /><Relationship Type="http://schemas.openxmlformats.org/officeDocument/2006/relationships/notesSlide" Target="/ppt/notesSlides/notesSlide3.xml" Id="R49a601c1b4a54a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3000dbbc934470" /><Relationship Type="http://schemas.openxmlformats.org/officeDocument/2006/relationships/notesSlide" Target="/ppt/notesSlides/notesSlide4.xml" Id="R9fc5a825c01745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ce485193ac49f5" /><Relationship Type="http://schemas.openxmlformats.org/officeDocument/2006/relationships/notesSlide" Target="/ppt/notesSlides/notesSlide5.xml" Id="Reacd3b6131914b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de0cd402cf485f" /><Relationship Type="http://schemas.openxmlformats.org/officeDocument/2006/relationships/notesSlide" Target="/ppt/notesSlides/notesSlide6.xml" Id="R73d2a1d26f1145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76f9fdd2f534a48" /><Relationship Type="http://schemas.openxmlformats.org/officeDocument/2006/relationships/notesSlide" Target="/ppt/notesSlides/notesSlide7.xml" Id="Rafb349fda15046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bf6e51267b443c" /><Relationship Type="http://schemas.openxmlformats.org/officeDocument/2006/relationships/image" Target="/ppt/media/image2.png" Id="Re3bdc3c6e21141fd" /><Relationship Type="http://schemas.openxmlformats.org/officeDocument/2006/relationships/notesSlide" Target="/ppt/notesSlides/notesSlide8.xml" Id="Rc699c47b98f545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40bd4c873b4b91" /><Relationship Type="http://schemas.openxmlformats.org/officeDocument/2006/relationships/notesSlide" Target="/ppt/notesSlides/notesSlide9.xml" Id="R882df9108a694f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b2285d232804817" /><Relationship Type="http://schemas.openxmlformats.org/officeDocument/2006/relationships/notesSlide" Target="/ppt/notesSlides/notesSlide10.xml" Id="R6ddc2a26082c4f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4cdd4c297cf4526" /><Relationship Type="http://schemas.openxmlformats.org/officeDocument/2006/relationships/notesSlide" Target="/ppt/notesSlides/notesSlide11.xml" Id="R16f062261acc4f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ee27d170a994bf8" /><Relationship Type="http://schemas.openxmlformats.org/officeDocument/2006/relationships/notesSlide" Target="/ppt/notesSlides/notesSlide12.xml" Id="R30fab447a7244b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dbfeccefaea4485" /><Relationship Type="http://schemas.openxmlformats.org/officeDocument/2006/relationships/notesSlide" Target="/ppt/notesSlides/notesSlide13.xml" Id="R8620a0b442cb4b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48cb0075084a58" /><Relationship Type="http://schemas.openxmlformats.org/officeDocument/2006/relationships/notesSlide" Target="/ppt/notesSlides/notesSlide14.xml" Id="R4f8eef0ce31e4a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c39288a54504fbc" /><Relationship Type="http://schemas.openxmlformats.org/officeDocument/2006/relationships/notesSlide" Target="/ppt/notesSlides/notesSlide15.xml" Id="Re71d05735ceb41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fd98e9cf2e243d3" /><Relationship Type="http://schemas.openxmlformats.org/officeDocument/2006/relationships/notesSlide" Target="/ppt/notesSlides/notesSlide16.xml" Id="R95e630af0a5b43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5aa7bfb0b0d4501" /><Relationship Type="http://schemas.openxmlformats.org/officeDocument/2006/relationships/notesSlide" Target="/ppt/notesSlides/notesSlide17.xml" Id="Rec79cb0fef8c41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dd8a6fbed704c0f" /><Relationship Type="http://schemas.openxmlformats.org/officeDocument/2006/relationships/notesSlide" Target="/ppt/notesSlides/notesSlide18.xml" Id="Re055053422ca448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9fa8a9751f743dd" /><Relationship Type="http://schemas.openxmlformats.org/officeDocument/2006/relationships/notesSlide" Target="/ppt/notesSlides/notesSlide19.xml" Id="Rddd9d243fbf74b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328f1561e524cd9" /><Relationship Type="http://schemas.openxmlformats.org/officeDocument/2006/relationships/notesSlide" Target="/ppt/notesSlides/notesSlide20.xml" Id="R0880070bd64e40f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3709da0c80b40f6" /><Relationship Type="http://schemas.openxmlformats.org/officeDocument/2006/relationships/notesSlide" Target="/ppt/notesSlides/notesSlide21.xml" Id="R5fb581fcc2a445c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c87667cff904759" /><Relationship Type="http://schemas.openxmlformats.org/officeDocument/2006/relationships/notesSlide" Target="/ppt/notesSlides/notesSlide22.xml" Id="Rd0ad1c4d62af4f7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ee360d439fe4dcc" /><Relationship Type="http://schemas.openxmlformats.org/officeDocument/2006/relationships/notesSlide" Target="/ppt/notesSlides/notesSlide23.xml" Id="R65728e566abc48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573c6a13f7a491d" /><Relationship Type="http://schemas.openxmlformats.org/officeDocument/2006/relationships/notesSlide" Target="/ppt/notesSlides/notesSlide24.xml" Id="R72e42697fca54a7e" /></Relationships>
</file>

<file path=ppt/slides/slide1.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11" name="texto-0">
            <a:extLst xmlns:a="http://schemas.openxmlformats.org/drawingml/2006/main">
              <a:ext uri="{FF2B5EF4-FFF2-40B4-BE49-F238E27FC236}">
                <a16:creationId xmlns:a16="http://schemas.microsoft.com/office/drawing/2014/main" id="{C67C1A98-1E8F-4FB0-BA6D-5C2C29654023}"/>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22439B98-4E9A-4DAB-B7C4-C8F61467FA24}"/>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18:30–18:31</a:t>
            </a:r>
          </a:p>
        </p:txBody>
      </p:sp>
      <p:pic>
        <p:nvPicPr>
          <p:cNvPr id="3" name="">
            <a:extLst xmlns:a="http://schemas.openxmlformats.org/drawingml/2006/main">
              <a:ext uri="{FF2B5EF4-FFF2-40B4-BE49-F238E27FC236}">
                <a16:creationId xmlns:a16="http://schemas.microsoft.com/office/drawing/2014/main" id="{9722B16B-4917-47C0-84A3-5D0375779285}"/>
              </a:ext>
            </a:extLst>
          </p:cNvPr>
          <p:cNvPicPr>
            <a:picLocks xmlns:a="http://schemas.openxmlformats.org/drawingml/2006/main" noChangeAspect="1"/>
          </p:cNvPicPr>
          <p:nvPr/>
        </p:nvPicPr>
        <p:blipFill>
          <a:blip xmlns:r="http://schemas.openxmlformats.org/officeDocument/2006/relationships" xmlns:a="http://schemas.openxmlformats.org/drawingml/2006/main" r:embed="Rd43ab9e5a3304a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texto-2">
            <a:extLst xmlns:a="http://schemas.openxmlformats.org/drawingml/2006/main">
              <a:ext uri="{FF2B5EF4-FFF2-40B4-BE49-F238E27FC236}">
                <a16:creationId xmlns:a16="http://schemas.microsoft.com/office/drawing/2014/main" id="{57AE1737-6816-4B42-AB0E-8D2FAD243981}"/>
              </a:ext>
            </a:extLst>
          </p:cNvPr>
          <p:cNvSpPr>
            <a:spLocks xmlns:a="http://schemas.openxmlformats.org/drawingml/2006/main" noGrp="1"/>
          </p:cNvSpPr>
          <p:nvPr/>
        </p:nvSpPr>
        <p:spPr>
          <a:xfrm xmlns:a="http://schemas.openxmlformats.org/drawingml/2006/main">
            <a:off x="628650" y="52387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4DDAC8"/>
                </a:solidFill>
                <a:latin typeface="Verdana"/>
                <a:ea typeface="Verdana"/>
                <a:cs typeface="Verdana"/>
              </a:defRPr>
            </a:defPPr>
            <a:lvl1pPr>
              <a:defRPr sz="1350" b="1">
                <a:solidFill>
                  <a:srgbClr val="4DDAC8"/>
                </a:solidFill>
                <a:latin typeface="Verdana"/>
                <a:ea typeface="Verdana"/>
                <a:cs typeface="Verdana"/>
              </a:defRPr>
            </a:lvl1pPr>
            <a:lvl2pPr>
              <a:defRPr sz="1350" b="1">
                <a:solidFill>
                  <a:srgbClr val="4DDAC8"/>
                </a:solidFill>
                <a:latin typeface="Verdana"/>
                <a:ea typeface="Verdana"/>
                <a:cs typeface="Verdana"/>
              </a:defRPr>
            </a:lvl2pPr>
            <a:lvl3pPr>
              <a:defRPr sz="1350" b="1">
                <a:solidFill>
                  <a:srgbClr val="4DDAC8"/>
                </a:solidFill>
                <a:latin typeface="Verdana"/>
                <a:ea typeface="Verdana"/>
                <a:cs typeface="Verdana"/>
              </a:defRPr>
            </a:lvl3pPr>
            <a:lvl4pPr>
              <a:defRPr sz="1350" b="1">
                <a:solidFill>
                  <a:srgbClr val="4DDAC8"/>
                </a:solidFill>
                <a:latin typeface="Verdana"/>
                <a:ea typeface="Verdana"/>
                <a:cs typeface="Verdana"/>
              </a:defRPr>
            </a:lvl4pPr>
            <a:lvl5pPr>
              <a:defRPr sz="1350" b="1">
                <a:solidFill>
                  <a:srgbClr val="4DDAC8"/>
                </a:solidFill>
                <a:latin typeface="Verdana"/>
                <a:ea typeface="Verdana"/>
                <a:cs typeface="Verdana"/>
              </a:defRPr>
            </a:lvl5pPr>
            <a:lvl6pPr>
              <a:defRPr sz="1350" b="1">
                <a:solidFill>
                  <a:srgbClr val="4DDAC8"/>
                </a:solidFill>
                <a:latin typeface="Verdana"/>
                <a:ea typeface="Verdana"/>
                <a:cs typeface="Verdana"/>
              </a:defRPr>
            </a:lvl6pPr>
            <a:lvl7pPr>
              <a:defRPr sz="1350" b="1">
                <a:solidFill>
                  <a:srgbClr val="4DDAC8"/>
                </a:solidFill>
                <a:latin typeface="Verdana"/>
                <a:ea typeface="Verdana"/>
                <a:cs typeface="Verdana"/>
              </a:defRPr>
            </a:lvl7pPr>
            <a:lvl8pPr>
              <a:defRPr sz="1350" b="1">
                <a:solidFill>
                  <a:srgbClr val="4DDAC8"/>
                </a:solidFill>
                <a:latin typeface="Verdana"/>
                <a:ea typeface="Verdana"/>
                <a:cs typeface="Verdana"/>
              </a:defRPr>
            </a:lvl8pPr>
            <a:lvl9pPr>
              <a:defRPr sz="1350" b="1">
                <a:solidFill>
                  <a:srgbClr val="4DDAC8"/>
                </a:solidFill>
                <a:latin typeface="Verdana"/>
                <a:ea typeface="Verdana"/>
                <a:cs typeface="Verdana"/>
              </a:defRPr>
            </a:lvl9pPr>
          </a:lstStyle>
          <a:p xmlns:a="http://schemas.openxmlformats.org/drawingml/2006/main">
            <a:pPr>
              <a:lnSpc>
                <a:spcPct val="115000"/>
              </a:lnSpc>
              <a:buNone/>
              <a:defRPr sz="1350" b="1">
                <a:solidFill>
                  <a:srgbClr val="4DDAC8"/>
                </a:solidFill>
                <a:latin typeface="Verdana"/>
                <a:ea typeface="Verdana"/>
                <a:cs typeface="Verdana"/>
              </a:defRPr>
            </a:pPr>
            <a:r>
              <a:rPr sz="1350" b="1">
                <a:solidFill>
                  <a:srgbClr val="4DDAC8"/>
                </a:solidFill>
                <a:latin typeface="Verdana"/>
                <a:ea typeface="Verdana"/>
                <a:cs typeface="Verdana"/>
              </a:rPr>
              <a:t>S10 · AI ENGINEER</a:t>
            </a:r>
          </a:p>
        </p:txBody>
      </p:sp>
      <p:sp>
        <p:nvSpPr>
          <p:cNvPr id="5" name="texto-3">
            <a:extLst xmlns:a="http://schemas.openxmlformats.org/drawingml/2006/main">
              <a:ext uri="{FF2B5EF4-FFF2-40B4-BE49-F238E27FC236}">
                <a16:creationId xmlns:a16="http://schemas.microsoft.com/office/drawing/2014/main" id="{DC66804A-CDAA-4B6F-852D-018A213A7DBE}"/>
              </a:ext>
            </a:extLst>
          </p:cNvPr>
          <p:cNvSpPr>
            <a:spLocks xmlns:a="http://schemas.openxmlformats.org/drawingml/2006/main" noGrp="1"/>
          </p:cNvSpPr>
          <p:nvPr/>
        </p:nvSpPr>
        <p:spPr>
          <a:xfrm xmlns:a="http://schemas.openxmlformats.org/drawingml/2006/main">
            <a:off x="628650" y="142875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FFFFF"/>
                </a:solidFill>
                <a:latin typeface="Verdana"/>
                <a:ea typeface="Verdana"/>
                <a:cs typeface="Verdana"/>
              </a:defRPr>
            </a:defPPr>
            <a:lvl1pPr>
              <a:defRPr sz="5850" b="1">
                <a:solidFill>
                  <a:srgbClr val="FFFFFF"/>
                </a:solidFill>
                <a:latin typeface="Verdana"/>
                <a:ea typeface="Verdana"/>
                <a:cs typeface="Verdana"/>
              </a:defRPr>
            </a:lvl1pPr>
            <a:lvl2pPr>
              <a:defRPr sz="5850" b="1">
                <a:solidFill>
                  <a:srgbClr val="FFFFFF"/>
                </a:solidFill>
                <a:latin typeface="Verdana"/>
                <a:ea typeface="Verdana"/>
                <a:cs typeface="Verdana"/>
              </a:defRPr>
            </a:lvl2pPr>
            <a:lvl3pPr>
              <a:defRPr sz="5850" b="1">
                <a:solidFill>
                  <a:srgbClr val="FFFFFF"/>
                </a:solidFill>
                <a:latin typeface="Verdana"/>
                <a:ea typeface="Verdana"/>
                <a:cs typeface="Verdana"/>
              </a:defRPr>
            </a:lvl3pPr>
            <a:lvl4pPr>
              <a:defRPr sz="5850" b="1">
                <a:solidFill>
                  <a:srgbClr val="FFFFFF"/>
                </a:solidFill>
                <a:latin typeface="Verdana"/>
                <a:ea typeface="Verdana"/>
                <a:cs typeface="Verdana"/>
              </a:defRPr>
            </a:lvl4pPr>
            <a:lvl5pPr>
              <a:defRPr sz="5850" b="1">
                <a:solidFill>
                  <a:srgbClr val="FFFFFF"/>
                </a:solidFill>
                <a:latin typeface="Verdana"/>
                <a:ea typeface="Verdana"/>
                <a:cs typeface="Verdana"/>
              </a:defRPr>
            </a:lvl5pPr>
            <a:lvl6pPr>
              <a:defRPr sz="5850" b="1">
                <a:solidFill>
                  <a:srgbClr val="FFFFFF"/>
                </a:solidFill>
                <a:latin typeface="Verdana"/>
                <a:ea typeface="Verdana"/>
                <a:cs typeface="Verdana"/>
              </a:defRPr>
            </a:lvl6pPr>
            <a:lvl7pPr>
              <a:defRPr sz="5850" b="1">
                <a:solidFill>
                  <a:srgbClr val="FFFFFF"/>
                </a:solidFill>
                <a:latin typeface="Verdana"/>
                <a:ea typeface="Verdana"/>
                <a:cs typeface="Verdana"/>
              </a:defRPr>
            </a:lvl7pPr>
            <a:lvl8pPr>
              <a:defRPr sz="5850" b="1">
                <a:solidFill>
                  <a:srgbClr val="FFFFFF"/>
                </a:solidFill>
                <a:latin typeface="Verdana"/>
                <a:ea typeface="Verdana"/>
                <a:cs typeface="Verdana"/>
              </a:defRPr>
            </a:lvl8pPr>
            <a:lvl9pPr>
              <a:defRPr sz="5850" b="1">
                <a:solidFill>
                  <a:srgbClr val="FFFFFF"/>
                </a:solidFill>
                <a:latin typeface="Verdana"/>
                <a:ea typeface="Verdana"/>
                <a:cs typeface="Verdana"/>
              </a:defRPr>
            </a:lvl9pPr>
          </a:lstStyle>
          <a:p xmlns:a="http://schemas.openxmlformats.org/drawingml/2006/main">
            <a:pPr>
              <a:lnSpc>
                <a:spcPct val="115000"/>
              </a:lnSpc>
              <a:buNone/>
              <a:defRPr sz="5850" b="1">
                <a:solidFill>
                  <a:srgbClr val="FFFFFF"/>
                </a:solidFill>
                <a:latin typeface="Verdana"/>
                <a:ea typeface="Verdana"/>
                <a:cs typeface="Verdana"/>
              </a:defRPr>
            </a:pPr>
            <a:r>
              <a:rPr sz="5850" b="1">
                <a:solidFill>
                  <a:srgbClr val="FFFFFF"/>
                </a:solidFill>
                <a:latin typeface="Verdana"/>
                <a:ea typeface="Verdana"/>
                <a:cs typeface="Verdana"/>
              </a:rPr>
              <a:t>RAG</a:t>
            </a:r>
          </a:p>
        </p:txBody>
      </p:sp>
      <p:sp>
        <p:nvSpPr>
          <p:cNvPr id="6" name="texto-4">
            <a:extLst xmlns:a="http://schemas.openxmlformats.org/drawingml/2006/main">
              <a:ext uri="{FF2B5EF4-FFF2-40B4-BE49-F238E27FC236}">
                <a16:creationId xmlns:a16="http://schemas.microsoft.com/office/drawing/2014/main" id="{0ABE2593-2046-49BB-A1E2-9C1EFA0E9D40}"/>
              </a:ext>
            </a:extLst>
          </p:cNvPr>
          <p:cNvSpPr>
            <a:spLocks xmlns:a="http://schemas.openxmlformats.org/drawingml/2006/main" noGrp="1"/>
          </p:cNvSpPr>
          <p:nvPr/>
        </p:nvSpPr>
        <p:spPr>
          <a:xfrm xmlns:a="http://schemas.openxmlformats.org/drawingml/2006/main">
            <a:off x="628650" y="2552700"/>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Verdana"/>
                <a:ea typeface="Verdana"/>
                <a:cs typeface="Verdana"/>
              </a:defRPr>
            </a:defPPr>
            <a:lvl1pPr>
              <a:defRPr sz="3300" b="1">
                <a:solidFill>
                  <a:srgbClr val="FFFFFF"/>
                </a:solidFill>
                <a:latin typeface="Verdana"/>
                <a:ea typeface="Verdana"/>
                <a:cs typeface="Verdana"/>
              </a:defRPr>
            </a:lvl1pPr>
            <a:lvl2pPr>
              <a:defRPr sz="3300" b="1">
                <a:solidFill>
                  <a:srgbClr val="FFFFFF"/>
                </a:solidFill>
                <a:latin typeface="Verdana"/>
                <a:ea typeface="Verdana"/>
                <a:cs typeface="Verdana"/>
              </a:defRPr>
            </a:lvl2pPr>
            <a:lvl3pPr>
              <a:defRPr sz="3300" b="1">
                <a:solidFill>
                  <a:srgbClr val="FFFFFF"/>
                </a:solidFill>
                <a:latin typeface="Verdana"/>
                <a:ea typeface="Verdana"/>
                <a:cs typeface="Verdana"/>
              </a:defRPr>
            </a:lvl3pPr>
            <a:lvl4pPr>
              <a:defRPr sz="3300" b="1">
                <a:solidFill>
                  <a:srgbClr val="FFFFFF"/>
                </a:solidFill>
                <a:latin typeface="Verdana"/>
                <a:ea typeface="Verdana"/>
                <a:cs typeface="Verdana"/>
              </a:defRPr>
            </a:lvl4pPr>
            <a:lvl5pPr>
              <a:defRPr sz="3300" b="1">
                <a:solidFill>
                  <a:srgbClr val="FFFFFF"/>
                </a:solidFill>
                <a:latin typeface="Verdana"/>
                <a:ea typeface="Verdana"/>
                <a:cs typeface="Verdana"/>
              </a:defRPr>
            </a:lvl5pPr>
            <a:lvl6pPr>
              <a:defRPr sz="3300" b="1">
                <a:solidFill>
                  <a:srgbClr val="FFFFFF"/>
                </a:solidFill>
                <a:latin typeface="Verdana"/>
                <a:ea typeface="Verdana"/>
                <a:cs typeface="Verdana"/>
              </a:defRPr>
            </a:lvl6pPr>
            <a:lvl7pPr>
              <a:defRPr sz="3300" b="1">
                <a:solidFill>
                  <a:srgbClr val="FFFFFF"/>
                </a:solidFill>
                <a:latin typeface="Verdana"/>
                <a:ea typeface="Verdana"/>
                <a:cs typeface="Verdana"/>
              </a:defRPr>
            </a:lvl7pPr>
            <a:lvl8pPr>
              <a:defRPr sz="3300" b="1">
                <a:solidFill>
                  <a:srgbClr val="FFFFFF"/>
                </a:solidFill>
                <a:latin typeface="Verdana"/>
                <a:ea typeface="Verdana"/>
                <a:cs typeface="Verdana"/>
              </a:defRPr>
            </a:lvl8pPr>
            <a:lvl9pPr>
              <a:defRPr sz="3300" b="1">
                <a:solidFill>
                  <a:srgbClr val="FFFFFF"/>
                </a:solidFill>
                <a:latin typeface="Verdana"/>
                <a:ea typeface="Verdana"/>
                <a:cs typeface="Verdana"/>
              </a:defRPr>
            </a:lvl9pPr>
          </a:lstStyle>
          <a:p xmlns:a="http://schemas.openxmlformats.org/drawingml/2006/main">
            <a:pPr>
              <a:lnSpc>
                <a:spcPct val="115000"/>
              </a:lnSpc>
              <a:buNone/>
              <a:defRPr sz="3300" b="1">
                <a:solidFill>
                  <a:srgbClr val="FFFFFF"/>
                </a:solidFill>
                <a:latin typeface="Verdana"/>
                <a:ea typeface="Verdana"/>
                <a:cs typeface="Verdana"/>
              </a:defRPr>
            </a:pPr>
            <a:r>
              <a:rPr sz="3300" b="1">
                <a:solidFill>
                  <a:srgbClr val="FFFFFF"/>
                </a:solidFill>
                <a:latin typeface="Verdana"/>
                <a:ea typeface="Verdana"/>
                <a:cs typeface="Verdana"/>
              </a:rPr>
              <a:t>Chatbot con</a:t>
            </a:r>
          </a:p>
          <a:p xmlns:a="http://schemas.openxmlformats.org/drawingml/2006/main">
            <a:pPr>
              <a:lnSpc>
                <a:spcPct val="115000"/>
              </a:lnSpc>
              <a:buNone/>
              <a:defRPr sz="3300" b="1">
                <a:solidFill>
                  <a:srgbClr val="FFFFFF"/>
                </a:solidFill>
                <a:latin typeface="Verdana"/>
                <a:ea typeface="Verdana"/>
                <a:cs typeface="Verdana"/>
              </a:defRPr>
            </a:pPr>
            <a:r>
              <a:rPr sz="3300" b="1">
                <a:solidFill>
                  <a:srgbClr val="FFFFFF"/>
                </a:solidFill>
                <a:latin typeface="Verdana"/>
                <a:ea typeface="Verdana"/>
                <a:cs typeface="Verdana"/>
              </a:rPr>
              <a:t>documentación propia</a:t>
            </a:r>
          </a:p>
        </p:txBody>
      </p:sp>
      <p:sp>
        <p:nvSpPr>
          <p:cNvPr id="7" name="texto-5">
            <a:extLst xmlns:a="http://schemas.openxmlformats.org/drawingml/2006/main">
              <a:ext uri="{FF2B5EF4-FFF2-40B4-BE49-F238E27FC236}">
                <a16:creationId xmlns:a16="http://schemas.microsoft.com/office/drawing/2014/main" id="{E32AA091-8343-4280-910C-288813C9E38A}"/>
              </a:ext>
            </a:extLst>
          </p:cNvPr>
          <p:cNvSpPr>
            <a:spLocks xmlns:a="http://schemas.openxmlformats.org/drawingml/2006/main" noGrp="1"/>
          </p:cNvSpPr>
          <p:nvPr/>
        </p:nvSpPr>
        <p:spPr>
          <a:xfrm xmlns:a="http://schemas.openxmlformats.org/drawingml/2006/main">
            <a:off x="628650" y="485775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Verdana"/>
                <a:ea typeface="Verdana"/>
                <a:cs typeface="Verdana"/>
              </a:defRPr>
            </a:defPPr>
            <a:lvl1pPr>
              <a:defRPr sz="1725" b="0">
                <a:solidFill>
                  <a:srgbClr val="FFFFFF"/>
                </a:solidFill>
                <a:latin typeface="Verdana"/>
                <a:ea typeface="Verdana"/>
                <a:cs typeface="Verdana"/>
              </a:defRPr>
            </a:lvl1pPr>
            <a:lvl2pPr>
              <a:defRPr sz="1725" b="0">
                <a:solidFill>
                  <a:srgbClr val="FFFFFF"/>
                </a:solidFill>
                <a:latin typeface="Verdana"/>
                <a:ea typeface="Verdana"/>
                <a:cs typeface="Verdana"/>
              </a:defRPr>
            </a:lvl2pPr>
            <a:lvl3pPr>
              <a:defRPr sz="1725" b="0">
                <a:solidFill>
                  <a:srgbClr val="FFFFFF"/>
                </a:solidFill>
                <a:latin typeface="Verdana"/>
                <a:ea typeface="Verdana"/>
                <a:cs typeface="Verdana"/>
              </a:defRPr>
            </a:lvl3pPr>
            <a:lvl4pPr>
              <a:defRPr sz="1725" b="0">
                <a:solidFill>
                  <a:srgbClr val="FFFFFF"/>
                </a:solidFill>
                <a:latin typeface="Verdana"/>
                <a:ea typeface="Verdana"/>
                <a:cs typeface="Verdana"/>
              </a:defRPr>
            </a:lvl4pPr>
            <a:lvl5pPr>
              <a:defRPr sz="1725" b="0">
                <a:solidFill>
                  <a:srgbClr val="FFFFFF"/>
                </a:solidFill>
                <a:latin typeface="Verdana"/>
                <a:ea typeface="Verdana"/>
                <a:cs typeface="Verdana"/>
              </a:defRPr>
            </a:lvl5pPr>
            <a:lvl6pPr>
              <a:defRPr sz="1725" b="0">
                <a:solidFill>
                  <a:srgbClr val="FFFFFF"/>
                </a:solidFill>
                <a:latin typeface="Verdana"/>
                <a:ea typeface="Verdana"/>
                <a:cs typeface="Verdana"/>
              </a:defRPr>
            </a:lvl6pPr>
            <a:lvl7pPr>
              <a:defRPr sz="1725" b="0">
                <a:solidFill>
                  <a:srgbClr val="FFFFFF"/>
                </a:solidFill>
                <a:latin typeface="Verdana"/>
                <a:ea typeface="Verdana"/>
                <a:cs typeface="Verdana"/>
              </a:defRPr>
            </a:lvl7pPr>
            <a:lvl8pPr>
              <a:defRPr sz="1725" b="0">
                <a:solidFill>
                  <a:srgbClr val="FFFFFF"/>
                </a:solidFill>
                <a:latin typeface="Verdana"/>
                <a:ea typeface="Verdana"/>
                <a:cs typeface="Verdana"/>
              </a:defRPr>
            </a:lvl8pPr>
            <a:lvl9pPr>
              <a:defRPr sz="1725" b="0">
                <a:solidFill>
                  <a:srgbClr val="FFFFFF"/>
                </a:solidFill>
                <a:latin typeface="Verdana"/>
                <a:ea typeface="Verdana"/>
                <a:cs typeface="Verdana"/>
              </a:defRPr>
            </a:lvl9pPr>
          </a:lstStyle>
          <a:p xmlns:a="http://schemas.openxmlformats.org/drawingml/2006/main">
            <a:pPr>
              <a:lnSpc>
                <a:spcPct val="115000"/>
              </a:lnSpc>
              <a:buNone/>
              <a:defRPr sz="1725" b="0">
                <a:solidFill>
                  <a:srgbClr val="FFFFFF"/>
                </a:solidFill>
                <a:latin typeface="Verdana"/>
                <a:ea typeface="Verdana"/>
                <a:cs typeface="Verdana"/>
              </a:defRPr>
            </a:pPr>
            <a:r>
              <a:rPr sz="1725" b="0">
                <a:solidFill>
                  <a:srgbClr val="FFFFFF"/>
                </a:solidFill>
                <a:latin typeface="Verdana"/>
                <a:ea typeface="Verdana"/>
                <a:cs typeface="Verdana"/>
              </a:rPr>
              <a:t>José Antonio Nuevo</a:t>
            </a:r>
          </a:p>
          <a:p xmlns:a="http://schemas.openxmlformats.org/drawingml/2006/main">
            <a:pPr>
              <a:lnSpc>
                <a:spcPct val="115000"/>
              </a:lnSpc>
              <a:buNone/>
              <a:defRPr sz="1725" b="0">
                <a:solidFill>
                  <a:srgbClr val="FFFFFF"/>
                </a:solidFill>
                <a:latin typeface="Verdana"/>
                <a:ea typeface="Verdana"/>
                <a:cs typeface="Verdana"/>
              </a:defRPr>
            </a:pPr>
            <a:r>
              <a:rPr sz="1725" b="0">
                <a:solidFill>
                  <a:srgbClr val="FFFFFF"/>
                </a:solidFill>
                <a:latin typeface="Verdana"/>
                <a:ea typeface="Verdana"/>
                <a:cs typeface="Verdana"/>
              </a:rPr>
              <a:t>22 octubre 2026 · 18:30–20:00</a:t>
            </a:r>
          </a:p>
        </p:txBody>
      </p:sp>
      <p:sp>
        <p:nvSpPr>
          <p:cNvPr id="8" name="texto-6">
            <a:extLst xmlns:a="http://schemas.openxmlformats.org/drawingml/2006/main">
              <a:ext uri="{FF2B5EF4-FFF2-40B4-BE49-F238E27FC236}">
                <a16:creationId xmlns:a16="http://schemas.microsoft.com/office/drawing/2014/main" id="{D5248744-04EC-410B-B3A4-C549A0003FCE}"/>
              </a:ext>
            </a:extLst>
          </p:cNvPr>
          <p:cNvSpPr>
            <a:spLocks xmlns:a="http://schemas.openxmlformats.org/drawingml/2006/main" noGrp="1"/>
          </p:cNvSpPr>
          <p:nvPr/>
        </p:nvSpPr>
        <p:spPr>
          <a:xfrm xmlns:a="http://schemas.openxmlformats.org/drawingml/2006/main">
            <a:off x="628650" y="5924550"/>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4DDAC8"/>
                </a:solidFill>
                <a:latin typeface="Verdana"/>
                <a:ea typeface="Verdana"/>
                <a:cs typeface="Verdana"/>
              </a:defRPr>
            </a:defPPr>
            <a:lvl1pPr>
              <a:defRPr sz="1650" b="0">
                <a:solidFill>
                  <a:srgbClr val="4DDAC8"/>
                </a:solidFill>
                <a:latin typeface="Verdana"/>
                <a:ea typeface="Verdana"/>
                <a:cs typeface="Verdana"/>
              </a:defRPr>
            </a:lvl1pPr>
            <a:lvl2pPr>
              <a:defRPr sz="1650" b="0">
                <a:solidFill>
                  <a:srgbClr val="4DDAC8"/>
                </a:solidFill>
                <a:latin typeface="Verdana"/>
                <a:ea typeface="Verdana"/>
                <a:cs typeface="Verdana"/>
              </a:defRPr>
            </a:lvl2pPr>
            <a:lvl3pPr>
              <a:defRPr sz="1650" b="0">
                <a:solidFill>
                  <a:srgbClr val="4DDAC8"/>
                </a:solidFill>
                <a:latin typeface="Verdana"/>
                <a:ea typeface="Verdana"/>
                <a:cs typeface="Verdana"/>
              </a:defRPr>
            </a:lvl3pPr>
            <a:lvl4pPr>
              <a:defRPr sz="1650" b="0">
                <a:solidFill>
                  <a:srgbClr val="4DDAC8"/>
                </a:solidFill>
                <a:latin typeface="Verdana"/>
                <a:ea typeface="Verdana"/>
                <a:cs typeface="Verdana"/>
              </a:defRPr>
            </a:lvl4pPr>
            <a:lvl5pPr>
              <a:defRPr sz="1650" b="0">
                <a:solidFill>
                  <a:srgbClr val="4DDAC8"/>
                </a:solidFill>
                <a:latin typeface="Verdana"/>
                <a:ea typeface="Verdana"/>
                <a:cs typeface="Verdana"/>
              </a:defRPr>
            </a:lvl5pPr>
            <a:lvl6pPr>
              <a:defRPr sz="1650" b="0">
                <a:solidFill>
                  <a:srgbClr val="4DDAC8"/>
                </a:solidFill>
                <a:latin typeface="Verdana"/>
                <a:ea typeface="Verdana"/>
                <a:cs typeface="Verdana"/>
              </a:defRPr>
            </a:lvl6pPr>
            <a:lvl7pPr>
              <a:defRPr sz="1650" b="0">
                <a:solidFill>
                  <a:srgbClr val="4DDAC8"/>
                </a:solidFill>
                <a:latin typeface="Verdana"/>
                <a:ea typeface="Verdana"/>
                <a:cs typeface="Verdana"/>
              </a:defRPr>
            </a:lvl7pPr>
            <a:lvl8pPr>
              <a:defRPr sz="1650" b="0">
                <a:solidFill>
                  <a:srgbClr val="4DDAC8"/>
                </a:solidFill>
                <a:latin typeface="Verdana"/>
                <a:ea typeface="Verdana"/>
                <a:cs typeface="Verdana"/>
              </a:defRPr>
            </a:lvl8pPr>
            <a:lvl9pPr>
              <a:defRPr sz="1650" b="0">
                <a:solidFill>
                  <a:srgbClr val="4DDAC8"/>
                </a:solidFill>
                <a:latin typeface="Verdana"/>
                <a:ea typeface="Verdana"/>
                <a:cs typeface="Verdana"/>
              </a:defRPr>
            </a:lvl9pPr>
          </a:lstStyle>
          <a:p xmlns:a="http://schemas.openxmlformats.org/drawingml/2006/main">
            <a:pPr>
              <a:lnSpc>
                <a:spcPct val="115000"/>
              </a:lnSpc>
              <a:buNone/>
              <a:defRPr sz="1650" b="0">
                <a:solidFill>
                  <a:srgbClr val="4DDAC8"/>
                </a:solidFill>
                <a:latin typeface="Verdana"/>
                <a:ea typeface="Verdana"/>
                <a:cs typeface="Verdana"/>
              </a:defRPr>
            </a:pPr>
            <a:r>
              <a:rPr sz="1650" b="0">
                <a:solidFill>
                  <a:srgbClr val="4DDAC8"/>
                </a:solidFill>
                <a:latin typeface="Verdana"/>
                <a:ea typeface="Verdana"/>
                <a:cs typeface="Verdana"/>
              </a:rPr>
              <a:t>30 conceptos  /  50 práctica  /  10 cierre</a:t>
            </a:r>
          </a:p>
        </p:txBody>
      </p:sp>
      <p:sp>
        <p:nvSpPr>
          <p:cNvPr id="9" name="texto-7">
            <a:extLst xmlns:a="http://schemas.openxmlformats.org/drawingml/2006/main">
              <a:ext uri="{FF2B5EF4-FFF2-40B4-BE49-F238E27FC236}">
                <a16:creationId xmlns:a16="http://schemas.microsoft.com/office/drawing/2014/main" id="{1DE663BC-F28E-4ACA-BB5F-962EE13D22F1}"/>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10" name="texto-8">
            <a:extLst xmlns:a="http://schemas.openxmlformats.org/drawingml/2006/main">
              <a:ext uri="{FF2B5EF4-FFF2-40B4-BE49-F238E27FC236}">
                <a16:creationId xmlns:a16="http://schemas.microsoft.com/office/drawing/2014/main" id="{A9F8AAA7-90B8-47BF-AF0F-C220291B94D4}"/>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01 / 24</a:t>
            </a:r>
          </a:p>
        </p:txBody>
      </p:sp>
    </p:spTree>
    <p:extLst>
      <p:ext uri="{BB962C8B-B14F-4D97-AF65-F5344CB8AC3E}">
        <p14:creationId xmlns:p14="http://schemas.microsoft.com/office/powerpoint/2010/main" val="624024230"/>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69A8F283-2C2D-4914-A23B-E139496F38F0}"/>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7D28E76E-8314-4230-A7F3-275C772B3720}"/>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18:31–18:33</a:t>
            </a:r>
          </a:p>
        </p:txBody>
      </p:sp>
      <p:sp>
        <p:nvSpPr>
          <p:cNvPr id="3" name="texto-2">
            <a:extLst xmlns:a="http://schemas.openxmlformats.org/drawingml/2006/main">
              <a:ext uri="{FF2B5EF4-FFF2-40B4-BE49-F238E27FC236}">
                <a16:creationId xmlns:a16="http://schemas.microsoft.com/office/drawing/2014/main" id="{979A69E4-0DC1-4F4C-A46C-5D0250513BC1}"/>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Feedback de S9 y objetivo de hoy</a:t>
            </a:r>
          </a:p>
        </p:txBody>
      </p:sp>
      <p:sp>
        <p:nvSpPr>
          <p:cNvPr id="4" name="texto-3">
            <a:extLst xmlns:a="http://schemas.openxmlformats.org/drawingml/2006/main">
              <a:ext uri="{FF2B5EF4-FFF2-40B4-BE49-F238E27FC236}">
                <a16:creationId xmlns:a16="http://schemas.microsoft.com/office/drawing/2014/main" id="{C77D9992-2B72-4A71-975F-D62E17321B1B}"/>
              </a:ext>
            </a:extLst>
          </p:cNvPr>
          <p:cNvSpPr>
            <a:spLocks xmlns:a="http://schemas.openxmlformats.org/drawingml/2006/main" noGrp="1"/>
          </p:cNvSpPr>
          <p:nvPr/>
        </p:nvSpPr>
        <p:spPr>
          <a:xfrm xmlns:a="http://schemas.openxmlformats.org/drawingml/2006/main">
            <a:off x="609600" y="2238375"/>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Escanea el QR de AI Engineer</a:t>
            </a:r>
          </a:p>
        </p:txBody>
      </p:sp>
      <p:sp>
        <p:nvSpPr>
          <p:cNvPr id="5" name="texto-4">
            <a:extLst xmlns:a="http://schemas.openxmlformats.org/drawingml/2006/main">
              <a:ext uri="{FF2B5EF4-FFF2-40B4-BE49-F238E27FC236}">
                <a16:creationId xmlns:a16="http://schemas.microsoft.com/office/drawing/2014/main" id="{8013AC5C-C810-4DFE-953F-C219178BB68D}"/>
              </a:ext>
            </a:extLst>
          </p:cNvPr>
          <p:cNvSpPr>
            <a:spLocks xmlns:a="http://schemas.openxmlformats.org/drawingml/2006/main" noGrp="1"/>
          </p:cNvSpPr>
          <p:nvPr/>
        </p:nvSpPr>
        <p:spPr>
          <a:xfrm xmlns:a="http://schemas.openxmlformats.org/drawingml/2006/main">
            <a:off x="609600" y="3190875"/>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Evalúa S9 · PostgreSQL y pgvector · 20 de octubre</a:t>
            </a:r>
          </a:p>
        </p:txBody>
      </p:sp>
      <p:sp>
        <p:nvSpPr>
          <p:cNvPr id="6" name="texto-5">
            <a:extLst xmlns:a="http://schemas.openxmlformats.org/drawingml/2006/main">
              <a:ext uri="{FF2B5EF4-FFF2-40B4-BE49-F238E27FC236}">
                <a16:creationId xmlns:a16="http://schemas.microsoft.com/office/drawing/2014/main" id="{282B4550-53F6-41AE-917D-A95948A8A96F}"/>
              </a:ext>
            </a:extLst>
          </p:cNvPr>
          <p:cNvSpPr>
            <a:spLocks xmlns:a="http://schemas.openxmlformats.org/drawingml/2006/main" noGrp="1"/>
          </p:cNvSpPr>
          <p:nvPr/>
        </p:nvSpPr>
        <p:spPr>
          <a:xfrm xmlns:a="http://schemas.openxmlformats.org/drawingml/2006/main">
            <a:off x="609600" y="4143375"/>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Hoy: recuperar, fundamentar, citar y rechazar</a:t>
            </a:r>
          </a:p>
        </p:txBody>
      </p:sp>
      <p:pic>
        <p:nvPicPr>
          <p:cNvPr id="7" name="">
            <a:extLst xmlns:a="http://schemas.openxmlformats.org/drawingml/2006/main">
              <a:ext uri="{FF2B5EF4-FFF2-40B4-BE49-F238E27FC236}">
                <a16:creationId xmlns:a16="http://schemas.microsoft.com/office/drawing/2014/main" id="{EA14D2D6-AC54-4A9B-A457-816B87ABC168}"/>
              </a:ext>
            </a:extLst>
          </p:cNvPr>
          <p:cNvPicPr>
            <a:picLocks xmlns:a="http://schemas.openxmlformats.org/drawingml/2006/main" noChangeAspect="1"/>
          </p:cNvPicPr>
          <p:nvPr/>
        </p:nvPicPr>
        <p:blipFill>
          <a:blip xmlns:r="http://schemas.openxmlformats.org/officeDocument/2006/relationships" xmlns:a="http://schemas.openxmlformats.org/drawingml/2006/main" r:embed="R6a43c7ef109144ec"/>
          <a:stretch xmlns:a="http://schemas.openxmlformats.org/drawingml/2006/main"/>
        </p:blipFill>
        <p:spPr>
          <a:xfrm xmlns:a="http://schemas.openxmlformats.org/drawingml/2006/main">
            <a:off x="7524750" y="2095500"/>
            <a:ext cx="3714750" cy="3714750"/>
          </a:xfrm>
          <a:prstGeom xmlns:a="http://schemas.openxmlformats.org/drawingml/2006/main" prst="rect">
            <a:avLst/>
          </a:prstGeom>
        </p:spPr>
      </p:pic>
      <p:sp>
        <p:nvSpPr>
          <p:cNvPr id="8" name="texto-6">
            <a:extLst xmlns:a="http://schemas.openxmlformats.org/drawingml/2006/main">
              <a:ext uri="{FF2B5EF4-FFF2-40B4-BE49-F238E27FC236}">
                <a16:creationId xmlns:a16="http://schemas.microsoft.com/office/drawing/2014/main" id="{F4C52530-9815-4CA6-9D06-B82A1478544A}"/>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9" name="texto-7">
            <a:extLst xmlns:a="http://schemas.openxmlformats.org/drawingml/2006/main">
              <a:ext uri="{FF2B5EF4-FFF2-40B4-BE49-F238E27FC236}">
                <a16:creationId xmlns:a16="http://schemas.microsoft.com/office/drawing/2014/main" id="{3827D709-1E89-42BA-84D9-9EEFF1B7356C}"/>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02 / 24</a:t>
            </a:r>
          </a:p>
        </p:txBody>
      </p:sp>
    </p:spTree>
    <p:extLst>
      <p:ext uri="{BB962C8B-B14F-4D97-AF65-F5344CB8AC3E}">
        <p14:creationId xmlns:p14="http://schemas.microsoft.com/office/powerpoint/2010/main" val="1679658516"/>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9532A5F7-3135-4E8B-ACB6-545515C3A1C4}"/>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0704D70F-E896-45CF-8760-28607CC24D60}"/>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18:33–18:35</a:t>
            </a:r>
          </a:p>
        </p:txBody>
      </p:sp>
      <p:sp>
        <p:nvSpPr>
          <p:cNvPr id="3" name="texto-2">
            <a:extLst xmlns:a="http://schemas.openxmlformats.org/drawingml/2006/main">
              <a:ext uri="{FF2B5EF4-FFF2-40B4-BE49-F238E27FC236}">
                <a16:creationId xmlns:a16="http://schemas.microsoft.com/office/drawing/2014/main" id="{F8EEDB76-EEC0-47CC-9EB2-3F2C3238BFDC}"/>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Prompting, fine-tuning y RAG</a:t>
            </a:r>
          </a:p>
        </p:txBody>
      </p:sp>
      <p:sp>
        <p:nvSpPr>
          <p:cNvPr id="4" name="texto-3">
            <a:extLst xmlns:a="http://schemas.openxmlformats.org/drawingml/2006/main">
              <a:ext uri="{FF2B5EF4-FFF2-40B4-BE49-F238E27FC236}">
                <a16:creationId xmlns:a16="http://schemas.microsoft.com/office/drawing/2014/main" id="{A2348371-AD6F-405D-B119-93D43BE83CC1}"/>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Prompting: instrucciones y ejemplos por petición</a:t>
            </a:r>
          </a:p>
        </p:txBody>
      </p:sp>
      <p:sp>
        <p:nvSpPr>
          <p:cNvPr id="5" name="texto-4">
            <a:extLst xmlns:a="http://schemas.openxmlformats.org/drawingml/2006/main">
              <a:ext uri="{FF2B5EF4-FFF2-40B4-BE49-F238E27FC236}">
                <a16:creationId xmlns:a16="http://schemas.microsoft.com/office/drawing/2014/main" id="{0C0B569C-17A3-4D54-AE0F-EDFA4C711CD3}"/>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Fine-tuning: comportamiento aprendido o adaptadores</a:t>
            </a:r>
          </a:p>
        </p:txBody>
      </p:sp>
      <p:sp>
        <p:nvSpPr>
          <p:cNvPr id="6" name="texto-5">
            <a:extLst xmlns:a="http://schemas.openxmlformats.org/drawingml/2006/main">
              <a:ext uri="{FF2B5EF4-FFF2-40B4-BE49-F238E27FC236}">
                <a16:creationId xmlns:a16="http://schemas.microsoft.com/office/drawing/2014/main" id="{386293BE-85F2-4EA9-BC0A-7D58C79479FF}"/>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RAG: documentos recuperados durante la consulta</a:t>
            </a:r>
          </a:p>
        </p:txBody>
      </p:sp>
      <p:sp>
        <p:nvSpPr>
          <p:cNvPr id="7" name="texto-6">
            <a:extLst xmlns:a="http://schemas.openxmlformats.org/drawingml/2006/main">
              <a:ext uri="{FF2B5EF4-FFF2-40B4-BE49-F238E27FC236}">
                <a16:creationId xmlns:a16="http://schemas.microsoft.com/office/drawing/2014/main" id="{7CA90750-4E35-4547-9827-DAD9DF26172E}"/>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F9EDA838-1A64-462B-BE57-2A68E6791981}"/>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03 / 24</a:t>
            </a:r>
          </a:p>
        </p:txBody>
      </p:sp>
    </p:spTree>
    <p:extLst>
      <p:ext uri="{BB962C8B-B14F-4D97-AF65-F5344CB8AC3E}">
        <p14:creationId xmlns:p14="http://schemas.microsoft.com/office/powerpoint/2010/main" val="2136281211"/>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60E5586D-BE14-4A70-99FC-9CC2A57BF873}"/>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7AA5DC60-598C-4468-B451-2B479AC54051}"/>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18:35–18:37</a:t>
            </a:r>
          </a:p>
        </p:txBody>
      </p:sp>
      <p:sp>
        <p:nvSpPr>
          <p:cNvPr id="3" name="texto-2">
            <a:extLst xmlns:a="http://schemas.openxmlformats.org/drawingml/2006/main">
              <a:ext uri="{FF2B5EF4-FFF2-40B4-BE49-F238E27FC236}">
                <a16:creationId xmlns:a16="http://schemas.microsoft.com/office/drawing/2014/main" id="{81AFD080-103F-471B-A5B3-D031316905BC}"/>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Tres formas de aportar contexto</a:t>
            </a:r>
          </a:p>
        </p:txBody>
      </p:sp>
      <p:sp>
        <p:nvSpPr>
          <p:cNvPr id="4" name="texto-3">
            <a:extLst xmlns:a="http://schemas.openxmlformats.org/drawingml/2006/main">
              <a:ext uri="{FF2B5EF4-FFF2-40B4-BE49-F238E27FC236}">
                <a16:creationId xmlns:a16="http://schemas.microsoft.com/office/drawing/2014/main" id="{C378AA6A-676B-4978-82E3-B4FE8E7D6B3A}"/>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Contexto completo: todo el corpus autorizado si cabe</a:t>
            </a:r>
          </a:p>
        </p:txBody>
      </p:sp>
      <p:sp>
        <p:nvSpPr>
          <p:cNvPr id="5" name="texto-4">
            <a:extLst xmlns:a="http://schemas.openxmlformats.org/drawingml/2006/main">
              <a:ext uri="{FF2B5EF4-FFF2-40B4-BE49-F238E27FC236}">
                <a16:creationId xmlns:a16="http://schemas.microsoft.com/office/drawing/2014/main" id="{559296E4-7E5E-4390-8022-D6EBB2793170}"/>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RAG selectivo: búsqueda, filtros y umbral</a:t>
            </a:r>
          </a:p>
        </p:txBody>
      </p:sp>
      <p:sp>
        <p:nvSpPr>
          <p:cNvPr id="6" name="texto-5">
            <a:extLst xmlns:a="http://schemas.openxmlformats.org/drawingml/2006/main">
              <a:ext uri="{FF2B5EF4-FFF2-40B4-BE49-F238E27FC236}">
                <a16:creationId xmlns:a16="http://schemas.microsoft.com/office/drawing/2014/main" id="{C8AE0322-363F-4BDE-9E46-8D22402AEA3F}"/>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CRAG: evalúa suficiencia y corrige la búsqueda</a:t>
            </a:r>
          </a:p>
        </p:txBody>
      </p:sp>
      <p:sp>
        <p:nvSpPr>
          <p:cNvPr id="7" name="texto-6">
            <a:extLst xmlns:a="http://schemas.openxmlformats.org/drawingml/2006/main">
              <a:ext uri="{FF2B5EF4-FFF2-40B4-BE49-F238E27FC236}">
                <a16:creationId xmlns:a16="http://schemas.microsoft.com/office/drawing/2014/main" id="{5464E818-DBAB-4952-B22C-1D7AC9A0E233}"/>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12DDFE91-72C3-4FA8-8DDF-8E42211E3767}"/>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04 / 24</a:t>
            </a:r>
          </a:p>
        </p:txBody>
      </p:sp>
    </p:spTree>
    <p:extLst>
      <p:ext uri="{BB962C8B-B14F-4D97-AF65-F5344CB8AC3E}">
        <p14:creationId xmlns:p14="http://schemas.microsoft.com/office/powerpoint/2010/main" val="1736833272"/>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5D556B17-EA1F-4CEA-8C51-57C1337C3E8A}"/>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9F066106-0B7B-4F96-B0AF-086D7658382D}"/>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18:37–18:39</a:t>
            </a:r>
          </a:p>
        </p:txBody>
      </p:sp>
      <p:sp>
        <p:nvSpPr>
          <p:cNvPr id="3" name="texto-2">
            <a:extLst xmlns:a="http://schemas.openxmlformats.org/drawingml/2006/main">
              <a:ext uri="{FF2B5EF4-FFF2-40B4-BE49-F238E27FC236}">
                <a16:creationId xmlns:a16="http://schemas.microsoft.com/office/drawing/2014/main" id="{1BF3BE44-E477-4285-AF36-8DFCE829854E}"/>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El corpus delimita lo que se puede saber</a:t>
            </a:r>
          </a:p>
        </p:txBody>
      </p:sp>
      <p:sp>
        <p:nvSpPr>
          <p:cNvPr id="4" name="texto-3">
            <a:extLst xmlns:a="http://schemas.openxmlformats.org/drawingml/2006/main">
              <a:ext uri="{FF2B5EF4-FFF2-40B4-BE49-F238E27FC236}">
                <a16:creationId xmlns:a16="http://schemas.microsoft.com/office/drawing/2014/main" id="{81D702D0-8306-4D76-B506-F77FD9440475}"/>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Curso: 22 documentos, 69 fragmentos, dos grupos</a:t>
            </a:r>
          </a:p>
        </p:txBody>
      </p:sp>
      <p:sp>
        <p:nvSpPr>
          <p:cNvPr id="5" name="texto-4">
            <a:extLst xmlns:a="http://schemas.openxmlformats.org/drawingml/2006/main">
              <a:ext uri="{FF2B5EF4-FFF2-40B4-BE49-F238E27FC236}">
                <a16:creationId xmlns:a16="http://schemas.microsoft.com/office/drawing/2014/main" id="{E8190564-C272-4F63-846D-1E8C7FEA777D}"/>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Laboratorio: 10 documentos ficticios de AetherCloud</a:t>
            </a:r>
          </a:p>
        </p:txBody>
      </p:sp>
      <p:sp>
        <p:nvSpPr>
          <p:cNvPr id="6" name="texto-5">
            <a:extLst xmlns:a="http://schemas.openxmlformats.org/drawingml/2006/main">
              <a:ext uri="{FF2B5EF4-FFF2-40B4-BE49-F238E27FC236}">
                <a16:creationId xmlns:a16="http://schemas.microsoft.com/office/drawing/2014/main" id="{C55FC530-318B-4F33-BEB0-0732E5F2F8B8}"/>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Solo datos ficticios; no completamos los huecos</a:t>
            </a:r>
          </a:p>
        </p:txBody>
      </p:sp>
      <p:sp>
        <p:nvSpPr>
          <p:cNvPr id="7" name="texto-6">
            <a:extLst xmlns:a="http://schemas.openxmlformats.org/drawingml/2006/main">
              <a:ext uri="{FF2B5EF4-FFF2-40B4-BE49-F238E27FC236}">
                <a16:creationId xmlns:a16="http://schemas.microsoft.com/office/drawing/2014/main" id="{12881BDF-259A-49B7-B607-321BEBE07EF7}"/>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67705D2B-6BD8-45E1-891F-8061C358C43E}"/>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05 / 24</a:t>
            </a:r>
          </a:p>
        </p:txBody>
      </p:sp>
    </p:spTree>
    <p:extLst>
      <p:ext uri="{BB962C8B-B14F-4D97-AF65-F5344CB8AC3E}">
        <p14:creationId xmlns:p14="http://schemas.microsoft.com/office/powerpoint/2010/main" val="1207052733"/>
      </p:ext>
    </p:extLst>
  </p:cSld>
</p:sld>
</file>

<file path=ppt/slides/slide6.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A4D71C7F-52FB-4F0E-89AC-DF66726E7733}"/>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560C86A7-924F-4A2F-8337-9DB4B15FDE07}"/>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18:39–18:42</a:t>
            </a:r>
          </a:p>
        </p:txBody>
      </p:sp>
      <p:sp>
        <p:nvSpPr>
          <p:cNvPr id="3" name="texto-2">
            <a:extLst xmlns:a="http://schemas.openxmlformats.org/drawingml/2006/main">
              <a:ext uri="{FF2B5EF4-FFF2-40B4-BE49-F238E27FC236}">
                <a16:creationId xmlns:a16="http://schemas.microsoft.com/office/drawing/2014/main" id="{E2716363-27AE-4084-9139-884CD629144D}"/>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Verdana"/>
                <a:ea typeface="Verdana"/>
                <a:cs typeface="Verdana"/>
              </a:defRPr>
            </a:defPPr>
            <a:lvl1pPr>
              <a:defRPr sz="3225" b="1">
                <a:solidFill>
                  <a:srgbClr val="FFFFFF"/>
                </a:solidFill>
                <a:latin typeface="Verdana"/>
                <a:ea typeface="Verdana"/>
                <a:cs typeface="Verdana"/>
              </a:defRPr>
            </a:lvl1pPr>
            <a:lvl2pPr>
              <a:defRPr sz="3225" b="1">
                <a:solidFill>
                  <a:srgbClr val="FFFFFF"/>
                </a:solidFill>
                <a:latin typeface="Verdana"/>
                <a:ea typeface="Verdana"/>
                <a:cs typeface="Verdana"/>
              </a:defRPr>
            </a:lvl2pPr>
            <a:lvl3pPr>
              <a:defRPr sz="3225" b="1">
                <a:solidFill>
                  <a:srgbClr val="FFFFFF"/>
                </a:solidFill>
                <a:latin typeface="Verdana"/>
                <a:ea typeface="Verdana"/>
                <a:cs typeface="Verdana"/>
              </a:defRPr>
            </a:lvl3pPr>
            <a:lvl4pPr>
              <a:defRPr sz="3225" b="1">
                <a:solidFill>
                  <a:srgbClr val="FFFFFF"/>
                </a:solidFill>
                <a:latin typeface="Verdana"/>
                <a:ea typeface="Verdana"/>
                <a:cs typeface="Verdana"/>
              </a:defRPr>
            </a:lvl4pPr>
            <a:lvl5pPr>
              <a:defRPr sz="3225" b="1">
                <a:solidFill>
                  <a:srgbClr val="FFFFFF"/>
                </a:solidFill>
                <a:latin typeface="Verdana"/>
                <a:ea typeface="Verdana"/>
                <a:cs typeface="Verdana"/>
              </a:defRPr>
            </a:lvl5pPr>
            <a:lvl6pPr>
              <a:defRPr sz="3225" b="1">
                <a:solidFill>
                  <a:srgbClr val="FFFFFF"/>
                </a:solidFill>
                <a:latin typeface="Verdana"/>
                <a:ea typeface="Verdana"/>
                <a:cs typeface="Verdana"/>
              </a:defRPr>
            </a:lvl6pPr>
            <a:lvl7pPr>
              <a:defRPr sz="3225" b="1">
                <a:solidFill>
                  <a:srgbClr val="FFFFFF"/>
                </a:solidFill>
                <a:latin typeface="Verdana"/>
                <a:ea typeface="Verdana"/>
                <a:cs typeface="Verdana"/>
              </a:defRPr>
            </a:lvl7pPr>
            <a:lvl8pPr>
              <a:defRPr sz="3225" b="1">
                <a:solidFill>
                  <a:srgbClr val="FFFFFF"/>
                </a:solidFill>
                <a:latin typeface="Verdana"/>
                <a:ea typeface="Verdana"/>
                <a:cs typeface="Verdana"/>
              </a:defRPr>
            </a:lvl8pPr>
            <a:lvl9pPr>
              <a:defRPr sz="3225" b="1">
                <a:solidFill>
                  <a:srgbClr val="FFFFFF"/>
                </a:solidFill>
                <a:latin typeface="Verdana"/>
                <a:ea typeface="Verdana"/>
                <a:cs typeface="Verdana"/>
              </a:defRPr>
            </a:lvl9pPr>
          </a:lstStyle>
          <a:p xmlns:a="http://schemas.openxmlformats.org/drawingml/2006/main">
            <a:pPr>
              <a:lnSpc>
                <a:spcPct val="115000"/>
              </a:lnSpc>
              <a:buNone/>
              <a:defRPr sz="3225" b="1">
                <a:solidFill>
                  <a:srgbClr val="FFFFFF"/>
                </a:solidFill>
                <a:latin typeface="Verdana"/>
                <a:ea typeface="Verdana"/>
                <a:cs typeface="Verdana"/>
              </a:defRPr>
            </a:pPr>
            <a:r>
              <a:rPr sz="3225" b="1">
                <a:solidFill>
                  <a:srgbClr val="FFFFFF"/>
                </a:solidFill>
                <a:latin typeface="Verdana"/>
                <a:ea typeface="Verdana"/>
                <a:cs typeface="Verdana"/>
              </a:rPr>
              <a:t>Preparar una vez; consultar muchas veces</a:t>
            </a:r>
          </a:p>
        </p:txBody>
      </p:sp>
      <p:sp>
        <p:nvSpPr>
          <p:cNvPr id="4" name="texto-3">
            <a:extLst xmlns:a="http://schemas.openxmlformats.org/drawingml/2006/main">
              <a:ext uri="{FF2B5EF4-FFF2-40B4-BE49-F238E27FC236}">
                <a16:creationId xmlns:a16="http://schemas.microsoft.com/office/drawing/2014/main" id="{EA7AAF8C-DC9A-4A96-A45A-D27896D78C36}"/>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Preparación: leer, limpiar, fragmentar, embeber, guardar</a:t>
            </a:r>
          </a:p>
        </p:txBody>
      </p:sp>
      <p:sp>
        <p:nvSpPr>
          <p:cNvPr id="5" name="texto-4">
            <a:extLst xmlns:a="http://schemas.openxmlformats.org/drawingml/2006/main">
              <a:ext uri="{FF2B5EF4-FFF2-40B4-BE49-F238E27FC236}">
                <a16:creationId xmlns:a16="http://schemas.microsoft.com/office/drawing/2014/main" id="{AE59B27A-3C80-4423-9C24-0EE1D36FFB47}"/>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Consulta: embeber pregunta, buscar, seleccionar, generar</a:t>
            </a:r>
          </a:p>
        </p:txBody>
      </p:sp>
      <p:sp>
        <p:nvSpPr>
          <p:cNvPr id="6" name="texto-5">
            <a:extLst xmlns:a="http://schemas.openxmlformats.org/drawingml/2006/main">
              <a:ext uri="{FF2B5EF4-FFF2-40B4-BE49-F238E27FC236}">
                <a16:creationId xmlns:a16="http://schemas.microsoft.com/office/drawing/2014/main" id="{7D2A6091-F921-4D3E-A2D9-3379830D401F}"/>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El generador recibe texto y procedencia</a:t>
            </a:r>
          </a:p>
        </p:txBody>
      </p:sp>
      <p:sp>
        <p:nvSpPr>
          <p:cNvPr id="7" name="texto-6">
            <a:extLst xmlns:a="http://schemas.openxmlformats.org/drawingml/2006/main">
              <a:ext uri="{FF2B5EF4-FFF2-40B4-BE49-F238E27FC236}">
                <a16:creationId xmlns:a16="http://schemas.microsoft.com/office/drawing/2014/main" id="{6AD1E002-D072-4F10-83C1-C9626E7B0227}"/>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490BACF2-3A8B-4075-A912-864CCD92E093}"/>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06 / 24</a:t>
            </a:r>
          </a:p>
        </p:txBody>
      </p:sp>
    </p:spTree>
    <p:extLst>
      <p:ext uri="{BB962C8B-B14F-4D97-AF65-F5344CB8AC3E}">
        <p14:creationId xmlns:p14="http://schemas.microsoft.com/office/powerpoint/2010/main" val="94411083"/>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E60939FE-6621-4715-BF80-1574C8D16865}"/>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5455D12E-2BB3-40D5-B180-C51A3B7F163A}"/>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18:42–18:45</a:t>
            </a:r>
          </a:p>
        </p:txBody>
      </p:sp>
      <p:sp>
        <p:nvSpPr>
          <p:cNvPr id="3" name="texto-2">
            <a:extLst xmlns:a="http://schemas.openxmlformats.org/drawingml/2006/main">
              <a:ext uri="{FF2B5EF4-FFF2-40B4-BE49-F238E27FC236}">
                <a16:creationId xmlns:a16="http://schemas.microsoft.com/office/drawing/2014/main" id="{050478A2-F6D3-4B4E-8166-DE85E5E1F2CA}"/>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Fragmentación con significado y procedencia</a:t>
            </a:r>
          </a:p>
        </p:txBody>
      </p:sp>
      <p:sp>
        <p:nvSpPr>
          <p:cNvPr id="4" name="texto-3">
            <a:extLst xmlns:a="http://schemas.openxmlformats.org/drawingml/2006/main">
              <a:ext uri="{FF2B5EF4-FFF2-40B4-BE49-F238E27FC236}">
                <a16:creationId xmlns:a16="http://schemas.microsoft.com/office/drawing/2014/main" id="{BF222F6C-BBD8-4FCA-83C0-09BA8AE89556}"/>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Limpieza sin perder cifras ni identificadores</a:t>
            </a:r>
          </a:p>
        </p:txBody>
      </p:sp>
      <p:sp>
        <p:nvSpPr>
          <p:cNvPr id="5" name="texto-4">
            <a:extLst xmlns:a="http://schemas.openxmlformats.org/drawingml/2006/main">
              <a:ext uri="{FF2B5EF4-FFF2-40B4-BE49-F238E27FC236}">
                <a16:creationId xmlns:a16="http://schemas.microsoft.com/office/drawing/2014/main" id="{203D52F0-904E-47D4-BB48-8308D28A78BE}"/>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900 caracteres como máximo y 80 de solapamiento</a:t>
            </a:r>
          </a:p>
        </p:txBody>
      </p:sp>
      <p:sp>
        <p:nvSpPr>
          <p:cNvPr id="6" name="texto-5">
            <a:extLst xmlns:a="http://schemas.openxmlformats.org/drawingml/2006/main">
              <a:ext uri="{FF2B5EF4-FFF2-40B4-BE49-F238E27FC236}">
                <a16:creationId xmlns:a16="http://schemas.microsoft.com/office/drawing/2014/main" id="{A672281F-6E90-4718-A3DA-CDD65AF81C04}"/>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ID estable: versión, documento y ordinal</a:t>
            </a:r>
          </a:p>
        </p:txBody>
      </p:sp>
      <p:sp>
        <p:nvSpPr>
          <p:cNvPr id="7" name="texto-6">
            <a:extLst xmlns:a="http://schemas.openxmlformats.org/drawingml/2006/main">
              <a:ext uri="{FF2B5EF4-FFF2-40B4-BE49-F238E27FC236}">
                <a16:creationId xmlns:a16="http://schemas.microsoft.com/office/drawing/2014/main" id="{AC045AE7-AA12-4DB1-BBBB-02A212BA07E7}"/>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1758D0EC-43C5-47D9-9D6C-25EB5D030E2E}"/>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07 / 24</a:t>
            </a:r>
          </a:p>
        </p:txBody>
      </p:sp>
    </p:spTree>
    <p:extLst>
      <p:ext uri="{BB962C8B-B14F-4D97-AF65-F5344CB8AC3E}">
        <p14:creationId xmlns:p14="http://schemas.microsoft.com/office/powerpoint/2010/main" val="924344554"/>
      </p:ext>
    </p:extLst>
  </p:cSld>
</p:sld>
</file>

<file path=ppt/slides/slide8.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0E62075F-3E0B-42BC-AE09-F45DF8270FAA}"/>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9AB4D280-227B-4EFE-90A1-C9290D13539B}"/>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18:45–18:48</a:t>
            </a:r>
          </a:p>
        </p:txBody>
      </p:sp>
      <p:sp>
        <p:nvSpPr>
          <p:cNvPr id="3" name="texto-2">
            <a:extLst xmlns:a="http://schemas.openxmlformats.org/drawingml/2006/main">
              <a:ext uri="{FF2B5EF4-FFF2-40B4-BE49-F238E27FC236}">
                <a16:creationId xmlns:a16="http://schemas.microsoft.com/office/drawing/2014/main" id="{A8C60E98-F6A6-434E-8310-B87444D5BD20}"/>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Verdana"/>
                <a:ea typeface="Verdana"/>
                <a:cs typeface="Verdana"/>
              </a:defRPr>
            </a:defPPr>
            <a:lvl1pPr>
              <a:defRPr sz="3225" b="1">
                <a:solidFill>
                  <a:srgbClr val="FFFFFF"/>
                </a:solidFill>
                <a:latin typeface="Verdana"/>
                <a:ea typeface="Verdana"/>
                <a:cs typeface="Verdana"/>
              </a:defRPr>
            </a:lvl1pPr>
            <a:lvl2pPr>
              <a:defRPr sz="3225" b="1">
                <a:solidFill>
                  <a:srgbClr val="FFFFFF"/>
                </a:solidFill>
                <a:latin typeface="Verdana"/>
                <a:ea typeface="Verdana"/>
                <a:cs typeface="Verdana"/>
              </a:defRPr>
            </a:lvl2pPr>
            <a:lvl3pPr>
              <a:defRPr sz="3225" b="1">
                <a:solidFill>
                  <a:srgbClr val="FFFFFF"/>
                </a:solidFill>
                <a:latin typeface="Verdana"/>
                <a:ea typeface="Verdana"/>
                <a:cs typeface="Verdana"/>
              </a:defRPr>
            </a:lvl3pPr>
            <a:lvl4pPr>
              <a:defRPr sz="3225" b="1">
                <a:solidFill>
                  <a:srgbClr val="FFFFFF"/>
                </a:solidFill>
                <a:latin typeface="Verdana"/>
                <a:ea typeface="Verdana"/>
                <a:cs typeface="Verdana"/>
              </a:defRPr>
            </a:lvl4pPr>
            <a:lvl5pPr>
              <a:defRPr sz="3225" b="1">
                <a:solidFill>
                  <a:srgbClr val="FFFFFF"/>
                </a:solidFill>
                <a:latin typeface="Verdana"/>
                <a:ea typeface="Verdana"/>
                <a:cs typeface="Verdana"/>
              </a:defRPr>
            </a:lvl5pPr>
            <a:lvl6pPr>
              <a:defRPr sz="3225" b="1">
                <a:solidFill>
                  <a:srgbClr val="FFFFFF"/>
                </a:solidFill>
                <a:latin typeface="Verdana"/>
                <a:ea typeface="Verdana"/>
                <a:cs typeface="Verdana"/>
              </a:defRPr>
            </a:lvl6pPr>
            <a:lvl7pPr>
              <a:defRPr sz="3225" b="1">
                <a:solidFill>
                  <a:srgbClr val="FFFFFF"/>
                </a:solidFill>
                <a:latin typeface="Verdana"/>
                <a:ea typeface="Verdana"/>
                <a:cs typeface="Verdana"/>
              </a:defRPr>
            </a:lvl7pPr>
            <a:lvl8pPr>
              <a:defRPr sz="3225" b="1">
                <a:solidFill>
                  <a:srgbClr val="FFFFFF"/>
                </a:solidFill>
                <a:latin typeface="Verdana"/>
                <a:ea typeface="Verdana"/>
                <a:cs typeface="Verdana"/>
              </a:defRPr>
            </a:lvl8pPr>
            <a:lvl9pPr>
              <a:defRPr sz="3225" b="1">
                <a:solidFill>
                  <a:srgbClr val="FFFFFF"/>
                </a:solidFill>
                <a:latin typeface="Verdana"/>
                <a:ea typeface="Verdana"/>
                <a:cs typeface="Verdana"/>
              </a:defRPr>
            </a:lvl9pPr>
          </a:lstStyle>
          <a:p xmlns:a="http://schemas.openxmlformats.org/drawingml/2006/main">
            <a:pPr>
              <a:lnSpc>
                <a:spcPct val="115000"/>
              </a:lnSpc>
              <a:buNone/>
              <a:defRPr sz="3225" b="1">
                <a:solidFill>
                  <a:srgbClr val="FFFFFF"/>
                </a:solidFill>
                <a:latin typeface="Verdana"/>
                <a:ea typeface="Verdana"/>
                <a:cs typeface="Verdana"/>
              </a:defRPr>
            </a:pPr>
            <a:r>
              <a:rPr sz="3225" b="1">
                <a:solidFill>
                  <a:srgbClr val="FFFFFF"/>
                </a:solidFill>
                <a:latin typeface="Verdana"/>
                <a:ea typeface="Verdana"/>
                <a:cs typeface="Verdana"/>
              </a:rPr>
              <a:t>Embeddings compatibles</a:t>
            </a:r>
          </a:p>
        </p:txBody>
      </p:sp>
      <p:sp>
        <p:nvSpPr>
          <p:cNvPr id="4" name="texto-3">
            <a:extLst xmlns:a="http://schemas.openxmlformats.org/drawingml/2006/main">
              <a:ext uri="{FF2B5EF4-FFF2-40B4-BE49-F238E27FC236}">
                <a16:creationId xmlns:a16="http://schemas.microsoft.com/office/drawing/2014/main" id="{FDF69C70-1DAF-466D-89D0-89C616EC381D}"/>
              </a:ext>
            </a:extLst>
          </p:cNvPr>
          <p:cNvSpPr>
            <a:spLocks xmlns:a="http://schemas.openxmlformats.org/drawingml/2006/main" noGrp="1"/>
          </p:cNvSpPr>
          <p:nvPr/>
        </p:nvSpPr>
        <p:spPr>
          <a:xfrm xmlns:a="http://schemas.openxmlformats.org/drawingml/2006/main">
            <a:off x="609600" y="2238375"/>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Gemini Embedding 2 real · 768 dimensiones en lab/</a:t>
            </a:r>
          </a:p>
        </p:txBody>
      </p:sp>
      <p:sp>
        <p:nvSpPr>
          <p:cNvPr id="5" name="texto-4">
            <a:extLst xmlns:a="http://schemas.openxmlformats.org/drawingml/2006/main">
              <a:ext uri="{FF2B5EF4-FFF2-40B4-BE49-F238E27FC236}">
                <a16:creationId xmlns:a16="http://schemas.microsoft.com/office/drawing/2014/main" id="{DCE2714A-43EF-4C28-B5BA-14A16930765A}"/>
              </a:ext>
            </a:extLst>
          </p:cNvPr>
          <p:cNvSpPr>
            <a:spLocks xmlns:a="http://schemas.openxmlformats.org/drawingml/2006/main" noGrp="1"/>
          </p:cNvSpPr>
          <p:nvPr/>
        </p:nvSpPr>
        <p:spPr>
          <a:xfrm xmlns:a="http://schemas.openxmlformats.org/drawingml/2006/main">
            <a:off x="609600" y="3190875"/>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Mismo modelo, proveedor y dimensión para consultar</a:t>
            </a:r>
          </a:p>
        </p:txBody>
      </p:sp>
      <p:sp>
        <p:nvSpPr>
          <p:cNvPr id="6" name="texto-5">
            <a:extLst xmlns:a="http://schemas.openxmlformats.org/drawingml/2006/main">
              <a:ext uri="{FF2B5EF4-FFF2-40B4-BE49-F238E27FC236}">
                <a16:creationId xmlns:a16="http://schemas.microsoft.com/office/drawing/2014/main" id="{F04352C9-305B-4342-85FC-ED9892D04FF8}"/>
              </a:ext>
            </a:extLst>
          </p:cNvPr>
          <p:cNvSpPr>
            <a:spLocks xmlns:a="http://schemas.openxmlformats.org/drawingml/2006/main" noGrp="1"/>
          </p:cNvSpPr>
          <p:nvPr/>
        </p:nvSpPr>
        <p:spPr>
          <a:xfrm xmlns:a="http://schemas.openxmlformats.org/drawingml/2006/main">
            <a:off x="609600" y="4143375"/>
            <a:ext cx="609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El parecido no demuestra veracidad ni suficiencia</a:t>
            </a:r>
          </a:p>
        </p:txBody>
      </p:sp>
      <p:pic>
        <p:nvPicPr>
          <p:cNvPr id="7" name="">
            <a:extLst xmlns:a="http://schemas.openxmlformats.org/drawingml/2006/main">
              <a:ext uri="{FF2B5EF4-FFF2-40B4-BE49-F238E27FC236}">
                <a16:creationId xmlns:a16="http://schemas.microsoft.com/office/drawing/2014/main" id="{C0C9E551-11EE-4753-95F0-D6C0322D2E56}"/>
              </a:ext>
            </a:extLst>
          </p:cNvPr>
          <p:cNvPicPr>
            <a:picLocks xmlns:a="http://schemas.openxmlformats.org/drawingml/2006/main" noChangeAspect="1"/>
          </p:cNvPicPr>
          <p:nvPr/>
        </p:nvPicPr>
        <p:blipFill>
          <a:blip xmlns:r="http://schemas.openxmlformats.org/officeDocument/2006/relationships" xmlns:a="http://schemas.openxmlformats.org/drawingml/2006/main" r:embed="Re3bdc3c6e21141fd"/>
          <a:stretch xmlns:a="http://schemas.openxmlformats.org/drawingml/2006/main"/>
        </p:blipFill>
        <p:spPr>
          <a:xfrm xmlns:a="http://schemas.openxmlformats.org/drawingml/2006/main">
            <a:off x="7239000" y="2393156"/>
            <a:ext cx="4286250" cy="3214688"/>
          </a:xfrm>
          <a:prstGeom xmlns:a="http://schemas.openxmlformats.org/drawingml/2006/main" prst="rect">
            <a:avLst/>
          </a:prstGeom>
        </p:spPr>
      </p:pic>
      <p:sp>
        <p:nvSpPr>
          <p:cNvPr id="8" name="texto-6">
            <a:extLst xmlns:a="http://schemas.openxmlformats.org/drawingml/2006/main">
              <a:ext uri="{FF2B5EF4-FFF2-40B4-BE49-F238E27FC236}">
                <a16:creationId xmlns:a16="http://schemas.microsoft.com/office/drawing/2014/main" id="{C8E22D27-B773-4CF9-AAE5-ECFF5565CF25}"/>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9" name="texto-7">
            <a:extLst xmlns:a="http://schemas.openxmlformats.org/drawingml/2006/main">
              <a:ext uri="{FF2B5EF4-FFF2-40B4-BE49-F238E27FC236}">
                <a16:creationId xmlns:a16="http://schemas.microsoft.com/office/drawing/2014/main" id="{5C291C81-56C4-456F-A316-FAC3A5669848}"/>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08 / 24</a:t>
            </a:r>
          </a:p>
        </p:txBody>
      </p:sp>
    </p:spTree>
    <p:extLst>
      <p:ext uri="{BB962C8B-B14F-4D97-AF65-F5344CB8AC3E}">
        <p14:creationId xmlns:p14="http://schemas.microsoft.com/office/powerpoint/2010/main" val="1567136222"/>
      </p:ext>
    </p:extLst>
  </p:cSld>
</p:sld>
</file>

<file path=ppt/slides/slide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E60D8323-C472-4E36-8CAF-2D22BA75594C}"/>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8F8A1CBA-FE90-4A34-B051-2ABCF6754769}"/>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18:48–18:51</a:t>
            </a:r>
          </a:p>
        </p:txBody>
      </p:sp>
      <p:sp>
        <p:nvSpPr>
          <p:cNvPr id="3" name="texto-2">
            <a:extLst xmlns:a="http://schemas.openxmlformats.org/drawingml/2006/main">
              <a:ext uri="{FF2B5EF4-FFF2-40B4-BE49-F238E27FC236}">
                <a16:creationId xmlns:a16="http://schemas.microsoft.com/office/drawing/2014/main" id="{414555ED-5F1A-494E-96DF-ADE3AB0A20A8}"/>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PostgreSQL, pgvector y HNSW</a:t>
            </a:r>
          </a:p>
        </p:txBody>
      </p:sp>
      <p:sp>
        <p:nvSpPr>
          <p:cNvPr id="4" name="texto-3">
            <a:extLst xmlns:a="http://schemas.openxmlformats.org/drawingml/2006/main">
              <a:ext uri="{FF2B5EF4-FFF2-40B4-BE49-F238E27FC236}">
                <a16:creationId xmlns:a16="http://schemas.microsoft.com/office/drawing/2014/main" id="{B8F7F45C-5F4B-43BC-922C-CAACB64A7844}"/>
              </a:ext>
            </a:extLst>
          </p:cNvPr>
          <p:cNvSpPr>
            <a:spLocks xmlns:a="http://schemas.openxmlformats.org/drawingml/2006/main" noGrp="1"/>
          </p:cNvSpPr>
          <p:nvPr/>
        </p:nvSpPr>
        <p:spPr>
          <a:xfrm xmlns:a="http://schemas.openxmlformats.org/drawingml/2006/main">
            <a:off x="609600" y="2238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D39"/>
                </a:solidFill>
                <a:latin typeface="Verdana"/>
                <a:ea typeface="Verdana"/>
                <a:cs typeface="Verdana"/>
              </a:defRPr>
            </a:defPPr>
            <a:lvl1pPr>
              <a:defRPr sz="1875" b="0">
                <a:solidFill>
                  <a:srgbClr val="102D39"/>
                </a:solidFill>
                <a:latin typeface="Verdana"/>
                <a:ea typeface="Verdana"/>
                <a:cs typeface="Verdana"/>
              </a:defRPr>
            </a:lvl1pPr>
            <a:lvl2pPr>
              <a:defRPr sz="1875" b="0">
                <a:solidFill>
                  <a:srgbClr val="102D39"/>
                </a:solidFill>
                <a:latin typeface="Verdana"/>
                <a:ea typeface="Verdana"/>
                <a:cs typeface="Verdana"/>
              </a:defRPr>
            </a:lvl2pPr>
            <a:lvl3pPr>
              <a:defRPr sz="1875" b="0">
                <a:solidFill>
                  <a:srgbClr val="102D39"/>
                </a:solidFill>
                <a:latin typeface="Verdana"/>
                <a:ea typeface="Verdana"/>
                <a:cs typeface="Verdana"/>
              </a:defRPr>
            </a:lvl3pPr>
            <a:lvl4pPr>
              <a:defRPr sz="1875" b="0">
                <a:solidFill>
                  <a:srgbClr val="102D39"/>
                </a:solidFill>
                <a:latin typeface="Verdana"/>
                <a:ea typeface="Verdana"/>
                <a:cs typeface="Verdana"/>
              </a:defRPr>
            </a:lvl4pPr>
            <a:lvl5pPr>
              <a:defRPr sz="1875" b="0">
                <a:solidFill>
                  <a:srgbClr val="102D39"/>
                </a:solidFill>
                <a:latin typeface="Verdana"/>
                <a:ea typeface="Verdana"/>
                <a:cs typeface="Verdana"/>
              </a:defRPr>
            </a:lvl5pPr>
            <a:lvl6pPr>
              <a:defRPr sz="1875" b="0">
                <a:solidFill>
                  <a:srgbClr val="102D39"/>
                </a:solidFill>
                <a:latin typeface="Verdana"/>
                <a:ea typeface="Verdana"/>
                <a:cs typeface="Verdana"/>
              </a:defRPr>
            </a:lvl6pPr>
            <a:lvl7pPr>
              <a:defRPr sz="1875" b="0">
                <a:solidFill>
                  <a:srgbClr val="102D39"/>
                </a:solidFill>
                <a:latin typeface="Verdana"/>
                <a:ea typeface="Verdana"/>
                <a:cs typeface="Verdana"/>
              </a:defRPr>
            </a:lvl7pPr>
            <a:lvl8pPr>
              <a:defRPr sz="1875" b="0">
                <a:solidFill>
                  <a:srgbClr val="102D39"/>
                </a:solidFill>
                <a:latin typeface="Verdana"/>
                <a:ea typeface="Verdana"/>
                <a:cs typeface="Verdana"/>
              </a:defRPr>
            </a:lvl8pPr>
            <a:lvl9pPr>
              <a:defRPr sz="1875" b="0">
                <a:solidFill>
                  <a:srgbClr val="102D39"/>
                </a:solidFill>
                <a:latin typeface="Verdana"/>
                <a:ea typeface="Verdana"/>
                <a:cs typeface="Verdana"/>
              </a:defRPr>
            </a:lvl9pPr>
          </a:lstStyle>
          <a:p xmlns:a="http://schemas.openxmlformats.org/drawingml/2006/main">
            <a:pPr>
              <a:lnSpc>
                <a:spcPct val="115000"/>
              </a:lnSpc>
              <a:buNone/>
              <a:defRPr sz="1875" b="0">
                <a:solidFill>
                  <a:srgbClr val="102D39"/>
                </a:solidFill>
                <a:latin typeface="Verdana"/>
                <a:ea typeface="Verdana"/>
                <a:cs typeface="Verdana"/>
              </a:defRPr>
            </a:pPr>
            <a:r>
              <a:rPr sz="1875" b="0">
                <a:solidFill>
                  <a:srgbClr val="102D39"/>
                </a:solidFill>
                <a:latin typeface="Verdana"/>
                <a:ea typeface="Verdana"/>
                <a:cs typeface="Verdana"/>
              </a:rPr>
              <a:t>vector(768) almacena cada representación</a:t>
            </a:r>
          </a:p>
        </p:txBody>
      </p:sp>
      <p:sp>
        <p:nvSpPr>
          <p:cNvPr id="5" name="texto-4">
            <a:extLst xmlns:a="http://schemas.openxmlformats.org/drawingml/2006/main">
              <a:ext uri="{FF2B5EF4-FFF2-40B4-BE49-F238E27FC236}">
                <a16:creationId xmlns:a16="http://schemas.microsoft.com/office/drawing/2014/main" id="{9DABE1E8-D98F-41A8-99C9-8CCB4CFEC673}"/>
              </a:ext>
            </a:extLst>
          </p:cNvPr>
          <p:cNvSpPr>
            <a:spLocks xmlns:a="http://schemas.openxmlformats.org/drawingml/2006/main" noGrp="1"/>
          </p:cNvSpPr>
          <p:nvPr/>
        </p:nvSpPr>
        <p:spPr>
          <a:xfrm xmlns:a="http://schemas.openxmlformats.org/drawingml/2006/main">
            <a:off x="609600" y="28289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D39"/>
                </a:solidFill>
                <a:latin typeface="Verdana"/>
                <a:ea typeface="Verdana"/>
                <a:cs typeface="Verdana"/>
              </a:defRPr>
            </a:defPPr>
            <a:lvl1pPr>
              <a:defRPr sz="1875" b="0">
                <a:solidFill>
                  <a:srgbClr val="102D39"/>
                </a:solidFill>
                <a:latin typeface="Verdana"/>
                <a:ea typeface="Verdana"/>
                <a:cs typeface="Verdana"/>
              </a:defRPr>
            </a:lvl1pPr>
            <a:lvl2pPr>
              <a:defRPr sz="1875" b="0">
                <a:solidFill>
                  <a:srgbClr val="102D39"/>
                </a:solidFill>
                <a:latin typeface="Verdana"/>
                <a:ea typeface="Verdana"/>
                <a:cs typeface="Verdana"/>
              </a:defRPr>
            </a:lvl2pPr>
            <a:lvl3pPr>
              <a:defRPr sz="1875" b="0">
                <a:solidFill>
                  <a:srgbClr val="102D39"/>
                </a:solidFill>
                <a:latin typeface="Verdana"/>
                <a:ea typeface="Verdana"/>
                <a:cs typeface="Verdana"/>
              </a:defRPr>
            </a:lvl3pPr>
            <a:lvl4pPr>
              <a:defRPr sz="1875" b="0">
                <a:solidFill>
                  <a:srgbClr val="102D39"/>
                </a:solidFill>
                <a:latin typeface="Verdana"/>
                <a:ea typeface="Verdana"/>
                <a:cs typeface="Verdana"/>
              </a:defRPr>
            </a:lvl4pPr>
            <a:lvl5pPr>
              <a:defRPr sz="1875" b="0">
                <a:solidFill>
                  <a:srgbClr val="102D39"/>
                </a:solidFill>
                <a:latin typeface="Verdana"/>
                <a:ea typeface="Verdana"/>
                <a:cs typeface="Verdana"/>
              </a:defRPr>
            </a:lvl5pPr>
            <a:lvl6pPr>
              <a:defRPr sz="1875" b="0">
                <a:solidFill>
                  <a:srgbClr val="102D39"/>
                </a:solidFill>
                <a:latin typeface="Verdana"/>
                <a:ea typeface="Verdana"/>
                <a:cs typeface="Verdana"/>
              </a:defRPr>
            </a:lvl6pPr>
            <a:lvl7pPr>
              <a:defRPr sz="1875" b="0">
                <a:solidFill>
                  <a:srgbClr val="102D39"/>
                </a:solidFill>
                <a:latin typeface="Verdana"/>
                <a:ea typeface="Verdana"/>
                <a:cs typeface="Verdana"/>
              </a:defRPr>
            </a:lvl7pPr>
            <a:lvl8pPr>
              <a:defRPr sz="1875" b="0">
                <a:solidFill>
                  <a:srgbClr val="102D39"/>
                </a:solidFill>
                <a:latin typeface="Verdana"/>
                <a:ea typeface="Verdana"/>
                <a:cs typeface="Verdana"/>
              </a:defRPr>
            </a:lvl8pPr>
            <a:lvl9pPr>
              <a:defRPr sz="1875" b="0">
                <a:solidFill>
                  <a:srgbClr val="102D39"/>
                </a:solidFill>
                <a:latin typeface="Verdana"/>
                <a:ea typeface="Verdana"/>
                <a:cs typeface="Verdana"/>
              </a:defRPr>
            </a:lvl9pPr>
          </a:lstStyle>
          <a:p xmlns:a="http://schemas.openxmlformats.org/drawingml/2006/main">
            <a:pPr>
              <a:lnSpc>
                <a:spcPct val="115000"/>
              </a:lnSpc>
              <a:buNone/>
              <a:defRPr sz="1875" b="0">
                <a:solidFill>
                  <a:srgbClr val="102D39"/>
                </a:solidFill>
                <a:latin typeface="Verdana"/>
                <a:ea typeface="Verdana"/>
                <a:cs typeface="Verdana"/>
              </a:defRPr>
            </a:pPr>
            <a:r>
              <a:rPr sz="1875" b="0">
                <a:solidFill>
                  <a:srgbClr val="102D39"/>
                </a:solidFill>
                <a:latin typeface="Verdana"/>
                <a:ea typeface="Verdana"/>
                <a:cs typeface="Verdana"/>
              </a:rPr>
              <a:t>&lt;=&gt; mide distancia coseno: menor es más próximo</a:t>
            </a:r>
          </a:p>
        </p:txBody>
      </p:sp>
      <p:sp>
        <p:nvSpPr>
          <p:cNvPr id="6" name="texto-5">
            <a:extLst xmlns:a="http://schemas.openxmlformats.org/drawingml/2006/main">
              <a:ext uri="{FF2B5EF4-FFF2-40B4-BE49-F238E27FC236}">
                <a16:creationId xmlns:a16="http://schemas.microsoft.com/office/drawing/2014/main" id="{5F08C1DA-2006-4DDE-8738-07CD30DA3724}"/>
              </a:ext>
            </a:extLst>
          </p:cNvPr>
          <p:cNvSpPr>
            <a:spLocks xmlns:a="http://schemas.openxmlformats.org/drawingml/2006/main" noGrp="1"/>
          </p:cNvSpPr>
          <p:nvPr/>
        </p:nvSpPr>
        <p:spPr>
          <a:xfrm xmlns:a="http://schemas.openxmlformats.org/drawingml/2006/main">
            <a:off x="609600" y="34194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D39"/>
                </a:solidFill>
                <a:latin typeface="Verdana"/>
                <a:ea typeface="Verdana"/>
                <a:cs typeface="Verdana"/>
              </a:defRPr>
            </a:defPPr>
            <a:lvl1pPr>
              <a:defRPr sz="1875" b="0">
                <a:solidFill>
                  <a:srgbClr val="102D39"/>
                </a:solidFill>
                <a:latin typeface="Verdana"/>
                <a:ea typeface="Verdana"/>
                <a:cs typeface="Verdana"/>
              </a:defRPr>
            </a:lvl1pPr>
            <a:lvl2pPr>
              <a:defRPr sz="1875" b="0">
                <a:solidFill>
                  <a:srgbClr val="102D39"/>
                </a:solidFill>
                <a:latin typeface="Verdana"/>
                <a:ea typeface="Verdana"/>
                <a:cs typeface="Verdana"/>
              </a:defRPr>
            </a:lvl2pPr>
            <a:lvl3pPr>
              <a:defRPr sz="1875" b="0">
                <a:solidFill>
                  <a:srgbClr val="102D39"/>
                </a:solidFill>
                <a:latin typeface="Verdana"/>
                <a:ea typeface="Verdana"/>
                <a:cs typeface="Verdana"/>
              </a:defRPr>
            </a:lvl3pPr>
            <a:lvl4pPr>
              <a:defRPr sz="1875" b="0">
                <a:solidFill>
                  <a:srgbClr val="102D39"/>
                </a:solidFill>
                <a:latin typeface="Verdana"/>
                <a:ea typeface="Verdana"/>
                <a:cs typeface="Verdana"/>
              </a:defRPr>
            </a:lvl4pPr>
            <a:lvl5pPr>
              <a:defRPr sz="1875" b="0">
                <a:solidFill>
                  <a:srgbClr val="102D39"/>
                </a:solidFill>
                <a:latin typeface="Verdana"/>
                <a:ea typeface="Verdana"/>
                <a:cs typeface="Verdana"/>
              </a:defRPr>
            </a:lvl5pPr>
            <a:lvl6pPr>
              <a:defRPr sz="1875" b="0">
                <a:solidFill>
                  <a:srgbClr val="102D39"/>
                </a:solidFill>
                <a:latin typeface="Verdana"/>
                <a:ea typeface="Verdana"/>
                <a:cs typeface="Verdana"/>
              </a:defRPr>
            </a:lvl6pPr>
            <a:lvl7pPr>
              <a:defRPr sz="1875" b="0">
                <a:solidFill>
                  <a:srgbClr val="102D39"/>
                </a:solidFill>
                <a:latin typeface="Verdana"/>
                <a:ea typeface="Verdana"/>
                <a:cs typeface="Verdana"/>
              </a:defRPr>
            </a:lvl7pPr>
            <a:lvl8pPr>
              <a:defRPr sz="1875" b="0">
                <a:solidFill>
                  <a:srgbClr val="102D39"/>
                </a:solidFill>
                <a:latin typeface="Verdana"/>
                <a:ea typeface="Verdana"/>
                <a:cs typeface="Verdana"/>
              </a:defRPr>
            </a:lvl8pPr>
            <a:lvl9pPr>
              <a:defRPr sz="1875" b="0">
                <a:solidFill>
                  <a:srgbClr val="102D39"/>
                </a:solidFill>
                <a:latin typeface="Verdana"/>
                <a:ea typeface="Verdana"/>
                <a:cs typeface="Verdana"/>
              </a:defRPr>
            </a:lvl9pPr>
          </a:lstStyle>
          <a:p xmlns:a="http://schemas.openxmlformats.org/drawingml/2006/main">
            <a:pPr>
              <a:lnSpc>
                <a:spcPct val="115000"/>
              </a:lnSpc>
              <a:buNone/>
              <a:defRPr sz="1875" b="0">
                <a:solidFill>
                  <a:srgbClr val="102D39"/>
                </a:solidFill>
                <a:latin typeface="Verdana"/>
                <a:ea typeface="Verdana"/>
                <a:cs typeface="Verdana"/>
              </a:defRPr>
            </a:pPr>
            <a:r>
              <a:rPr sz="1875" b="0">
                <a:solidFill>
                  <a:srgbClr val="102D39"/>
                </a:solidFill>
                <a:latin typeface="Verdana"/>
                <a:ea typeface="Verdana"/>
                <a:cs typeface="Verdana"/>
              </a:rPr>
              <a:t>HNSW es aproximado; una tabla pequeña puede usar escaneo</a:t>
            </a:r>
          </a:p>
        </p:txBody>
      </p:sp>
      <p:sp>
        <p:nvSpPr>
          <p:cNvPr id="7" name="texto-6">
            <a:extLst xmlns:a="http://schemas.openxmlformats.org/drawingml/2006/main">
              <a:ext uri="{FF2B5EF4-FFF2-40B4-BE49-F238E27FC236}">
                <a16:creationId xmlns:a16="http://schemas.microsoft.com/office/drawing/2014/main" id="{9D479561-6C0A-4B61-BCC2-0B27C0B2B417}"/>
              </a:ext>
            </a:extLst>
          </p:cNvPr>
          <p:cNvSpPr>
            <a:spLocks xmlns:a="http://schemas.openxmlformats.org/drawingml/2006/main" noGrp="1"/>
          </p:cNvSpPr>
          <p:nvPr/>
        </p:nvSpPr>
        <p:spPr>
          <a:xfrm xmlns:a="http://schemas.openxmlformats.org/drawingml/2006/main">
            <a:off x="609600" y="4314825"/>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7C78"/>
                </a:solidFill>
                <a:latin typeface="Courier New"/>
                <a:ea typeface="Courier New"/>
                <a:cs typeface="Courier New"/>
              </a:defRPr>
            </a:defPPr>
            <a:lvl1pPr>
              <a:defRPr sz="1725" b="0">
                <a:solidFill>
                  <a:srgbClr val="007C78"/>
                </a:solidFill>
                <a:latin typeface="Courier New"/>
                <a:ea typeface="Courier New"/>
                <a:cs typeface="Courier New"/>
              </a:defRPr>
            </a:lvl1pPr>
            <a:lvl2pPr>
              <a:defRPr sz="1725" b="0">
                <a:solidFill>
                  <a:srgbClr val="007C78"/>
                </a:solidFill>
                <a:latin typeface="Courier New"/>
                <a:ea typeface="Courier New"/>
                <a:cs typeface="Courier New"/>
              </a:defRPr>
            </a:lvl2pPr>
            <a:lvl3pPr>
              <a:defRPr sz="1725" b="0">
                <a:solidFill>
                  <a:srgbClr val="007C78"/>
                </a:solidFill>
                <a:latin typeface="Courier New"/>
                <a:ea typeface="Courier New"/>
                <a:cs typeface="Courier New"/>
              </a:defRPr>
            </a:lvl3pPr>
            <a:lvl4pPr>
              <a:defRPr sz="1725" b="0">
                <a:solidFill>
                  <a:srgbClr val="007C78"/>
                </a:solidFill>
                <a:latin typeface="Courier New"/>
                <a:ea typeface="Courier New"/>
                <a:cs typeface="Courier New"/>
              </a:defRPr>
            </a:lvl4pPr>
            <a:lvl5pPr>
              <a:defRPr sz="1725" b="0">
                <a:solidFill>
                  <a:srgbClr val="007C78"/>
                </a:solidFill>
                <a:latin typeface="Courier New"/>
                <a:ea typeface="Courier New"/>
                <a:cs typeface="Courier New"/>
              </a:defRPr>
            </a:lvl5pPr>
            <a:lvl6pPr>
              <a:defRPr sz="1725" b="0">
                <a:solidFill>
                  <a:srgbClr val="007C78"/>
                </a:solidFill>
                <a:latin typeface="Courier New"/>
                <a:ea typeface="Courier New"/>
                <a:cs typeface="Courier New"/>
              </a:defRPr>
            </a:lvl6pPr>
            <a:lvl7pPr>
              <a:defRPr sz="1725" b="0">
                <a:solidFill>
                  <a:srgbClr val="007C78"/>
                </a:solidFill>
                <a:latin typeface="Courier New"/>
                <a:ea typeface="Courier New"/>
                <a:cs typeface="Courier New"/>
              </a:defRPr>
            </a:lvl7pPr>
            <a:lvl8pPr>
              <a:defRPr sz="1725" b="0">
                <a:solidFill>
                  <a:srgbClr val="007C78"/>
                </a:solidFill>
                <a:latin typeface="Courier New"/>
                <a:ea typeface="Courier New"/>
                <a:cs typeface="Courier New"/>
              </a:defRPr>
            </a:lvl8pPr>
            <a:lvl9pPr>
              <a:defRPr sz="1725" b="0">
                <a:solidFill>
                  <a:srgbClr val="007C78"/>
                </a:solidFill>
                <a:latin typeface="Courier New"/>
                <a:ea typeface="Courier New"/>
                <a:cs typeface="Courier New"/>
              </a:defRPr>
            </a:lvl9pPr>
          </a:lstStyle>
          <a:p xmlns:a="http://schemas.openxmlformats.org/drawingml/2006/main">
            <a:pPr>
              <a:lnSpc>
                <a:spcPct val="115000"/>
              </a:lnSpc>
              <a:buNone/>
              <a:defRPr sz="1725" b="0">
                <a:solidFill>
                  <a:srgbClr val="007C78"/>
                </a:solidFill>
                <a:latin typeface="Courier New"/>
                <a:ea typeface="Courier New"/>
                <a:cs typeface="Courier New"/>
              </a:defRPr>
            </a:pPr>
            <a:r>
              <a:rPr sz="1725" b="0">
                <a:solidFill>
                  <a:srgbClr val="007C78"/>
                </a:solidFill>
                <a:latin typeface="Courier New"/>
                <a:ea typeface="Courier New"/>
                <a:cs typeface="Courier New"/>
              </a:rPr>
              <a:t>embedding vector(768) NOT NULL</a:t>
            </a:r>
          </a:p>
          <a:p xmlns:a="http://schemas.openxmlformats.org/drawingml/2006/main">
            <a:pPr>
              <a:lnSpc>
                <a:spcPct val="115000"/>
              </a:lnSpc>
              <a:buNone/>
              <a:defRPr sz="1725" b="0">
                <a:solidFill>
                  <a:srgbClr val="007C78"/>
                </a:solidFill>
                <a:latin typeface="Courier New"/>
                <a:ea typeface="Courier New"/>
                <a:cs typeface="Courier New"/>
              </a:defRPr>
            </a:pPr>
            <a:r>
              <a:rPr sz="1725" b="0">
                <a:solidFill>
                  <a:srgbClr val="007C78"/>
                </a:solidFill>
                <a:latin typeface="Courier New"/>
                <a:ea typeface="Courier New"/>
                <a:cs typeface="Courier New"/>
              </a:rPr>
              <a:t>USING hnsw (embedding vector_cosine_ops)</a:t>
            </a:r>
          </a:p>
          <a:p xmlns:a="http://schemas.openxmlformats.org/drawingml/2006/main">
            <a:pPr>
              <a:lnSpc>
                <a:spcPct val="115000"/>
              </a:lnSpc>
              <a:buNone/>
              <a:defRPr sz="1725" b="0">
                <a:solidFill>
                  <a:srgbClr val="007C78"/>
                </a:solidFill>
                <a:latin typeface="Courier New"/>
                <a:ea typeface="Courier New"/>
                <a:cs typeface="Courier New"/>
              </a:defRPr>
            </a:pPr>
            <a:r>
              <a:rPr sz="1725" b="0">
                <a:solidFill>
                  <a:srgbClr val="007C78"/>
                </a:solidFill>
                <a:latin typeface="Courier New"/>
                <a:ea typeface="Courier New"/>
                <a:cs typeface="Courier New"/>
              </a:rPr>
              <a:t>ORDER BY embedding &lt;=&gt; $1::vector(768) ASC</a:t>
            </a:r>
          </a:p>
          <a:p xmlns:a="http://schemas.openxmlformats.org/drawingml/2006/main">
            <a:pPr>
              <a:lnSpc>
                <a:spcPct val="115000"/>
              </a:lnSpc>
              <a:buNone/>
              <a:defRPr sz="1725" b="0">
                <a:solidFill>
                  <a:srgbClr val="007C78"/>
                </a:solidFill>
                <a:latin typeface="Courier New"/>
                <a:ea typeface="Courier New"/>
                <a:cs typeface="Courier New"/>
              </a:defRPr>
            </a:pPr>
            <a:r>
              <a:rPr sz="1725" b="0">
                <a:solidFill>
                  <a:srgbClr val="007C78"/>
                </a:solidFill>
                <a:latin typeface="Courier New"/>
                <a:ea typeface="Courier New"/>
                <a:cs typeface="Courier New"/>
              </a:rPr>
              <a:t>LIMIT $4</a:t>
            </a:r>
          </a:p>
        </p:txBody>
      </p:sp>
      <p:sp>
        <p:nvSpPr>
          <p:cNvPr id="8" name="texto-7">
            <a:extLst xmlns:a="http://schemas.openxmlformats.org/drawingml/2006/main">
              <a:ext uri="{FF2B5EF4-FFF2-40B4-BE49-F238E27FC236}">
                <a16:creationId xmlns:a16="http://schemas.microsoft.com/office/drawing/2014/main" id="{6D6F9082-A822-4A44-AF6B-759EAB8837F2}"/>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9" name="texto-8">
            <a:extLst xmlns:a="http://schemas.openxmlformats.org/drawingml/2006/main">
              <a:ext uri="{FF2B5EF4-FFF2-40B4-BE49-F238E27FC236}">
                <a16:creationId xmlns:a16="http://schemas.microsoft.com/office/drawing/2014/main" id="{5BC5AE8A-4A78-40DE-9838-8BA627018EFF}"/>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09 / 24</a:t>
            </a:r>
          </a:p>
        </p:txBody>
      </p:sp>
    </p:spTree>
    <p:extLst>
      <p:ext uri="{BB962C8B-B14F-4D97-AF65-F5344CB8AC3E}">
        <p14:creationId xmlns:p14="http://schemas.microsoft.com/office/powerpoint/2010/main" val="932237755"/>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8013A55D-20FD-49AE-98EC-6D62F4E39743}"/>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F91452BA-2C71-4FEE-B6E8-3D9594BE1915}"/>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18:51–18:54</a:t>
            </a:r>
          </a:p>
        </p:txBody>
      </p:sp>
      <p:sp>
        <p:nvSpPr>
          <p:cNvPr id="3" name="texto-2">
            <a:extLst xmlns:a="http://schemas.openxmlformats.org/drawingml/2006/main">
              <a:ext uri="{FF2B5EF4-FFF2-40B4-BE49-F238E27FC236}">
                <a16:creationId xmlns:a16="http://schemas.microsoft.com/office/drawing/2014/main" id="{1D891D8F-1F6C-48CA-9731-29D4E58360F0}"/>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Recuperar candidatos y seleccionar contexto</a:t>
            </a:r>
          </a:p>
        </p:txBody>
      </p:sp>
      <p:sp>
        <p:nvSpPr>
          <p:cNvPr id="4" name="texto-3">
            <a:extLst xmlns:a="http://schemas.openxmlformats.org/drawingml/2006/main">
              <a:ext uri="{FF2B5EF4-FFF2-40B4-BE49-F238E27FC236}">
                <a16:creationId xmlns:a16="http://schemas.microsoft.com/office/drawing/2014/main" id="{948124B3-5E4B-4264-BF53-CDE683435CCF}"/>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Filtrar por versión y modelo antes de ordenar</a:t>
            </a:r>
          </a:p>
        </p:txBody>
      </p:sp>
      <p:sp>
        <p:nvSpPr>
          <p:cNvPr id="5" name="texto-4">
            <a:extLst xmlns:a="http://schemas.openxmlformats.org/drawingml/2006/main">
              <a:ext uri="{FF2B5EF4-FFF2-40B4-BE49-F238E27FC236}">
                <a16:creationId xmlns:a16="http://schemas.microsoft.com/office/drawing/2014/main" id="{46817F09-9103-405A-BA17-F95512A67429}"/>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top-k = 4 limita la cantidad de candidatos</a:t>
            </a:r>
          </a:p>
        </p:txBody>
      </p:sp>
      <p:sp>
        <p:nvSpPr>
          <p:cNvPr id="6" name="texto-5">
            <a:extLst xmlns:a="http://schemas.openxmlformats.org/drawingml/2006/main">
              <a:ext uri="{FF2B5EF4-FFF2-40B4-BE49-F238E27FC236}">
                <a16:creationId xmlns:a16="http://schemas.microsoft.com/office/drawing/2014/main" id="{10EAFD2F-9723-43AC-A4FD-37236B51E0B2}"/>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El umbral decide cuáles pueden llegar al generador</a:t>
            </a:r>
          </a:p>
        </p:txBody>
      </p:sp>
      <p:sp>
        <p:nvSpPr>
          <p:cNvPr id="7" name="texto-6">
            <a:extLst xmlns:a="http://schemas.openxmlformats.org/drawingml/2006/main">
              <a:ext uri="{FF2B5EF4-FFF2-40B4-BE49-F238E27FC236}">
                <a16:creationId xmlns:a16="http://schemas.microsoft.com/office/drawing/2014/main" id="{8A94EAE3-C926-4095-89ED-5EA4DE653A0A}"/>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475FACEA-6DD3-4E6B-A31A-0F00C4DC6D30}"/>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10 / 24</a:t>
            </a:r>
          </a:p>
        </p:txBody>
      </p:sp>
    </p:spTree>
    <p:extLst>
      <p:ext uri="{BB962C8B-B14F-4D97-AF65-F5344CB8AC3E}">
        <p14:creationId xmlns:p14="http://schemas.microsoft.com/office/powerpoint/2010/main" val="195413698"/>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FE062A9E-6EFD-4D06-9369-45EC480F882D}"/>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F6DABE74-0C9C-40A6-8104-C3995104BD2A}"/>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18:54–18:57</a:t>
            </a:r>
          </a:p>
        </p:txBody>
      </p:sp>
      <p:sp>
        <p:nvSpPr>
          <p:cNvPr id="3" name="texto-2">
            <a:extLst xmlns:a="http://schemas.openxmlformats.org/drawingml/2006/main">
              <a:ext uri="{FF2B5EF4-FFF2-40B4-BE49-F238E27FC236}">
                <a16:creationId xmlns:a16="http://schemas.microsoft.com/office/drawing/2014/main" id="{DABEFC0D-3654-4B8A-BC80-E3C71E911BF9}"/>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Calibrar y decidir antes de generar</a:t>
            </a:r>
          </a:p>
        </p:txBody>
      </p:sp>
      <p:sp>
        <p:nvSpPr>
          <p:cNvPr id="4" name="texto-3">
            <a:extLst xmlns:a="http://schemas.openxmlformats.org/drawingml/2006/main">
              <a:ext uri="{FF2B5EF4-FFF2-40B4-BE49-F238E27FC236}">
                <a16:creationId xmlns:a16="http://schemas.microsoft.com/office/drawing/2014/main" id="{0B533BEB-9F5F-4BDC-B3AC-EBE5DE48C28C}"/>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Seis preguntas de validación separadas del test</a:t>
            </a:r>
          </a:p>
        </p:txBody>
      </p:sp>
      <p:sp>
        <p:nvSpPr>
          <p:cNvPr id="5" name="texto-4">
            <a:extLst xmlns:a="http://schemas.openxmlformats.org/drawingml/2006/main">
              <a:ext uri="{FF2B5EF4-FFF2-40B4-BE49-F238E27FC236}">
                <a16:creationId xmlns:a16="http://schemas.microsoft.com/office/drawing/2014/main" id="{BA96CEB0-8660-4F1A-9199-D51E1484D6D4}"/>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Corte observado en este ensayo: 0,724767</a:t>
            </a:r>
          </a:p>
        </p:txBody>
      </p:sp>
      <p:sp>
        <p:nvSpPr>
          <p:cNvPr id="6" name="texto-5">
            <a:extLst xmlns:a="http://schemas.openxmlformats.org/drawingml/2006/main">
              <a:ext uri="{FF2B5EF4-FFF2-40B4-BE49-F238E27FC236}">
                <a16:creationId xmlns:a16="http://schemas.microsoft.com/office/drawing/2014/main" id="{5E709E11-EFBD-45A4-9CDF-0EF37CC25EF0}"/>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Sin candidatos aceptados: rechazo sin generador</a:t>
            </a:r>
          </a:p>
        </p:txBody>
      </p:sp>
      <p:sp>
        <p:nvSpPr>
          <p:cNvPr id="7" name="texto-6">
            <a:extLst xmlns:a="http://schemas.openxmlformats.org/drawingml/2006/main">
              <a:ext uri="{FF2B5EF4-FFF2-40B4-BE49-F238E27FC236}">
                <a16:creationId xmlns:a16="http://schemas.microsoft.com/office/drawing/2014/main" id="{0A622B99-4965-4DBC-9CAD-4C434DE3A931}"/>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298E6776-87B2-4132-938D-5E1ADC8C5A1B}"/>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11 / 24</a:t>
            </a:r>
          </a:p>
        </p:txBody>
      </p:sp>
    </p:spTree>
    <p:extLst>
      <p:ext uri="{BB962C8B-B14F-4D97-AF65-F5344CB8AC3E}">
        <p14:creationId xmlns:p14="http://schemas.microsoft.com/office/powerpoint/2010/main" val="2032160649"/>
      </p:ext>
    </p:extLst>
  </p:cSld>
</p:sld>
</file>

<file path=ppt/slides/slide12.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270CB758-E7DA-4B85-B63E-2D910D128C03}"/>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CONCEPTOS</a:t>
            </a:r>
          </a:p>
        </p:txBody>
      </p:sp>
      <p:sp>
        <p:nvSpPr>
          <p:cNvPr id="2" name="texto-1">
            <a:extLst xmlns:a="http://schemas.openxmlformats.org/drawingml/2006/main">
              <a:ext uri="{FF2B5EF4-FFF2-40B4-BE49-F238E27FC236}">
                <a16:creationId xmlns:a16="http://schemas.microsoft.com/office/drawing/2014/main" id="{66F91F55-627A-4E83-A87C-1D9DDE860AE7}"/>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18:57–19:00</a:t>
            </a:r>
          </a:p>
        </p:txBody>
      </p:sp>
      <p:sp>
        <p:nvSpPr>
          <p:cNvPr id="3" name="texto-2">
            <a:extLst xmlns:a="http://schemas.openxmlformats.org/drawingml/2006/main">
              <a:ext uri="{FF2B5EF4-FFF2-40B4-BE49-F238E27FC236}">
                <a16:creationId xmlns:a16="http://schemas.microsoft.com/office/drawing/2014/main" id="{3893F7B4-3322-4988-9C35-329F93E7D64A}"/>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Verdana"/>
                <a:ea typeface="Verdana"/>
                <a:cs typeface="Verdana"/>
              </a:defRPr>
            </a:defPPr>
            <a:lvl1pPr>
              <a:defRPr sz="3225" b="1">
                <a:solidFill>
                  <a:srgbClr val="FFFFFF"/>
                </a:solidFill>
                <a:latin typeface="Verdana"/>
                <a:ea typeface="Verdana"/>
                <a:cs typeface="Verdana"/>
              </a:defRPr>
            </a:lvl1pPr>
            <a:lvl2pPr>
              <a:defRPr sz="3225" b="1">
                <a:solidFill>
                  <a:srgbClr val="FFFFFF"/>
                </a:solidFill>
                <a:latin typeface="Verdana"/>
                <a:ea typeface="Verdana"/>
                <a:cs typeface="Verdana"/>
              </a:defRPr>
            </a:lvl2pPr>
            <a:lvl3pPr>
              <a:defRPr sz="3225" b="1">
                <a:solidFill>
                  <a:srgbClr val="FFFFFF"/>
                </a:solidFill>
                <a:latin typeface="Verdana"/>
                <a:ea typeface="Verdana"/>
                <a:cs typeface="Verdana"/>
              </a:defRPr>
            </a:lvl3pPr>
            <a:lvl4pPr>
              <a:defRPr sz="3225" b="1">
                <a:solidFill>
                  <a:srgbClr val="FFFFFF"/>
                </a:solidFill>
                <a:latin typeface="Verdana"/>
                <a:ea typeface="Verdana"/>
                <a:cs typeface="Verdana"/>
              </a:defRPr>
            </a:lvl4pPr>
            <a:lvl5pPr>
              <a:defRPr sz="3225" b="1">
                <a:solidFill>
                  <a:srgbClr val="FFFFFF"/>
                </a:solidFill>
                <a:latin typeface="Verdana"/>
                <a:ea typeface="Verdana"/>
                <a:cs typeface="Verdana"/>
              </a:defRPr>
            </a:lvl5pPr>
            <a:lvl6pPr>
              <a:defRPr sz="3225" b="1">
                <a:solidFill>
                  <a:srgbClr val="FFFFFF"/>
                </a:solidFill>
                <a:latin typeface="Verdana"/>
                <a:ea typeface="Verdana"/>
                <a:cs typeface="Verdana"/>
              </a:defRPr>
            </a:lvl6pPr>
            <a:lvl7pPr>
              <a:defRPr sz="3225" b="1">
                <a:solidFill>
                  <a:srgbClr val="FFFFFF"/>
                </a:solidFill>
                <a:latin typeface="Verdana"/>
                <a:ea typeface="Verdana"/>
                <a:cs typeface="Verdana"/>
              </a:defRPr>
            </a:lvl7pPr>
            <a:lvl8pPr>
              <a:defRPr sz="3225" b="1">
                <a:solidFill>
                  <a:srgbClr val="FFFFFF"/>
                </a:solidFill>
                <a:latin typeface="Verdana"/>
                <a:ea typeface="Verdana"/>
                <a:cs typeface="Verdana"/>
              </a:defRPr>
            </a:lvl8pPr>
            <a:lvl9pPr>
              <a:defRPr sz="3225" b="1">
                <a:solidFill>
                  <a:srgbClr val="FFFFFF"/>
                </a:solidFill>
                <a:latin typeface="Verdana"/>
                <a:ea typeface="Verdana"/>
                <a:cs typeface="Verdana"/>
              </a:defRPr>
            </a:lvl9pPr>
          </a:lstStyle>
          <a:p xmlns:a="http://schemas.openxmlformats.org/drawingml/2006/main">
            <a:pPr>
              <a:lnSpc>
                <a:spcPct val="115000"/>
              </a:lnSpc>
              <a:buNone/>
              <a:defRPr sz="3225" b="1">
                <a:solidFill>
                  <a:srgbClr val="FFFFFF"/>
                </a:solidFill>
                <a:latin typeface="Verdana"/>
                <a:ea typeface="Verdana"/>
                <a:cs typeface="Verdana"/>
              </a:defRPr>
            </a:pPr>
            <a:r>
              <a:rPr sz="3225" b="1">
                <a:solidFill>
                  <a:srgbClr val="FFFFFF"/>
                </a:solidFill>
                <a:latin typeface="Verdana"/>
                <a:ea typeface="Verdana"/>
                <a:cs typeface="Verdana"/>
              </a:rPr>
              <a:t>Contexto, respuesta y citas</a:t>
            </a:r>
          </a:p>
        </p:txBody>
      </p:sp>
      <p:sp>
        <p:nvSpPr>
          <p:cNvPr id="4" name="texto-3">
            <a:extLst xmlns:a="http://schemas.openxmlformats.org/drawingml/2006/main">
              <a:ext uri="{FF2B5EF4-FFF2-40B4-BE49-F238E27FC236}">
                <a16:creationId xmlns:a16="http://schemas.microsoft.com/office/drawing/2014/main" id="{C9BEF9BC-B612-4D23-9121-B839DD7E2453}"/>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Los documentos son datos, no instrucciones</a:t>
            </a:r>
          </a:p>
        </p:txBody>
      </p:sp>
      <p:sp>
        <p:nvSpPr>
          <p:cNvPr id="5" name="texto-4">
            <a:extLst xmlns:a="http://schemas.openxmlformats.org/drawingml/2006/main">
              <a:ext uri="{FF2B5EF4-FFF2-40B4-BE49-F238E27FC236}">
                <a16:creationId xmlns:a16="http://schemas.microsoft.com/office/drawing/2014/main" id="{5D969C9B-F67C-47E3-BB50-C617719BBB5C}"/>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El modelo recibe la pregunta y los fragmentos aceptados</a:t>
            </a:r>
          </a:p>
        </p:txBody>
      </p:sp>
      <p:sp>
        <p:nvSpPr>
          <p:cNvPr id="6" name="texto-5">
            <a:extLst xmlns:a="http://schemas.openxmlformats.org/drawingml/2006/main">
              <a:ext uri="{FF2B5EF4-FFF2-40B4-BE49-F238E27FC236}">
                <a16:creationId xmlns:a16="http://schemas.microsoft.com/office/drawing/2014/main" id="{5B2B96AE-C2C4-4913-A1E8-7D683CEE555F}"/>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Cada cita debe resolver a un ID suministrado</a:t>
            </a:r>
          </a:p>
        </p:txBody>
      </p:sp>
      <p:sp>
        <p:nvSpPr>
          <p:cNvPr id="7" name="texto-6">
            <a:extLst xmlns:a="http://schemas.openxmlformats.org/drawingml/2006/main">
              <a:ext uri="{FF2B5EF4-FFF2-40B4-BE49-F238E27FC236}">
                <a16:creationId xmlns:a16="http://schemas.microsoft.com/office/drawing/2014/main" id="{8179900A-0843-49CF-B270-BBEF7B15BABB}"/>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842916A4-2484-4B8C-B2C2-C042B1D56427}"/>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12 / 24</a:t>
            </a:r>
          </a:p>
        </p:txBody>
      </p:sp>
    </p:spTree>
    <p:extLst>
      <p:ext uri="{BB962C8B-B14F-4D97-AF65-F5344CB8AC3E}">
        <p14:creationId xmlns:p14="http://schemas.microsoft.com/office/powerpoint/2010/main" val="503644632"/>
      </p:ext>
    </p:extLst>
  </p:cSld>
</p:sld>
</file>

<file path=ppt/slides/slide13.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C0D94C14-A53C-43D3-B087-ECA97CB1C11B}"/>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APLICACIÓN Y CÓDIGO</a:t>
            </a:r>
          </a:p>
        </p:txBody>
      </p:sp>
      <p:sp>
        <p:nvSpPr>
          <p:cNvPr id="2" name="texto-1">
            <a:extLst xmlns:a="http://schemas.openxmlformats.org/drawingml/2006/main">
              <a:ext uri="{FF2B5EF4-FFF2-40B4-BE49-F238E27FC236}">
                <a16:creationId xmlns:a16="http://schemas.microsoft.com/office/drawing/2014/main" id="{425F6AF1-D087-4305-A402-3331909F6725}"/>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19:00–19:05</a:t>
            </a:r>
          </a:p>
        </p:txBody>
      </p:sp>
      <p:sp>
        <p:nvSpPr>
          <p:cNvPr id="3" name="texto-2">
            <a:extLst xmlns:a="http://schemas.openxmlformats.org/drawingml/2006/main">
              <a:ext uri="{FF2B5EF4-FFF2-40B4-BE49-F238E27FC236}">
                <a16:creationId xmlns:a16="http://schemas.microsoft.com/office/drawing/2014/main" id="{497673EC-0AF2-4951-8ECD-0D63AB22022E}"/>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Verdana"/>
                <a:ea typeface="Verdana"/>
                <a:cs typeface="Verdana"/>
              </a:defRPr>
            </a:defPPr>
            <a:lvl1pPr>
              <a:defRPr sz="3225" b="1">
                <a:solidFill>
                  <a:srgbClr val="FFFFFF"/>
                </a:solidFill>
                <a:latin typeface="Verdana"/>
                <a:ea typeface="Verdana"/>
                <a:cs typeface="Verdana"/>
              </a:defRPr>
            </a:lvl1pPr>
            <a:lvl2pPr>
              <a:defRPr sz="3225" b="1">
                <a:solidFill>
                  <a:srgbClr val="FFFFFF"/>
                </a:solidFill>
                <a:latin typeface="Verdana"/>
                <a:ea typeface="Verdana"/>
                <a:cs typeface="Verdana"/>
              </a:defRPr>
            </a:lvl2pPr>
            <a:lvl3pPr>
              <a:defRPr sz="3225" b="1">
                <a:solidFill>
                  <a:srgbClr val="FFFFFF"/>
                </a:solidFill>
                <a:latin typeface="Verdana"/>
                <a:ea typeface="Verdana"/>
                <a:cs typeface="Verdana"/>
              </a:defRPr>
            </a:lvl3pPr>
            <a:lvl4pPr>
              <a:defRPr sz="3225" b="1">
                <a:solidFill>
                  <a:srgbClr val="FFFFFF"/>
                </a:solidFill>
                <a:latin typeface="Verdana"/>
                <a:ea typeface="Verdana"/>
                <a:cs typeface="Verdana"/>
              </a:defRPr>
            </a:lvl4pPr>
            <a:lvl5pPr>
              <a:defRPr sz="3225" b="1">
                <a:solidFill>
                  <a:srgbClr val="FFFFFF"/>
                </a:solidFill>
                <a:latin typeface="Verdana"/>
                <a:ea typeface="Verdana"/>
                <a:cs typeface="Verdana"/>
              </a:defRPr>
            </a:lvl5pPr>
            <a:lvl6pPr>
              <a:defRPr sz="3225" b="1">
                <a:solidFill>
                  <a:srgbClr val="FFFFFF"/>
                </a:solidFill>
                <a:latin typeface="Verdana"/>
                <a:ea typeface="Verdana"/>
                <a:cs typeface="Verdana"/>
              </a:defRPr>
            </a:lvl6pPr>
            <a:lvl7pPr>
              <a:defRPr sz="3225" b="1">
                <a:solidFill>
                  <a:srgbClr val="FFFFFF"/>
                </a:solidFill>
                <a:latin typeface="Verdana"/>
                <a:ea typeface="Verdana"/>
                <a:cs typeface="Verdana"/>
              </a:defRPr>
            </a:lvl7pPr>
            <a:lvl8pPr>
              <a:defRPr sz="3225" b="1">
                <a:solidFill>
                  <a:srgbClr val="FFFFFF"/>
                </a:solidFill>
                <a:latin typeface="Verdana"/>
                <a:ea typeface="Verdana"/>
                <a:cs typeface="Verdana"/>
              </a:defRPr>
            </a:lvl8pPr>
            <a:lvl9pPr>
              <a:defRPr sz="3225" b="1">
                <a:solidFill>
                  <a:srgbClr val="FFFFFF"/>
                </a:solidFill>
                <a:latin typeface="Verdana"/>
                <a:ea typeface="Verdana"/>
                <a:cs typeface="Verdana"/>
              </a:defRPr>
            </a:lvl9pPr>
          </a:lstStyle>
          <a:p xmlns:a="http://schemas.openxmlformats.org/drawingml/2006/main">
            <a:pPr>
              <a:lnSpc>
                <a:spcPct val="115000"/>
              </a:lnSpc>
              <a:buNone/>
              <a:defRPr sz="3225" b="1">
                <a:solidFill>
                  <a:srgbClr val="FFFFFF"/>
                </a:solidFill>
                <a:latin typeface="Verdana"/>
                <a:ea typeface="Verdana"/>
                <a:cs typeface="Verdana"/>
              </a:defRPr>
            </a:pPr>
            <a:r>
              <a:rPr sz="3225" b="1">
                <a:solidFill>
                  <a:srgbClr val="FFFFFF"/>
                </a:solidFill>
                <a:latin typeface="Verdana"/>
                <a:ea typeface="Verdana"/>
                <a:cs typeface="Verdana"/>
              </a:rPr>
              <a:t>La misma pregunta sin documentos</a:t>
            </a:r>
          </a:p>
        </p:txBody>
      </p:sp>
      <p:sp>
        <p:nvSpPr>
          <p:cNvPr id="4" name="texto-3">
            <a:extLst xmlns:a="http://schemas.openxmlformats.org/drawingml/2006/main">
              <a:ext uri="{FF2B5EF4-FFF2-40B4-BE49-F238E27FC236}">
                <a16:creationId xmlns:a16="http://schemas.microsoft.com/office/drawing/2014/main" id="{4CABBEE0-5910-4A75-974D-0B113C9184AD}"/>
              </a:ext>
            </a:extLst>
          </p:cNvPr>
          <p:cNvSpPr>
            <a:spLocks xmlns:a="http://schemas.openxmlformats.org/drawingml/2006/main" noGrp="1"/>
          </p:cNvSpPr>
          <p:nvPr/>
        </p:nvSpPr>
        <p:spPr>
          <a:xfrm xmlns:a="http://schemas.openxmlformats.org/drawingml/2006/main">
            <a:off x="609600" y="2238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Primero: modelo real sin evidencia suministrada</a:t>
            </a:r>
          </a:p>
        </p:txBody>
      </p:sp>
      <p:sp>
        <p:nvSpPr>
          <p:cNvPr id="5" name="texto-4">
            <a:extLst xmlns:a="http://schemas.openxmlformats.org/drawingml/2006/main">
              <a:ext uri="{FF2B5EF4-FFF2-40B4-BE49-F238E27FC236}">
                <a16:creationId xmlns:a16="http://schemas.microsoft.com/office/drawing/2014/main" id="{23F79C35-A619-4829-B05E-19FC8C10A509}"/>
              </a:ext>
            </a:extLst>
          </p:cNvPr>
          <p:cNvSpPr>
            <a:spLocks xmlns:a="http://schemas.openxmlformats.org/drawingml/2006/main" noGrp="1"/>
          </p:cNvSpPr>
          <p:nvPr/>
        </p:nvSpPr>
        <p:spPr>
          <a:xfrm xmlns:a="http://schemas.openxmlformats.org/drawingml/2006/main">
            <a:off x="609600" y="28289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Después: misma pregunta con recuperación</a:t>
            </a:r>
          </a:p>
        </p:txBody>
      </p:sp>
      <p:sp>
        <p:nvSpPr>
          <p:cNvPr id="6" name="texto-5">
            <a:extLst xmlns:a="http://schemas.openxmlformats.org/drawingml/2006/main">
              <a:ext uri="{FF2B5EF4-FFF2-40B4-BE49-F238E27FC236}">
                <a16:creationId xmlns:a16="http://schemas.microsoft.com/office/drawing/2014/main" id="{4249DB55-F6B8-4E5C-A28F-6D316372461E}"/>
              </a:ext>
            </a:extLst>
          </p:cNvPr>
          <p:cNvSpPr>
            <a:spLocks xmlns:a="http://schemas.openxmlformats.org/drawingml/2006/main" noGrp="1"/>
          </p:cNvSpPr>
          <p:nvPr/>
        </p:nvSpPr>
        <p:spPr>
          <a:xfrm xmlns:a="http://schemas.openxmlformats.org/drawingml/2006/main">
            <a:off x="609600" y="34194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Una abstención es un resultado válido</a:t>
            </a:r>
          </a:p>
        </p:txBody>
      </p:sp>
      <p:sp>
        <p:nvSpPr>
          <p:cNvPr id="7" name="texto-6">
            <a:extLst xmlns:a="http://schemas.openxmlformats.org/drawingml/2006/main">
              <a:ext uri="{FF2B5EF4-FFF2-40B4-BE49-F238E27FC236}">
                <a16:creationId xmlns:a16="http://schemas.microsoft.com/office/drawing/2014/main" id="{9DC1EED4-7FC9-4A76-AAE1-A3362C738C24}"/>
              </a:ext>
            </a:extLst>
          </p:cNvPr>
          <p:cNvSpPr>
            <a:spLocks xmlns:a="http://schemas.openxmlformats.org/drawingml/2006/main" noGrp="1"/>
          </p:cNvSpPr>
          <p:nvPr/>
        </p:nvSpPr>
        <p:spPr>
          <a:xfrm xmlns:a="http://schemas.openxmlformats.org/drawingml/2006/main">
            <a:off x="609600" y="4314825"/>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DDAC8"/>
                </a:solidFill>
                <a:latin typeface="Courier New"/>
                <a:ea typeface="Courier New"/>
                <a:cs typeface="Courier New"/>
              </a:defRPr>
            </a:defPPr>
            <a:lvl1pPr>
              <a:defRPr sz="1725" b="0">
                <a:solidFill>
                  <a:srgbClr val="4DDAC8"/>
                </a:solidFill>
                <a:latin typeface="Courier New"/>
                <a:ea typeface="Courier New"/>
                <a:cs typeface="Courier New"/>
              </a:defRPr>
            </a:lvl1pPr>
            <a:lvl2pPr>
              <a:defRPr sz="1725" b="0">
                <a:solidFill>
                  <a:srgbClr val="4DDAC8"/>
                </a:solidFill>
                <a:latin typeface="Courier New"/>
                <a:ea typeface="Courier New"/>
                <a:cs typeface="Courier New"/>
              </a:defRPr>
            </a:lvl2pPr>
            <a:lvl3pPr>
              <a:defRPr sz="1725" b="0">
                <a:solidFill>
                  <a:srgbClr val="4DDAC8"/>
                </a:solidFill>
                <a:latin typeface="Courier New"/>
                <a:ea typeface="Courier New"/>
                <a:cs typeface="Courier New"/>
              </a:defRPr>
            </a:lvl3pPr>
            <a:lvl4pPr>
              <a:defRPr sz="1725" b="0">
                <a:solidFill>
                  <a:srgbClr val="4DDAC8"/>
                </a:solidFill>
                <a:latin typeface="Courier New"/>
                <a:ea typeface="Courier New"/>
                <a:cs typeface="Courier New"/>
              </a:defRPr>
            </a:lvl4pPr>
            <a:lvl5pPr>
              <a:defRPr sz="1725" b="0">
                <a:solidFill>
                  <a:srgbClr val="4DDAC8"/>
                </a:solidFill>
                <a:latin typeface="Courier New"/>
                <a:ea typeface="Courier New"/>
                <a:cs typeface="Courier New"/>
              </a:defRPr>
            </a:lvl5pPr>
            <a:lvl6pPr>
              <a:defRPr sz="1725" b="0">
                <a:solidFill>
                  <a:srgbClr val="4DDAC8"/>
                </a:solidFill>
                <a:latin typeface="Courier New"/>
                <a:ea typeface="Courier New"/>
                <a:cs typeface="Courier New"/>
              </a:defRPr>
            </a:lvl6pPr>
            <a:lvl7pPr>
              <a:defRPr sz="1725" b="0">
                <a:solidFill>
                  <a:srgbClr val="4DDAC8"/>
                </a:solidFill>
                <a:latin typeface="Courier New"/>
                <a:ea typeface="Courier New"/>
                <a:cs typeface="Courier New"/>
              </a:defRPr>
            </a:lvl7pPr>
            <a:lvl8pPr>
              <a:defRPr sz="1725" b="0">
                <a:solidFill>
                  <a:srgbClr val="4DDAC8"/>
                </a:solidFill>
                <a:latin typeface="Courier New"/>
                <a:ea typeface="Courier New"/>
                <a:cs typeface="Courier New"/>
              </a:defRPr>
            </a:lvl8pPr>
            <a:lvl9pPr>
              <a:defRPr sz="1725" b="0">
                <a:solidFill>
                  <a:srgbClr val="4DDAC8"/>
                </a:solidFill>
                <a:latin typeface="Courier New"/>
                <a:ea typeface="Courier New"/>
                <a:cs typeface="Courier New"/>
              </a:defRPr>
            </a:lvl9pPr>
          </a:lstStyle>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pregunta='¿Con qué algoritmo se cifran los volúmenes en reposo y '\</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'qué periodo de enfriamiento exige destruir una CMK?'</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bun run lab:real baseline --question "$pregunta" \</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  --execute --max-spend-usd 1</a:t>
            </a:r>
          </a:p>
        </p:txBody>
      </p:sp>
      <p:sp>
        <p:nvSpPr>
          <p:cNvPr id="8" name="texto-7">
            <a:extLst xmlns:a="http://schemas.openxmlformats.org/drawingml/2006/main">
              <a:ext uri="{FF2B5EF4-FFF2-40B4-BE49-F238E27FC236}">
                <a16:creationId xmlns:a16="http://schemas.microsoft.com/office/drawing/2014/main" id="{585EC832-93A3-47F3-BE91-B1B550324567}"/>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9" name="texto-8">
            <a:extLst xmlns:a="http://schemas.openxmlformats.org/drawingml/2006/main">
              <a:ext uri="{FF2B5EF4-FFF2-40B4-BE49-F238E27FC236}">
                <a16:creationId xmlns:a16="http://schemas.microsoft.com/office/drawing/2014/main" id="{496AD4B3-3C84-498E-8A5D-A2670C9C5A52}"/>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13 / 24</a:t>
            </a:r>
          </a:p>
        </p:txBody>
      </p:sp>
    </p:spTree>
    <p:extLst>
      <p:ext uri="{BB962C8B-B14F-4D97-AF65-F5344CB8AC3E}">
        <p14:creationId xmlns:p14="http://schemas.microsoft.com/office/powerpoint/2010/main" val="1210628957"/>
      </p:ext>
    </p:extLst>
  </p:cSld>
</p:sld>
</file>

<file path=ppt/slides/slide1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BDA88145-9112-4645-8CF5-B992631C5953}"/>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APLICACIÓN Y CÓDIGO</a:t>
            </a:r>
          </a:p>
        </p:txBody>
      </p:sp>
      <p:sp>
        <p:nvSpPr>
          <p:cNvPr id="2" name="texto-1">
            <a:extLst xmlns:a="http://schemas.openxmlformats.org/drawingml/2006/main">
              <a:ext uri="{FF2B5EF4-FFF2-40B4-BE49-F238E27FC236}">
                <a16:creationId xmlns:a16="http://schemas.microsoft.com/office/drawing/2014/main" id="{E78B96A8-FB4C-43DB-BEEF-33DFDD1473BF}"/>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19:05–19:13</a:t>
            </a:r>
          </a:p>
        </p:txBody>
      </p:sp>
      <p:sp>
        <p:nvSpPr>
          <p:cNvPr id="3" name="texto-2">
            <a:extLst xmlns:a="http://schemas.openxmlformats.org/drawingml/2006/main">
              <a:ext uri="{FF2B5EF4-FFF2-40B4-BE49-F238E27FC236}">
                <a16:creationId xmlns:a16="http://schemas.microsoft.com/office/drawing/2014/main" id="{BB2E07FB-D59B-48EE-9D71-BD0A1E1CD719}"/>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Reconstruir el índice desde los archivos</a:t>
            </a:r>
          </a:p>
        </p:txBody>
      </p:sp>
      <p:sp>
        <p:nvSpPr>
          <p:cNvPr id="4" name="texto-3">
            <a:extLst xmlns:a="http://schemas.openxmlformats.org/drawingml/2006/main">
              <a:ext uri="{FF2B5EF4-FFF2-40B4-BE49-F238E27FC236}">
                <a16:creationId xmlns:a16="http://schemas.microsoft.com/office/drawing/2014/main" id="{509EA34D-4996-45EA-9C7D-8E784162A6BA}"/>
              </a:ext>
            </a:extLst>
          </p:cNvPr>
          <p:cNvSpPr>
            <a:spLocks xmlns:a="http://schemas.openxmlformats.org/drawingml/2006/main" noGrp="1"/>
          </p:cNvSpPr>
          <p:nvPr/>
        </p:nvSpPr>
        <p:spPr>
          <a:xfrm xmlns:a="http://schemas.openxmlformats.org/drawingml/2006/main">
            <a:off x="609600" y="2238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D39"/>
                </a:solidFill>
                <a:latin typeface="Verdana"/>
                <a:ea typeface="Verdana"/>
                <a:cs typeface="Verdana"/>
              </a:defRPr>
            </a:defPPr>
            <a:lvl1pPr>
              <a:defRPr sz="1875" b="0">
                <a:solidFill>
                  <a:srgbClr val="102D39"/>
                </a:solidFill>
                <a:latin typeface="Verdana"/>
                <a:ea typeface="Verdana"/>
                <a:cs typeface="Verdana"/>
              </a:defRPr>
            </a:lvl1pPr>
            <a:lvl2pPr>
              <a:defRPr sz="1875" b="0">
                <a:solidFill>
                  <a:srgbClr val="102D39"/>
                </a:solidFill>
                <a:latin typeface="Verdana"/>
                <a:ea typeface="Verdana"/>
                <a:cs typeface="Verdana"/>
              </a:defRPr>
            </a:lvl2pPr>
            <a:lvl3pPr>
              <a:defRPr sz="1875" b="0">
                <a:solidFill>
                  <a:srgbClr val="102D39"/>
                </a:solidFill>
                <a:latin typeface="Verdana"/>
                <a:ea typeface="Verdana"/>
                <a:cs typeface="Verdana"/>
              </a:defRPr>
            </a:lvl3pPr>
            <a:lvl4pPr>
              <a:defRPr sz="1875" b="0">
                <a:solidFill>
                  <a:srgbClr val="102D39"/>
                </a:solidFill>
                <a:latin typeface="Verdana"/>
                <a:ea typeface="Verdana"/>
                <a:cs typeface="Verdana"/>
              </a:defRPr>
            </a:lvl4pPr>
            <a:lvl5pPr>
              <a:defRPr sz="1875" b="0">
                <a:solidFill>
                  <a:srgbClr val="102D39"/>
                </a:solidFill>
                <a:latin typeface="Verdana"/>
                <a:ea typeface="Verdana"/>
                <a:cs typeface="Verdana"/>
              </a:defRPr>
            </a:lvl5pPr>
            <a:lvl6pPr>
              <a:defRPr sz="1875" b="0">
                <a:solidFill>
                  <a:srgbClr val="102D39"/>
                </a:solidFill>
                <a:latin typeface="Verdana"/>
                <a:ea typeface="Verdana"/>
                <a:cs typeface="Verdana"/>
              </a:defRPr>
            </a:lvl6pPr>
            <a:lvl7pPr>
              <a:defRPr sz="1875" b="0">
                <a:solidFill>
                  <a:srgbClr val="102D39"/>
                </a:solidFill>
                <a:latin typeface="Verdana"/>
                <a:ea typeface="Verdana"/>
                <a:cs typeface="Verdana"/>
              </a:defRPr>
            </a:lvl7pPr>
            <a:lvl8pPr>
              <a:defRPr sz="1875" b="0">
                <a:solidFill>
                  <a:srgbClr val="102D39"/>
                </a:solidFill>
                <a:latin typeface="Verdana"/>
                <a:ea typeface="Verdana"/>
                <a:cs typeface="Verdana"/>
              </a:defRPr>
            </a:lvl8pPr>
            <a:lvl9pPr>
              <a:defRPr sz="1875" b="0">
                <a:solidFill>
                  <a:srgbClr val="102D39"/>
                </a:solidFill>
                <a:latin typeface="Verdana"/>
                <a:ea typeface="Verdana"/>
                <a:cs typeface="Verdana"/>
              </a:defRPr>
            </a:lvl9pPr>
          </a:lstStyle>
          <a:p xmlns:a="http://schemas.openxmlformats.org/drawingml/2006/main">
            <a:pPr>
              <a:lnSpc>
                <a:spcPct val="115000"/>
              </a:lnSpc>
              <a:buNone/>
              <a:defRPr sz="1875" b="0">
                <a:solidFill>
                  <a:srgbClr val="102D39"/>
                </a:solidFill>
                <a:latin typeface="Verdana"/>
                <a:ea typeface="Verdana"/>
                <a:cs typeface="Verdana"/>
              </a:defRPr>
            </a:pPr>
            <a:r>
              <a:rPr sz="1875" b="0">
                <a:solidFill>
                  <a:srgbClr val="102D39"/>
                </a:solidFill>
                <a:latin typeface="Verdana"/>
                <a:ea typeface="Verdana"/>
                <a:cs typeface="Verdana"/>
              </a:rPr>
              <a:t>10 Markdown en bruto producen 20 fragmentos</a:t>
            </a:r>
          </a:p>
        </p:txBody>
      </p:sp>
      <p:sp>
        <p:nvSpPr>
          <p:cNvPr id="5" name="texto-4">
            <a:extLst xmlns:a="http://schemas.openxmlformats.org/drawingml/2006/main">
              <a:ext uri="{FF2B5EF4-FFF2-40B4-BE49-F238E27FC236}">
                <a16:creationId xmlns:a16="http://schemas.microsoft.com/office/drawing/2014/main" id="{523F8324-7925-427E-ACA8-2989FF8048B6}"/>
              </a:ext>
            </a:extLst>
          </p:cNvPr>
          <p:cNvSpPr>
            <a:spLocks xmlns:a="http://schemas.openxmlformats.org/drawingml/2006/main" noGrp="1"/>
          </p:cNvSpPr>
          <p:nvPr/>
        </p:nvSpPr>
        <p:spPr>
          <a:xfrm xmlns:a="http://schemas.openxmlformats.org/drawingml/2006/main">
            <a:off x="609600" y="28289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D39"/>
                </a:solidFill>
                <a:latin typeface="Verdana"/>
                <a:ea typeface="Verdana"/>
                <a:cs typeface="Verdana"/>
              </a:defRPr>
            </a:defPPr>
            <a:lvl1pPr>
              <a:defRPr sz="1875" b="0">
                <a:solidFill>
                  <a:srgbClr val="102D39"/>
                </a:solidFill>
                <a:latin typeface="Verdana"/>
                <a:ea typeface="Verdana"/>
                <a:cs typeface="Verdana"/>
              </a:defRPr>
            </a:lvl1pPr>
            <a:lvl2pPr>
              <a:defRPr sz="1875" b="0">
                <a:solidFill>
                  <a:srgbClr val="102D39"/>
                </a:solidFill>
                <a:latin typeface="Verdana"/>
                <a:ea typeface="Verdana"/>
                <a:cs typeface="Verdana"/>
              </a:defRPr>
            </a:lvl2pPr>
            <a:lvl3pPr>
              <a:defRPr sz="1875" b="0">
                <a:solidFill>
                  <a:srgbClr val="102D39"/>
                </a:solidFill>
                <a:latin typeface="Verdana"/>
                <a:ea typeface="Verdana"/>
                <a:cs typeface="Verdana"/>
              </a:defRPr>
            </a:lvl3pPr>
            <a:lvl4pPr>
              <a:defRPr sz="1875" b="0">
                <a:solidFill>
                  <a:srgbClr val="102D39"/>
                </a:solidFill>
                <a:latin typeface="Verdana"/>
                <a:ea typeface="Verdana"/>
                <a:cs typeface="Verdana"/>
              </a:defRPr>
            </a:lvl4pPr>
            <a:lvl5pPr>
              <a:defRPr sz="1875" b="0">
                <a:solidFill>
                  <a:srgbClr val="102D39"/>
                </a:solidFill>
                <a:latin typeface="Verdana"/>
                <a:ea typeface="Verdana"/>
                <a:cs typeface="Verdana"/>
              </a:defRPr>
            </a:lvl5pPr>
            <a:lvl6pPr>
              <a:defRPr sz="1875" b="0">
                <a:solidFill>
                  <a:srgbClr val="102D39"/>
                </a:solidFill>
                <a:latin typeface="Verdana"/>
                <a:ea typeface="Verdana"/>
                <a:cs typeface="Verdana"/>
              </a:defRPr>
            </a:lvl6pPr>
            <a:lvl7pPr>
              <a:defRPr sz="1875" b="0">
                <a:solidFill>
                  <a:srgbClr val="102D39"/>
                </a:solidFill>
                <a:latin typeface="Verdana"/>
                <a:ea typeface="Verdana"/>
                <a:cs typeface="Verdana"/>
              </a:defRPr>
            </a:lvl7pPr>
            <a:lvl8pPr>
              <a:defRPr sz="1875" b="0">
                <a:solidFill>
                  <a:srgbClr val="102D39"/>
                </a:solidFill>
                <a:latin typeface="Verdana"/>
                <a:ea typeface="Verdana"/>
                <a:cs typeface="Verdana"/>
              </a:defRPr>
            </a:lvl8pPr>
            <a:lvl9pPr>
              <a:defRPr sz="1875" b="0">
                <a:solidFill>
                  <a:srgbClr val="102D39"/>
                </a:solidFill>
                <a:latin typeface="Verdana"/>
                <a:ea typeface="Verdana"/>
                <a:cs typeface="Verdana"/>
              </a:defRPr>
            </a:lvl9pPr>
          </a:lstStyle>
          <a:p xmlns:a="http://schemas.openxmlformats.org/drawingml/2006/main">
            <a:pPr>
              <a:lnSpc>
                <a:spcPct val="115000"/>
              </a:lnSpc>
              <a:buNone/>
              <a:defRPr sz="1875" b="0">
                <a:solidFill>
                  <a:srgbClr val="102D39"/>
                </a:solidFill>
                <a:latin typeface="Verdana"/>
                <a:ea typeface="Verdana"/>
                <a:cs typeface="Verdana"/>
              </a:defRPr>
            </a:pPr>
            <a:r>
              <a:rPr sz="1875" b="0">
                <a:solidFill>
                  <a:srgbClr val="102D39"/>
                </a:solidFill>
                <a:latin typeface="Verdana"/>
                <a:ea typeface="Verdana"/>
                <a:cs typeface="Verdana"/>
              </a:rPr>
              <a:t>Embeddings reales antes de sustituir el índice</a:t>
            </a:r>
          </a:p>
        </p:txBody>
      </p:sp>
      <p:sp>
        <p:nvSpPr>
          <p:cNvPr id="6" name="texto-5">
            <a:extLst xmlns:a="http://schemas.openxmlformats.org/drawingml/2006/main">
              <a:ext uri="{FF2B5EF4-FFF2-40B4-BE49-F238E27FC236}">
                <a16:creationId xmlns:a16="http://schemas.microsoft.com/office/drawing/2014/main" id="{94F6F59F-CEFD-4666-86AF-479AE0B32745}"/>
              </a:ext>
            </a:extLst>
          </p:cNvPr>
          <p:cNvSpPr>
            <a:spLocks xmlns:a="http://schemas.openxmlformats.org/drawingml/2006/main" noGrp="1"/>
          </p:cNvSpPr>
          <p:nvPr/>
        </p:nvSpPr>
        <p:spPr>
          <a:xfrm xmlns:a="http://schemas.openxmlformats.org/drawingml/2006/main">
            <a:off x="609600" y="34194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D39"/>
                </a:solidFill>
                <a:latin typeface="Verdana"/>
                <a:ea typeface="Verdana"/>
                <a:cs typeface="Verdana"/>
              </a:defRPr>
            </a:defPPr>
            <a:lvl1pPr>
              <a:defRPr sz="1875" b="0">
                <a:solidFill>
                  <a:srgbClr val="102D39"/>
                </a:solidFill>
                <a:latin typeface="Verdana"/>
                <a:ea typeface="Verdana"/>
                <a:cs typeface="Verdana"/>
              </a:defRPr>
            </a:lvl1pPr>
            <a:lvl2pPr>
              <a:defRPr sz="1875" b="0">
                <a:solidFill>
                  <a:srgbClr val="102D39"/>
                </a:solidFill>
                <a:latin typeface="Verdana"/>
                <a:ea typeface="Verdana"/>
                <a:cs typeface="Verdana"/>
              </a:defRPr>
            </a:lvl2pPr>
            <a:lvl3pPr>
              <a:defRPr sz="1875" b="0">
                <a:solidFill>
                  <a:srgbClr val="102D39"/>
                </a:solidFill>
                <a:latin typeface="Verdana"/>
                <a:ea typeface="Verdana"/>
                <a:cs typeface="Verdana"/>
              </a:defRPr>
            </a:lvl3pPr>
            <a:lvl4pPr>
              <a:defRPr sz="1875" b="0">
                <a:solidFill>
                  <a:srgbClr val="102D39"/>
                </a:solidFill>
                <a:latin typeface="Verdana"/>
                <a:ea typeface="Verdana"/>
                <a:cs typeface="Verdana"/>
              </a:defRPr>
            </a:lvl4pPr>
            <a:lvl5pPr>
              <a:defRPr sz="1875" b="0">
                <a:solidFill>
                  <a:srgbClr val="102D39"/>
                </a:solidFill>
                <a:latin typeface="Verdana"/>
                <a:ea typeface="Verdana"/>
                <a:cs typeface="Verdana"/>
              </a:defRPr>
            </a:lvl5pPr>
            <a:lvl6pPr>
              <a:defRPr sz="1875" b="0">
                <a:solidFill>
                  <a:srgbClr val="102D39"/>
                </a:solidFill>
                <a:latin typeface="Verdana"/>
                <a:ea typeface="Verdana"/>
                <a:cs typeface="Verdana"/>
              </a:defRPr>
            </a:lvl6pPr>
            <a:lvl7pPr>
              <a:defRPr sz="1875" b="0">
                <a:solidFill>
                  <a:srgbClr val="102D39"/>
                </a:solidFill>
                <a:latin typeface="Verdana"/>
                <a:ea typeface="Verdana"/>
                <a:cs typeface="Verdana"/>
              </a:defRPr>
            </a:lvl7pPr>
            <a:lvl8pPr>
              <a:defRPr sz="1875" b="0">
                <a:solidFill>
                  <a:srgbClr val="102D39"/>
                </a:solidFill>
                <a:latin typeface="Verdana"/>
                <a:ea typeface="Verdana"/>
                <a:cs typeface="Verdana"/>
              </a:defRPr>
            </a:lvl8pPr>
            <a:lvl9pPr>
              <a:defRPr sz="1875" b="0">
                <a:solidFill>
                  <a:srgbClr val="102D39"/>
                </a:solidFill>
                <a:latin typeface="Verdana"/>
                <a:ea typeface="Verdana"/>
                <a:cs typeface="Verdana"/>
              </a:defRPr>
            </a:lvl9pPr>
          </a:lstStyle>
          <a:p xmlns:a="http://schemas.openxmlformats.org/drawingml/2006/main">
            <a:pPr>
              <a:lnSpc>
                <a:spcPct val="115000"/>
              </a:lnSpc>
              <a:buNone/>
              <a:defRPr sz="1875" b="0">
                <a:solidFill>
                  <a:srgbClr val="102D39"/>
                </a:solidFill>
                <a:latin typeface="Verdana"/>
                <a:ea typeface="Verdana"/>
                <a:cs typeface="Verdana"/>
              </a:defRPr>
            </a:pPr>
            <a:r>
              <a:rPr sz="1875" b="0">
                <a:solidFill>
                  <a:srgbClr val="102D39"/>
                </a:solidFill>
                <a:latin typeface="Verdana"/>
                <a:ea typeface="Verdana"/>
                <a:cs typeface="Verdana"/>
              </a:rPr>
              <a:t>Transacción y lectura de vuelta: 20 vectores de 768</a:t>
            </a:r>
          </a:p>
        </p:txBody>
      </p:sp>
      <p:sp>
        <p:nvSpPr>
          <p:cNvPr id="7" name="texto-6">
            <a:extLst xmlns:a="http://schemas.openxmlformats.org/drawingml/2006/main">
              <a:ext uri="{FF2B5EF4-FFF2-40B4-BE49-F238E27FC236}">
                <a16:creationId xmlns:a16="http://schemas.microsoft.com/office/drawing/2014/main" id="{792C3063-D203-417B-B660-69FE02BA31B1}"/>
              </a:ext>
            </a:extLst>
          </p:cNvPr>
          <p:cNvSpPr>
            <a:spLocks xmlns:a="http://schemas.openxmlformats.org/drawingml/2006/main" noGrp="1"/>
          </p:cNvSpPr>
          <p:nvPr/>
        </p:nvSpPr>
        <p:spPr>
          <a:xfrm xmlns:a="http://schemas.openxmlformats.org/drawingml/2006/main">
            <a:off x="609600" y="4314825"/>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7C78"/>
                </a:solidFill>
                <a:latin typeface="Courier New"/>
                <a:ea typeface="Courier New"/>
                <a:cs typeface="Courier New"/>
              </a:defRPr>
            </a:defPPr>
            <a:lvl1pPr>
              <a:defRPr sz="1725" b="0">
                <a:solidFill>
                  <a:srgbClr val="007C78"/>
                </a:solidFill>
                <a:latin typeface="Courier New"/>
                <a:ea typeface="Courier New"/>
                <a:cs typeface="Courier New"/>
              </a:defRPr>
            </a:lvl1pPr>
            <a:lvl2pPr>
              <a:defRPr sz="1725" b="0">
                <a:solidFill>
                  <a:srgbClr val="007C78"/>
                </a:solidFill>
                <a:latin typeface="Courier New"/>
                <a:ea typeface="Courier New"/>
                <a:cs typeface="Courier New"/>
              </a:defRPr>
            </a:lvl2pPr>
            <a:lvl3pPr>
              <a:defRPr sz="1725" b="0">
                <a:solidFill>
                  <a:srgbClr val="007C78"/>
                </a:solidFill>
                <a:latin typeface="Courier New"/>
                <a:ea typeface="Courier New"/>
                <a:cs typeface="Courier New"/>
              </a:defRPr>
            </a:lvl3pPr>
            <a:lvl4pPr>
              <a:defRPr sz="1725" b="0">
                <a:solidFill>
                  <a:srgbClr val="007C78"/>
                </a:solidFill>
                <a:latin typeface="Courier New"/>
                <a:ea typeface="Courier New"/>
                <a:cs typeface="Courier New"/>
              </a:defRPr>
            </a:lvl4pPr>
            <a:lvl5pPr>
              <a:defRPr sz="1725" b="0">
                <a:solidFill>
                  <a:srgbClr val="007C78"/>
                </a:solidFill>
                <a:latin typeface="Courier New"/>
                <a:ea typeface="Courier New"/>
                <a:cs typeface="Courier New"/>
              </a:defRPr>
            </a:lvl5pPr>
            <a:lvl6pPr>
              <a:defRPr sz="1725" b="0">
                <a:solidFill>
                  <a:srgbClr val="007C78"/>
                </a:solidFill>
                <a:latin typeface="Courier New"/>
                <a:ea typeface="Courier New"/>
                <a:cs typeface="Courier New"/>
              </a:defRPr>
            </a:lvl6pPr>
            <a:lvl7pPr>
              <a:defRPr sz="1725" b="0">
                <a:solidFill>
                  <a:srgbClr val="007C78"/>
                </a:solidFill>
                <a:latin typeface="Courier New"/>
                <a:ea typeface="Courier New"/>
                <a:cs typeface="Courier New"/>
              </a:defRPr>
            </a:lvl7pPr>
            <a:lvl8pPr>
              <a:defRPr sz="1725" b="0">
                <a:solidFill>
                  <a:srgbClr val="007C78"/>
                </a:solidFill>
                <a:latin typeface="Courier New"/>
                <a:ea typeface="Courier New"/>
                <a:cs typeface="Courier New"/>
              </a:defRPr>
            </a:lvl8pPr>
            <a:lvl9pPr>
              <a:defRPr sz="1725" b="0">
                <a:solidFill>
                  <a:srgbClr val="007C78"/>
                </a:solidFill>
                <a:latin typeface="Courier New"/>
                <a:ea typeface="Courier New"/>
                <a:cs typeface="Courier New"/>
              </a:defRPr>
            </a:lvl9pPr>
          </a:lstStyle>
          <a:p xmlns:a="http://schemas.openxmlformats.org/drawingml/2006/main">
            <a:pPr>
              <a:lnSpc>
                <a:spcPct val="115000"/>
              </a:lnSpc>
              <a:buNone/>
              <a:defRPr sz="1725" b="0">
                <a:solidFill>
                  <a:srgbClr val="007C78"/>
                </a:solidFill>
                <a:latin typeface="Courier New"/>
                <a:ea typeface="Courier New"/>
                <a:cs typeface="Courier New"/>
              </a:defRPr>
            </a:pPr>
            <a:r>
              <a:rPr sz="1725" b="0">
                <a:solidFill>
                  <a:srgbClr val="007C78"/>
                </a:solidFill>
                <a:latin typeface="Courier New"/>
                <a:ea typeface="Courier New"/>
                <a:cs typeface="Courier New"/>
              </a:rPr>
              <a:t>bun run lab:real rebuild --execute --max-spend-usd 1</a:t>
            </a:r>
          </a:p>
          <a:p xmlns:a="http://schemas.openxmlformats.org/drawingml/2006/main">
            <a:pPr>
              <a:lnSpc>
                <a:spcPct val="115000"/>
              </a:lnSpc>
              <a:buNone/>
              <a:defRPr sz="1725" b="0">
                <a:solidFill>
                  <a:srgbClr val="007C78"/>
                </a:solidFill>
                <a:latin typeface="Courier New"/>
                <a:ea typeface="Courier New"/>
                <a:cs typeface="Courier New"/>
              </a:defRPr>
            </a:pPr>
            <a:r>
              <a:rPr sz="1725" b="0">
                <a:solidFill>
                  <a:srgbClr val="007C78"/>
                </a:solidFill>
                <a:latin typeface="Courier New"/>
                <a:ea typeface="Courier New"/>
                <a:cs typeface="Courier New"/>
              </a:rPr>
              <a:t>bun run lab:real status</a:t>
            </a:r>
          </a:p>
        </p:txBody>
      </p:sp>
      <p:sp>
        <p:nvSpPr>
          <p:cNvPr id="8" name="texto-7">
            <a:extLst xmlns:a="http://schemas.openxmlformats.org/drawingml/2006/main">
              <a:ext uri="{FF2B5EF4-FFF2-40B4-BE49-F238E27FC236}">
                <a16:creationId xmlns:a16="http://schemas.microsoft.com/office/drawing/2014/main" id="{5FFB1DF4-D76E-4078-9452-07B37B584136}"/>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9" name="texto-8">
            <a:extLst xmlns:a="http://schemas.openxmlformats.org/drawingml/2006/main">
              <a:ext uri="{FF2B5EF4-FFF2-40B4-BE49-F238E27FC236}">
                <a16:creationId xmlns:a16="http://schemas.microsoft.com/office/drawing/2014/main" id="{FBE47BCD-70A2-489D-AF3E-D7029E855BD0}"/>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14 / 24</a:t>
            </a:r>
          </a:p>
        </p:txBody>
      </p:sp>
    </p:spTree>
    <p:extLst>
      <p:ext uri="{BB962C8B-B14F-4D97-AF65-F5344CB8AC3E}">
        <p14:creationId xmlns:p14="http://schemas.microsoft.com/office/powerpoint/2010/main" val="1940369738"/>
      </p:ext>
    </p:extLst>
  </p:cSld>
</p:sld>
</file>

<file path=ppt/slides/slide15.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3FA26316-CF3C-43DD-B698-AD4F9E2354E5}"/>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APLICACIÓN Y CÓDIGO</a:t>
            </a:r>
          </a:p>
        </p:txBody>
      </p:sp>
      <p:sp>
        <p:nvSpPr>
          <p:cNvPr id="2" name="texto-1">
            <a:extLst xmlns:a="http://schemas.openxmlformats.org/drawingml/2006/main">
              <a:ext uri="{FF2B5EF4-FFF2-40B4-BE49-F238E27FC236}">
                <a16:creationId xmlns:a16="http://schemas.microsoft.com/office/drawing/2014/main" id="{6123135D-9C2C-4FA9-A953-3D28C1EEA555}"/>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19:13–19:23</a:t>
            </a:r>
          </a:p>
        </p:txBody>
      </p:sp>
      <p:sp>
        <p:nvSpPr>
          <p:cNvPr id="3" name="texto-2">
            <a:extLst xmlns:a="http://schemas.openxmlformats.org/drawingml/2006/main">
              <a:ext uri="{FF2B5EF4-FFF2-40B4-BE49-F238E27FC236}">
                <a16:creationId xmlns:a16="http://schemas.microsoft.com/office/drawing/2014/main" id="{9CBEE166-52B3-48A7-B6F2-A8EDE539E645}"/>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Verdana"/>
                <a:ea typeface="Verdana"/>
                <a:cs typeface="Verdana"/>
              </a:defRPr>
            </a:defPPr>
            <a:lvl1pPr>
              <a:defRPr sz="3225" b="1">
                <a:solidFill>
                  <a:srgbClr val="FFFFFF"/>
                </a:solidFill>
                <a:latin typeface="Verdana"/>
                <a:ea typeface="Verdana"/>
                <a:cs typeface="Verdana"/>
              </a:defRPr>
            </a:lvl1pPr>
            <a:lvl2pPr>
              <a:defRPr sz="3225" b="1">
                <a:solidFill>
                  <a:srgbClr val="FFFFFF"/>
                </a:solidFill>
                <a:latin typeface="Verdana"/>
                <a:ea typeface="Verdana"/>
                <a:cs typeface="Verdana"/>
              </a:defRPr>
            </a:lvl2pPr>
            <a:lvl3pPr>
              <a:defRPr sz="3225" b="1">
                <a:solidFill>
                  <a:srgbClr val="FFFFFF"/>
                </a:solidFill>
                <a:latin typeface="Verdana"/>
                <a:ea typeface="Verdana"/>
                <a:cs typeface="Verdana"/>
              </a:defRPr>
            </a:lvl3pPr>
            <a:lvl4pPr>
              <a:defRPr sz="3225" b="1">
                <a:solidFill>
                  <a:srgbClr val="FFFFFF"/>
                </a:solidFill>
                <a:latin typeface="Verdana"/>
                <a:ea typeface="Verdana"/>
                <a:cs typeface="Verdana"/>
              </a:defRPr>
            </a:lvl4pPr>
            <a:lvl5pPr>
              <a:defRPr sz="3225" b="1">
                <a:solidFill>
                  <a:srgbClr val="FFFFFF"/>
                </a:solidFill>
                <a:latin typeface="Verdana"/>
                <a:ea typeface="Verdana"/>
                <a:cs typeface="Verdana"/>
              </a:defRPr>
            </a:lvl5pPr>
            <a:lvl6pPr>
              <a:defRPr sz="3225" b="1">
                <a:solidFill>
                  <a:srgbClr val="FFFFFF"/>
                </a:solidFill>
                <a:latin typeface="Verdana"/>
                <a:ea typeface="Verdana"/>
                <a:cs typeface="Verdana"/>
              </a:defRPr>
            </a:lvl6pPr>
            <a:lvl7pPr>
              <a:defRPr sz="3225" b="1">
                <a:solidFill>
                  <a:srgbClr val="FFFFFF"/>
                </a:solidFill>
                <a:latin typeface="Verdana"/>
                <a:ea typeface="Verdana"/>
                <a:cs typeface="Verdana"/>
              </a:defRPr>
            </a:lvl7pPr>
            <a:lvl8pPr>
              <a:defRPr sz="3225" b="1">
                <a:solidFill>
                  <a:srgbClr val="FFFFFF"/>
                </a:solidFill>
                <a:latin typeface="Verdana"/>
                <a:ea typeface="Verdana"/>
                <a:cs typeface="Verdana"/>
              </a:defRPr>
            </a:lvl8pPr>
            <a:lvl9pPr>
              <a:defRPr sz="3225" b="1">
                <a:solidFill>
                  <a:srgbClr val="FFFFFF"/>
                </a:solidFill>
                <a:latin typeface="Verdana"/>
                <a:ea typeface="Verdana"/>
                <a:cs typeface="Verdana"/>
              </a:defRPr>
            </a:lvl9pPr>
          </a:lstStyle>
          <a:p xmlns:a="http://schemas.openxmlformats.org/drawingml/2006/main">
            <a:pPr>
              <a:lnSpc>
                <a:spcPct val="115000"/>
              </a:lnSpc>
              <a:buNone/>
              <a:defRPr sz="3225" b="1">
                <a:solidFill>
                  <a:srgbClr val="FFFFFF"/>
                </a:solidFill>
                <a:latin typeface="Verdana"/>
                <a:ea typeface="Verdana"/>
                <a:cs typeface="Verdana"/>
              </a:defRPr>
            </a:pPr>
            <a:r>
              <a:rPr sz="3225" b="1">
                <a:solidFill>
                  <a:srgbClr val="FFFFFF"/>
                </a:solidFill>
                <a:latin typeface="Verdana"/>
                <a:ea typeface="Verdana"/>
                <a:cs typeface="Verdana"/>
              </a:rPr>
              <a:t>Consultar con recuperación real</a:t>
            </a:r>
          </a:p>
        </p:txBody>
      </p:sp>
      <p:sp>
        <p:nvSpPr>
          <p:cNvPr id="4" name="texto-3">
            <a:extLst xmlns:a="http://schemas.openxmlformats.org/drawingml/2006/main">
              <a:ext uri="{FF2B5EF4-FFF2-40B4-BE49-F238E27FC236}">
                <a16:creationId xmlns:a16="http://schemas.microsoft.com/office/drawing/2014/main" id="{33A3455F-5943-4E5E-8672-05B23CB9A74B}"/>
              </a:ext>
            </a:extLst>
          </p:cNvPr>
          <p:cNvSpPr>
            <a:spLocks xmlns:a="http://schemas.openxmlformats.org/drawingml/2006/main" noGrp="1"/>
          </p:cNvSpPr>
          <p:nvPr/>
        </p:nvSpPr>
        <p:spPr>
          <a:xfrm xmlns:a="http://schemas.openxmlformats.org/drawingml/2006/main">
            <a:off x="609600" y="2238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Pregunta → embedding → consulta pgvector</a:t>
            </a:r>
          </a:p>
        </p:txBody>
      </p:sp>
      <p:sp>
        <p:nvSpPr>
          <p:cNvPr id="5" name="texto-4">
            <a:extLst xmlns:a="http://schemas.openxmlformats.org/drawingml/2006/main">
              <a:ext uri="{FF2B5EF4-FFF2-40B4-BE49-F238E27FC236}">
                <a16:creationId xmlns:a16="http://schemas.microsoft.com/office/drawing/2014/main" id="{9D601457-4BF2-4347-A4ED-01721A0F8E1F}"/>
              </a:ext>
            </a:extLst>
          </p:cNvPr>
          <p:cNvSpPr>
            <a:spLocks xmlns:a="http://schemas.openxmlformats.org/drawingml/2006/main" noGrp="1"/>
          </p:cNvSpPr>
          <p:nvPr/>
        </p:nvSpPr>
        <p:spPr>
          <a:xfrm xmlns:a="http://schemas.openxmlformats.org/drawingml/2006/main">
            <a:off x="609600" y="28289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Cifrado: AES-256-GCM · enfriamiento: 72 horas</a:t>
            </a:r>
          </a:p>
        </p:txBody>
      </p:sp>
      <p:sp>
        <p:nvSpPr>
          <p:cNvPr id="6" name="texto-5">
            <a:extLst xmlns:a="http://schemas.openxmlformats.org/drawingml/2006/main">
              <a:ext uri="{FF2B5EF4-FFF2-40B4-BE49-F238E27FC236}">
                <a16:creationId xmlns:a16="http://schemas.microsoft.com/office/drawing/2014/main" id="{0D7AEA7B-6624-4AC4-9B99-65AB8C5584F0}"/>
              </a:ext>
            </a:extLst>
          </p:cNvPr>
          <p:cNvSpPr>
            <a:spLocks xmlns:a="http://schemas.openxmlformats.org/drawingml/2006/main" noGrp="1"/>
          </p:cNvSpPr>
          <p:nvPr/>
        </p:nvSpPr>
        <p:spPr>
          <a:xfrm xmlns:a="http://schemas.openxmlformats.org/drawingml/2006/main">
            <a:off x="609600" y="34194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La traza conserva candidatos, puntuaciones y selección</a:t>
            </a:r>
          </a:p>
        </p:txBody>
      </p:sp>
      <p:sp>
        <p:nvSpPr>
          <p:cNvPr id="7" name="texto-6">
            <a:extLst xmlns:a="http://schemas.openxmlformats.org/drawingml/2006/main">
              <a:ext uri="{FF2B5EF4-FFF2-40B4-BE49-F238E27FC236}">
                <a16:creationId xmlns:a16="http://schemas.microsoft.com/office/drawing/2014/main" id="{0A114288-E56A-4535-880D-DB6BC16FB09B}"/>
              </a:ext>
            </a:extLst>
          </p:cNvPr>
          <p:cNvSpPr>
            <a:spLocks xmlns:a="http://schemas.openxmlformats.org/drawingml/2006/main" noGrp="1"/>
          </p:cNvSpPr>
          <p:nvPr/>
        </p:nvSpPr>
        <p:spPr>
          <a:xfrm xmlns:a="http://schemas.openxmlformats.org/drawingml/2006/main">
            <a:off x="609600" y="4314825"/>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DDAC8"/>
                </a:solidFill>
                <a:latin typeface="Courier New"/>
                <a:ea typeface="Courier New"/>
                <a:cs typeface="Courier New"/>
              </a:defRPr>
            </a:defPPr>
            <a:lvl1pPr>
              <a:defRPr sz="1725" b="0">
                <a:solidFill>
                  <a:srgbClr val="4DDAC8"/>
                </a:solidFill>
                <a:latin typeface="Courier New"/>
                <a:ea typeface="Courier New"/>
                <a:cs typeface="Courier New"/>
              </a:defRPr>
            </a:lvl1pPr>
            <a:lvl2pPr>
              <a:defRPr sz="1725" b="0">
                <a:solidFill>
                  <a:srgbClr val="4DDAC8"/>
                </a:solidFill>
                <a:latin typeface="Courier New"/>
                <a:ea typeface="Courier New"/>
                <a:cs typeface="Courier New"/>
              </a:defRPr>
            </a:lvl2pPr>
            <a:lvl3pPr>
              <a:defRPr sz="1725" b="0">
                <a:solidFill>
                  <a:srgbClr val="4DDAC8"/>
                </a:solidFill>
                <a:latin typeface="Courier New"/>
                <a:ea typeface="Courier New"/>
                <a:cs typeface="Courier New"/>
              </a:defRPr>
            </a:lvl3pPr>
            <a:lvl4pPr>
              <a:defRPr sz="1725" b="0">
                <a:solidFill>
                  <a:srgbClr val="4DDAC8"/>
                </a:solidFill>
                <a:latin typeface="Courier New"/>
                <a:ea typeface="Courier New"/>
                <a:cs typeface="Courier New"/>
              </a:defRPr>
            </a:lvl4pPr>
            <a:lvl5pPr>
              <a:defRPr sz="1725" b="0">
                <a:solidFill>
                  <a:srgbClr val="4DDAC8"/>
                </a:solidFill>
                <a:latin typeface="Courier New"/>
                <a:ea typeface="Courier New"/>
                <a:cs typeface="Courier New"/>
              </a:defRPr>
            </a:lvl5pPr>
            <a:lvl6pPr>
              <a:defRPr sz="1725" b="0">
                <a:solidFill>
                  <a:srgbClr val="4DDAC8"/>
                </a:solidFill>
                <a:latin typeface="Courier New"/>
                <a:ea typeface="Courier New"/>
                <a:cs typeface="Courier New"/>
              </a:defRPr>
            </a:lvl6pPr>
            <a:lvl7pPr>
              <a:defRPr sz="1725" b="0">
                <a:solidFill>
                  <a:srgbClr val="4DDAC8"/>
                </a:solidFill>
                <a:latin typeface="Courier New"/>
                <a:ea typeface="Courier New"/>
                <a:cs typeface="Courier New"/>
              </a:defRPr>
            </a:lvl7pPr>
            <a:lvl8pPr>
              <a:defRPr sz="1725" b="0">
                <a:solidFill>
                  <a:srgbClr val="4DDAC8"/>
                </a:solidFill>
                <a:latin typeface="Courier New"/>
                <a:ea typeface="Courier New"/>
                <a:cs typeface="Courier New"/>
              </a:defRPr>
            </a:lvl8pPr>
            <a:lvl9pPr>
              <a:defRPr sz="1725" b="0">
                <a:solidFill>
                  <a:srgbClr val="4DDAC8"/>
                </a:solidFill>
                <a:latin typeface="Courier New"/>
                <a:ea typeface="Courier New"/>
                <a:cs typeface="Courier New"/>
              </a:defRPr>
            </a:lvl9pPr>
          </a:lstStyle>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pregunta='¿Con qué algoritmo se cifran los volúmenes en reposo y '\</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'qué periodo de enfriamiento exige destruir una CMK?'</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bun run lab:real query --question "$pregunta" \</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  --execute --max-spend-usd 1 --brief</a:t>
            </a:r>
          </a:p>
        </p:txBody>
      </p:sp>
      <p:sp>
        <p:nvSpPr>
          <p:cNvPr id="8" name="texto-7">
            <a:extLst xmlns:a="http://schemas.openxmlformats.org/drawingml/2006/main">
              <a:ext uri="{FF2B5EF4-FFF2-40B4-BE49-F238E27FC236}">
                <a16:creationId xmlns:a16="http://schemas.microsoft.com/office/drawing/2014/main" id="{1879BB68-1518-44F7-8D50-0D123A62BA4B}"/>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9" name="texto-8">
            <a:extLst xmlns:a="http://schemas.openxmlformats.org/drawingml/2006/main">
              <a:ext uri="{FF2B5EF4-FFF2-40B4-BE49-F238E27FC236}">
                <a16:creationId xmlns:a16="http://schemas.microsoft.com/office/drawing/2014/main" id="{AD0B135E-6A0E-4A9C-B196-EDB2858010BE}"/>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15 / 24</a:t>
            </a:r>
          </a:p>
        </p:txBody>
      </p:sp>
    </p:spTree>
    <p:extLst>
      <p:ext uri="{BB962C8B-B14F-4D97-AF65-F5344CB8AC3E}">
        <p14:creationId xmlns:p14="http://schemas.microsoft.com/office/powerpoint/2010/main" val="768709676"/>
      </p:ext>
    </p:extLst>
  </p:cSld>
</p:sld>
</file>

<file path=ppt/slides/slide1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A67012CA-9982-417E-82AA-562D678259B9}"/>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APLICACIÓN Y CÓDIGO</a:t>
            </a:r>
          </a:p>
        </p:txBody>
      </p:sp>
      <p:sp>
        <p:nvSpPr>
          <p:cNvPr id="2" name="texto-1">
            <a:extLst xmlns:a="http://schemas.openxmlformats.org/drawingml/2006/main">
              <a:ext uri="{FF2B5EF4-FFF2-40B4-BE49-F238E27FC236}">
                <a16:creationId xmlns:a16="http://schemas.microsoft.com/office/drawing/2014/main" id="{675CEB6D-D5D7-4BDC-B8CD-937EBBC58B9A}"/>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19:23–19:30</a:t>
            </a:r>
          </a:p>
        </p:txBody>
      </p:sp>
      <p:sp>
        <p:nvSpPr>
          <p:cNvPr id="3" name="texto-2">
            <a:extLst xmlns:a="http://schemas.openxmlformats.org/drawingml/2006/main">
              <a:ext uri="{FF2B5EF4-FFF2-40B4-BE49-F238E27FC236}">
                <a16:creationId xmlns:a16="http://schemas.microsoft.com/office/drawing/2014/main" id="{E7D1B410-581D-45B2-B121-EEA9225AD9D5}"/>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Abrir la fuente y verificar la afirmación</a:t>
            </a:r>
          </a:p>
        </p:txBody>
      </p:sp>
      <p:sp>
        <p:nvSpPr>
          <p:cNvPr id="4" name="texto-3">
            <a:extLst xmlns:a="http://schemas.openxmlformats.org/drawingml/2006/main">
              <a:ext uri="{FF2B5EF4-FFF2-40B4-BE49-F238E27FC236}">
                <a16:creationId xmlns:a16="http://schemas.microsoft.com/office/drawing/2014/main" id="{9C249952-D796-4CE9-83F4-852E8B3BF8C3}"/>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Una cita existente puede seguir siendo insuficiente</a:t>
            </a:r>
          </a:p>
        </p:txBody>
      </p:sp>
      <p:sp>
        <p:nvSpPr>
          <p:cNvPr id="5" name="texto-4">
            <a:extLst xmlns:a="http://schemas.openxmlformats.org/drawingml/2006/main">
              <a:ext uri="{FF2B5EF4-FFF2-40B4-BE49-F238E27FC236}">
                <a16:creationId xmlns:a16="http://schemas.microsoft.com/office/drawing/2014/main" id="{04A69B47-8DF9-4D95-A7DE-A25866916CA8}"/>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Abrir el fragmento y localizar el dato exacto</a:t>
            </a:r>
          </a:p>
        </p:txBody>
      </p:sp>
      <p:sp>
        <p:nvSpPr>
          <p:cNvPr id="6" name="texto-5">
            <a:extLst xmlns:a="http://schemas.openxmlformats.org/drawingml/2006/main">
              <a:ext uri="{FF2B5EF4-FFF2-40B4-BE49-F238E27FC236}">
                <a16:creationId xmlns:a16="http://schemas.microsoft.com/office/drawing/2014/main" id="{90F6F656-B4CE-41F6-9209-10788B9C8487}"/>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Comprobar toda la respuesta, no solo el formato</a:t>
            </a:r>
          </a:p>
        </p:txBody>
      </p:sp>
      <p:sp>
        <p:nvSpPr>
          <p:cNvPr id="7" name="texto-6">
            <a:extLst xmlns:a="http://schemas.openxmlformats.org/drawingml/2006/main">
              <a:ext uri="{FF2B5EF4-FFF2-40B4-BE49-F238E27FC236}">
                <a16:creationId xmlns:a16="http://schemas.microsoft.com/office/drawing/2014/main" id="{32C14D02-91EC-4E9E-972A-756B6A0E4BED}"/>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5A02B1A2-8572-47B9-9E48-DAD4B54267B3}"/>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16 / 24</a:t>
            </a:r>
          </a:p>
        </p:txBody>
      </p:sp>
    </p:spTree>
    <p:extLst>
      <p:ext uri="{BB962C8B-B14F-4D97-AF65-F5344CB8AC3E}">
        <p14:creationId xmlns:p14="http://schemas.microsoft.com/office/powerpoint/2010/main" val="461838025"/>
      </p:ext>
    </p:extLst>
  </p:cSld>
</p:sld>
</file>

<file path=ppt/slides/slide17.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E4FBC648-AB67-4D18-94FB-BEE090AB8FB6}"/>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APLICACIÓN Y CÓDIGO</a:t>
            </a:r>
          </a:p>
        </p:txBody>
      </p:sp>
      <p:sp>
        <p:nvSpPr>
          <p:cNvPr id="2" name="texto-1">
            <a:extLst xmlns:a="http://schemas.openxmlformats.org/drawingml/2006/main">
              <a:ext uri="{FF2B5EF4-FFF2-40B4-BE49-F238E27FC236}">
                <a16:creationId xmlns:a16="http://schemas.microsoft.com/office/drawing/2014/main" id="{498C2561-D0D5-4773-A7F0-4AAFD1C8AB54}"/>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19:30–19:38</a:t>
            </a:r>
          </a:p>
        </p:txBody>
      </p:sp>
      <p:sp>
        <p:nvSpPr>
          <p:cNvPr id="3" name="texto-2">
            <a:extLst xmlns:a="http://schemas.openxmlformats.org/drawingml/2006/main">
              <a:ext uri="{FF2B5EF4-FFF2-40B4-BE49-F238E27FC236}">
                <a16:creationId xmlns:a16="http://schemas.microsoft.com/office/drawing/2014/main" id="{900A5AB4-A8C0-447F-B0CC-5945C8D515A7}"/>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Verdana"/>
                <a:ea typeface="Verdana"/>
                <a:cs typeface="Verdana"/>
              </a:defRPr>
            </a:defPPr>
            <a:lvl1pPr>
              <a:defRPr sz="3225" b="1">
                <a:solidFill>
                  <a:srgbClr val="FFFFFF"/>
                </a:solidFill>
                <a:latin typeface="Verdana"/>
                <a:ea typeface="Verdana"/>
                <a:cs typeface="Verdana"/>
              </a:defRPr>
            </a:lvl1pPr>
            <a:lvl2pPr>
              <a:defRPr sz="3225" b="1">
                <a:solidFill>
                  <a:srgbClr val="FFFFFF"/>
                </a:solidFill>
                <a:latin typeface="Verdana"/>
                <a:ea typeface="Verdana"/>
                <a:cs typeface="Verdana"/>
              </a:defRPr>
            </a:lvl2pPr>
            <a:lvl3pPr>
              <a:defRPr sz="3225" b="1">
                <a:solidFill>
                  <a:srgbClr val="FFFFFF"/>
                </a:solidFill>
                <a:latin typeface="Verdana"/>
                <a:ea typeface="Verdana"/>
                <a:cs typeface="Verdana"/>
              </a:defRPr>
            </a:lvl3pPr>
            <a:lvl4pPr>
              <a:defRPr sz="3225" b="1">
                <a:solidFill>
                  <a:srgbClr val="FFFFFF"/>
                </a:solidFill>
                <a:latin typeface="Verdana"/>
                <a:ea typeface="Verdana"/>
                <a:cs typeface="Verdana"/>
              </a:defRPr>
            </a:lvl4pPr>
            <a:lvl5pPr>
              <a:defRPr sz="3225" b="1">
                <a:solidFill>
                  <a:srgbClr val="FFFFFF"/>
                </a:solidFill>
                <a:latin typeface="Verdana"/>
                <a:ea typeface="Verdana"/>
                <a:cs typeface="Verdana"/>
              </a:defRPr>
            </a:lvl5pPr>
            <a:lvl6pPr>
              <a:defRPr sz="3225" b="1">
                <a:solidFill>
                  <a:srgbClr val="FFFFFF"/>
                </a:solidFill>
                <a:latin typeface="Verdana"/>
                <a:ea typeface="Verdana"/>
                <a:cs typeface="Verdana"/>
              </a:defRPr>
            </a:lvl6pPr>
            <a:lvl7pPr>
              <a:defRPr sz="3225" b="1">
                <a:solidFill>
                  <a:srgbClr val="FFFFFF"/>
                </a:solidFill>
                <a:latin typeface="Verdana"/>
                <a:ea typeface="Verdana"/>
                <a:cs typeface="Verdana"/>
              </a:defRPr>
            </a:lvl7pPr>
            <a:lvl8pPr>
              <a:defRPr sz="3225" b="1">
                <a:solidFill>
                  <a:srgbClr val="FFFFFF"/>
                </a:solidFill>
                <a:latin typeface="Verdana"/>
                <a:ea typeface="Verdana"/>
                <a:cs typeface="Verdana"/>
              </a:defRPr>
            </a:lvl8pPr>
            <a:lvl9pPr>
              <a:defRPr sz="3225" b="1">
                <a:solidFill>
                  <a:srgbClr val="FFFFFF"/>
                </a:solidFill>
                <a:latin typeface="Verdana"/>
                <a:ea typeface="Verdana"/>
                <a:cs typeface="Verdana"/>
              </a:defRPr>
            </a:lvl9pPr>
          </a:lstStyle>
          <a:p xmlns:a="http://schemas.openxmlformats.org/drawingml/2006/main">
            <a:pPr>
              <a:lnSpc>
                <a:spcPct val="115000"/>
              </a:lnSpc>
              <a:buNone/>
              <a:defRPr sz="3225" b="1">
                <a:solidFill>
                  <a:srgbClr val="FFFFFF"/>
                </a:solidFill>
                <a:latin typeface="Verdana"/>
                <a:ea typeface="Verdana"/>
                <a:cs typeface="Verdana"/>
              </a:defRPr>
            </a:pPr>
            <a:r>
              <a:rPr sz="3225" b="1">
                <a:solidFill>
                  <a:srgbClr val="FFFFFF"/>
                </a:solidFill>
                <a:latin typeface="Verdana"/>
                <a:ea typeface="Verdana"/>
                <a:cs typeface="Verdana"/>
              </a:rPr>
              <a:t>Una pregunta sin respuesta documental</a:t>
            </a:r>
          </a:p>
        </p:txBody>
      </p:sp>
      <p:sp>
        <p:nvSpPr>
          <p:cNvPr id="4" name="texto-3">
            <a:extLst xmlns:a="http://schemas.openxmlformats.org/drawingml/2006/main">
              <a:ext uri="{FF2B5EF4-FFF2-40B4-BE49-F238E27FC236}">
                <a16:creationId xmlns:a16="http://schemas.microsoft.com/office/drawing/2014/main" id="{D7BB6934-D121-47EE-98F2-4A69AC07B8DA}"/>
              </a:ext>
            </a:extLst>
          </p:cNvPr>
          <p:cNvSpPr>
            <a:spLocks xmlns:a="http://schemas.openxmlformats.org/drawingml/2006/main" noGrp="1"/>
          </p:cNvSpPr>
          <p:nvPr/>
        </p:nvSpPr>
        <p:spPr>
          <a:xfrm xmlns:a="http://schemas.openxmlformats.org/drawingml/2006/main">
            <a:off x="609600" y="22383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Las licencias de Windows no constan en el corpus</a:t>
            </a:r>
          </a:p>
        </p:txBody>
      </p:sp>
      <p:sp>
        <p:nvSpPr>
          <p:cNvPr id="5" name="texto-4">
            <a:extLst xmlns:a="http://schemas.openxmlformats.org/drawingml/2006/main">
              <a:ext uri="{FF2B5EF4-FFF2-40B4-BE49-F238E27FC236}">
                <a16:creationId xmlns:a16="http://schemas.microsoft.com/office/drawing/2014/main" id="{AB3F0167-50EE-4258-82F0-29A96C7E5B9B}"/>
              </a:ext>
            </a:extLst>
          </p:cNvPr>
          <p:cNvSpPr>
            <a:spLocks xmlns:a="http://schemas.openxmlformats.org/drawingml/2006/main" noGrp="1"/>
          </p:cNvSpPr>
          <p:nvPr/>
        </p:nvSpPr>
        <p:spPr>
          <a:xfrm xmlns:a="http://schemas.openxmlformats.org/drawingml/2006/main">
            <a:off x="609600" y="28289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Hay vecinos cercanos, pero no superan el corte</a:t>
            </a:r>
          </a:p>
        </p:txBody>
      </p:sp>
      <p:sp>
        <p:nvSpPr>
          <p:cNvPr id="6" name="texto-5">
            <a:extLst xmlns:a="http://schemas.openxmlformats.org/drawingml/2006/main">
              <a:ext uri="{FF2B5EF4-FFF2-40B4-BE49-F238E27FC236}">
                <a16:creationId xmlns:a16="http://schemas.microsoft.com/office/drawing/2014/main" id="{9EDC7AA6-DDBE-4CD7-AEF4-254BE0F8A845}"/>
              </a:ext>
            </a:extLst>
          </p:cNvPr>
          <p:cNvSpPr>
            <a:spLocks xmlns:a="http://schemas.openxmlformats.org/drawingml/2006/main" noGrp="1"/>
          </p:cNvSpPr>
          <p:nvPr/>
        </p:nvSpPr>
        <p:spPr>
          <a:xfrm xmlns:a="http://schemas.openxmlformats.org/drawingml/2006/main">
            <a:off x="609600" y="34194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Verdana"/>
                <a:ea typeface="Verdana"/>
                <a:cs typeface="Verdana"/>
              </a:defRPr>
            </a:defPPr>
            <a:lvl1pPr>
              <a:defRPr sz="1875" b="0">
                <a:solidFill>
                  <a:srgbClr val="FFFFFF"/>
                </a:solidFill>
                <a:latin typeface="Verdana"/>
                <a:ea typeface="Verdana"/>
                <a:cs typeface="Verdana"/>
              </a:defRPr>
            </a:lvl1pPr>
            <a:lvl2pPr>
              <a:defRPr sz="1875" b="0">
                <a:solidFill>
                  <a:srgbClr val="FFFFFF"/>
                </a:solidFill>
                <a:latin typeface="Verdana"/>
                <a:ea typeface="Verdana"/>
                <a:cs typeface="Verdana"/>
              </a:defRPr>
            </a:lvl2pPr>
            <a:lvl3pPr>
              <a:defRPr sz="1875" b="0">
                <a:solidFill>
                  <a:srgbClr val="FFFFFF"/>
                </a:solidFill>
                <a:latin typeface="Verdana"/>
                <a:ea typeface="Verdana"/>
                <a:cs typeface="Verdana"/>
              </a:defRPr>
            </a:lvl3pPr>
            <a:lvl4pPr>
              <a:defRPr sz="1875" b="0">
                <a:solidFill>
                  <a:srgbClr val="FFFFFF"/>
                </a:solidFill>
                <a:latin typeface="Verdana"/>
                <a:ea typeface="Verdana"/>
                <a:cs typeface="Verdana"/>
              </a:defRPr>
            </a:lvl4pPr>
            <a:lvl5pPr>
              <a:defRPr sz="1875" b="0">
                <a:solidFill>
                  <a:srgbClr val="FFFFFF"/>
                </a:solidFill>
                <a:latin typeface="Verdana"/>
                <a:ea typeface="Verdana"/>
                <a:cs typeface="Verdana"/>
              </a:defRPr>
            </a:lvl5pPr>
            <a:lvl6pPr>
              <a:defRPr sz="1875" b="0">
                <a:solidFill>
                  <a:srgbClr val="FFFFFF"/>
                </a:solidFill>
                <a:latin typeface="Verdana"/>
                <a:ea typeface="Verdana"/>
                <a:cs typeface="Verdana"/>
              </a:defRPr>
            </a:lvl6pPr>
            <a:lvl7pPr>
              <a:defRPr sz="1875" b="0">
                <a:solidFill>
                  <a:srgbClr val="FFFFFF"/>
                </a:solidFill>
                <a:latin typeface="Verdana"/>
                <a:ea typeface="Verdana"/>
                <a:cs typeface="Verdana"/>
              </a:defRPr>
            </a:lvl7pPr>
            <a:lvl8pPr>
              <a:defRPr sz="1875" b="0">
                <a:solidFill>
                  <a:srgbClr val="FFFFFF"/>
                </a:solidFill>
                <a:latin typeface="Verdana"/>
                <a:ea typeface="Verdana"/>
                <a:cs typeface="Verdana"/>
              </a:defRPr>
            </a:lvl8pPr>
            <a:lvl9pPr>
              <a:defRPr sz="1875" b="0">
                <a:solidFill>
                  <a:srgbClr val="FFFFFF"/>
                </a:solidFill>
                <a:latin typeface="Verdana"/>
                <a:ea typeface="Verdana"/>
                <a:cs typeface="Verdana"/>
              </a:defRPr>
            </a:lvl9pPr>
          </a:lstStyle>
          <a:p xmlns:a="http://schemas.openxmlformats.org/drawingml/2006/main">
            <a:pPr>
              <a:lnSpc>
                <a:spcPct val="115000"/>
              </a:lnSpc>
              <a:buNone/>
              <a:defRPr sz="1875" b="0">
                <a:solidFill>
                  <a:srgbClr val="FFFFFF"/>
                </a:solidFill>
                <a:latin typeface="Verdana"/>
                <a:ea typeface="Verdana"/>
                <a:cs typeface="Verdana"/>
              </a:defRPr>
            </a:pPr>
            <a:r>
              <a:rPr sz="1875" b="0">
                <a:solidFill>
                  <a:srgbClr val="FFFFFF"/>
                </a:solidFill>
                <a:latin typeface="Verdana"/>
                <a:ea typeface="Verdana"/>
                <a:cs typeface="Verdana"/>
              </a:rPr>
              <a:t>decision: refuse · generationCalled: false</a:t>
            </a:r>
          </a:p>
        </p:txBody>
      </p:sp>
      <p:sp>
        <p:nvSpPr>
          <p:cNvPr id="7" name="texto-6">
            <a:extLst xmlns:a="http://schemas.openxmlformats.org/drawingml/2006/main">
              <a:ext uri="{FF2B5EF4-FFF2-40B4-BE49-F238E27FC236}">
                <a16:creationId xmlns:a16="http://schemas.microsoft.com/office/drawing/2014/main" id="{34C85A84-A0EE-4F58-B4F8-726A3216EEF0}"/>
              </a:ext>
            </a:extLst>
          </p:cNvPr>
          <p:cNvSpPr>
            <a:spLocks xmlns:a="http://schemas.openxmlformats.org/drawingml/2006/main" noGrp="1"/>
          </p:cNvSpPr>
          <p:nvPr/>
        </p:nvSpPr>
        <p:spPr>
          <a:xfrm xmlns:a="http://schemas.openxmlformats.org/drawingml/2006/main">
            <a:off x="609600" y="4314825"/>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DDAC8"/>
                </a:solidFill>
                <a:latin typeface="Courier New"/>
                <a:ea typeface="Courier New"/>
                <a:cs typeface="Courier New"/>
              </a:defRPr>
            </a:defPPr>
            <a:lvl1pPr>
              <a:defRPr sz="1725" b="0">
                <a:solidFill>
                  <a:srgbClr val="4DDAC8"/>
                </a:solidFill>
                <a:latin typeface="Courier New"/>
                <a:ea typeface="Courier New"/>
                <a:cs typeface="Courier New"/>
              </a:defRPr>
            </a:lvl1pPr>
            <a:lvl2pPr>
              <a:defRPr sz="1725" b="0">
                <a:solidFill>
                  <a:srgbClr val="4DDAC8"/>
                </a:solidFill>
                <a:latin typeface="Courier New"/>
                <a:ea typeface="Courier New"/>
                <a:cs typeface="Courier New"/>
              </a:defRPr>
            </a:lvl2pPr>
            <a:lvl3pPr>
              <a:defRPr sz="1725" b="0">
                <a:solidFill>
                  <a:srgbClr val="4DDAC8"/>
                </a:solidFill>
                <a:latin typeface="Courier New"/>
                <a:ea typeface="Courier New"/>
                <a:cs typeface="Courier New"/>
              </a:defRPr>
            </a:lvl3pPr>
            <a:lvl4pPr>
              <a:defRPr sz="1725" b="0">
                <a:solidFill>
                  <a:srgbClr val="4DDAC8"/>
                </a:solidFill>
                <a:latin typeface="Courier New"/>
                <a:ea typeface="Courier New"/>
                <a:cs typeface="Courier New"/>
              </a:defRPr>
            </a:lvl4pPr>
            <a:lvl5pPr>
              <a:defRPr sz="1725" b="0">
                <a:solidFill>
                  <a:srgbClr val="4DDAC8"/>
                </a:solidFill>
                <a:latin typeface="Courier New"/>
                <a:ea typeface="Courier New"/>
                <a:cs typeface="Courier New"/>
              </a:defRPr>
            </a:lvl5pPr>
            <a:lvl6pPr>
              <a:defRPr sz="1725" b="0">
                <a:solidFill>
                  <a:srgbClr val="4DDAC8"/>
                </a:solidFill>
                <a:latin typeface="Courier New"/>
                <a:ea typeface="Courier New"/>
                <a:cs typeface="Courier New"/>
              </a:defRPr>
            </a:lvl6pPr>
            <a:lvl7pPr>
              <a:defRPr sz="1725" b="0">
                <a:solidFill>
                  <a:srgbClr val="4DDAC8"/>
                </a:solidFill>
                <a:latin typeface="Courier New"/>
                <a:ea typeface="Courier New"/>
                <a:cs typeface="Courier New"/>
              </a:defRPr>
            </a:lvl7pPr>
            <a:lvl8pPr>
              <a:defRPr sz="1725" b="0">
                <a:solidFill>
                  <a:srgbClr val="4DDAC8"/>
                </a:solidFill>
                <a:latin typeface="Courier New"/>
                <a:ea typeface="Courier New"/>
                <a:cs typeface="Courier New"/>
              </a:defRPr>
            </a:lvl8pPr>
            <a:lvl9pPr>
              <a:defRPr sz="1725" b="0">
                <a:solidFill>
                  <a:srgbClr val="4DDAC8"/>
                </a:solidFill>
                <a:latin typeface="Courier New"/>
                <a:ea typeface="Courier New"/>
                <a:cs typeface="Courier New"/>
              </a:defRPr>
            </a:lvl9pPr>
          </a:lstStyle>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pregunta='¿Qué coste mensual tienen las licencias de '\</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'Windows Server 2025 en AetherCloud?'</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bun run lab:real query --question "$pregunta" \</a:t>
            </a:r>
          </a:p>
          <a:p xmlns:a="http://schemas.openxmlformats.org/drawingml/2006/main">
            <a:pPr>
              <a:lnSpc>
                <a:spcPct val="115000"/>
              </a:lnSpc>
              <a:buNone/>
              <a:defRPr sz="1725" b="0">
                <a:solidFill>
                  <a:srgbClr val="4DDAC8"/>
                </a:solidFill>
                <a:latin typeface="Courier New"/>
                <a:ea typeface="Courier New"/>
                <a:cs typeface="Courier New"/>
              </a:defRPr>
            </a:pPr>
            <a:r>
              <a:rPr sz="1725" b="0">
                <a:solidFill>
                  <a:srgbClr val="4DDAC8"/>
                </a:solidFill>
                <a:latin typeface="Courier New"/>
                <a:ea typeface="Courier New"/>
                <a:cs typeface="Courier New"/>
              </a:rPr>
              <a:t>  --execute --max-spend-usd 1 --brief</a:t>
            </a:r>
          </a:p>
        </p:txBody>
      </p:sp>
      <p:sp>
        <p:nvSpPr>
          <p:cNvPr id="8" name="texto-7">
            <a:extLst xmlns:a="http://schemas.openxmlformats.org/drawingml/2006/main">
              <a:ext uri="{FF2B5EF4-FFF2-40B4-BE49-F238E27FC236}">
                <a16:creationId xmlns:a16="http://schemas.microsoft.com/office/drawing/2014/main" id="{5F8234C3-268E-450F-BC8B-102B726A6CF6}"/>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9" name="texto-8">
            <a:extLst xmlns:a="http://schemas.openxmlformats.org/drawingml/2006/main">
              <a:ext uri="{FF2B5EF4-FFF2-40B4-BE49-F238E27FC236}">
                <a16:creationId xmlns:a16="http://schemas.microsoft.com/office/drawing/2014/main" id="{BC15FC2E-AB33-4DD8-A130-A8205B7C40D2}"/>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17 / 24</a:t>
            </a:r>
          </a:p>
        </p:txBody>
      </p:sp>
    </p:spTree>
    <p:extLst>
      <p:ext uri="{BB962C8B-B14F-4D97-AF65-F5344CB8AC3E}">
        <p14:creationId xmlns:p14="http://schemas.microsoft.com/office/powerpoint/2010/main" val="1281327622"/>
      </p:ext>
    </p:extLst>
  </p:cSld>
</p:sld>
</file>

<file path=ppt/slides/slide1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C1E97761-B5E0-4132-86ED-8E406BD1A67B}"/>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APLICACIÓN Y CÓDIGO</a:t>
            </a:r>
          </a:p>
        </p:txBody>
      </p:sp>
      <p:sp>
        <p:nvSpPr>
          <p:cNvPr id="2" name="texto-1">
            <a:extLst xmlns:a="http://schemas.openxmlformats.org/drawingml/2006/main">
              <a:ext uri="{FF2B5EF4-FFF2-40B4-BE49-F238E27FC236}">
                <a16:creationId xmlns:a16="http://schemas.microsoft.com/office/drawing/2014/main" id="{761F6F1D-3F9B-4F98-AAAB-3FA7EEBE2454}"/>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19:38–19:42</a:t>
            </a:r>
          </a:p>
        </p:txBody>
      </p:sp>
      <p:sp>
        <p:nvSpPr>
          <p:cNvPr id="3" name="texto-2">
            <a:extLst xmlns:a="http://schemas.openxmlformats.org/drawingml/2006/main">
              <a:ext uri="{FF2B5EF4-FFF2-40B4-BE49-F238E27FC236}">
                <a16:creationId xmlns:a16="http://schemas.microsoft.com/office/drawing/2014/main" id="{498FB269-1AA8-4EC9-A088-0542BA5DF8E8}"/>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Filtros de grupo en el asistente del curso</a:t>
            </a:r>
          </a:p>
        </p:txBody>
      </p:sp>
      <p:sp>
        <p:nvSpPr>
          <p:cNvPr id="4" name="texto-3">
            <a:extLst xmlns:a="http://schemas.openxmlformats.org/drawingml/2006/main">
              <a:ext uri="{FF2B5EF4-FFF2-40B4-BE49-F238E27FC236}">
                <a16:creationId xmlns:a16="http://schemas.microsoft.com/office/drawing/2014/main" id="{03B05854-A98F-4FD5-A1A9-A56F811E4E58}"/>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M/J: S10 el 22 de octubre</a:t>
            </a:r>
          </a:p>
        </p:txBody>
      </p:sp>
      <p:sp>
        <p:nvSpPr>
          <p:cNvPr id="5" name="texto-4">
            <a:extLst xmlns:a="http://schemas.openxmlformats.org/drawingml/2006/main">
              <a:ext uri="{FF2B5EF4-FFF2-40B4-BE49-F238E27FC236}">
                <a16:creationId xmlns:a16="http://schemas.microsoft.com/office/drawing/2014/main" id="{067A97FF-8DDD-4267-9B87-9C96EF18E141}"/>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L/X: S10 el 26 de octubre</a:t>
            </a:r>
          </a:p>
        </p:txBody>
      </p:sp>
      <p:sp>
        <p:nvSpPr>
          <p:cNvPr id="6" name="texto-5">
            <a:extLst xmlns:a="http://schemas.openxmlformats.org/drawingml/2006/main">
              <a:ext uri="{FF2B5EF4-FFF2-40B4-BE49-F238E27FC236}">
                <a16:creationId xmlns:a16="http://schemas.microsoft.com/office/drawing/2014/main" id="{B173D391-A9E6-42EE-B184-F9DC1A667BF5}"/>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Sin grupo, una pregunta de calendario pide aclaración</a:t>
            </a:r>
          </a:p>
        </p:txBody>
      </p:sp>
      <p:sp>
        <p:nvSpPr>
          <p:cNvPr id="7" name="texto-6">
            <a:extLst xmlns:a="http://schemas.openxmlformats.org/drawingml/2006/main">
              <a:ext uri="{FF2B5EF4-FFF2-40B4-BE49-F238E27FC236}">
                <a16:creationId xmlns:a16="http://schemas.microsoft.com/office/drawing/2014/main" id="{93F5E369-69D3-42D2-A741-FD6B850114BC}"/>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DFBDBAEA-E2D8-4B6C-9992-98AA708D3642}"/>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18 / 24</a:t>
            </a:r>
          </a:p>
        </p:txBody>
      </p:sp>
    </p:spTree>
    <p:extLst>
      <p:ext uri="{BB962C8B-B14F-4D97-AF65-F5344CB8AC3E}">
        <p14:creationId xmlns:p14="http://schemas.microsoft.com/office/powerpoint/2010/main" val="131869343"/>
      </p:ext>
    </p:extLst>
  </p:cSld>
</p:sld>
</file>

<file path=ppt/slides/slide1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4967ECE0-1CE6-4B90-9B78-D52D264DD8C6}"/>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APLICACIÓN Y CÓDIGO</a:t>
            </a:r>
          </a:p>
        </p:txBody>
      </p:sp>
      <p:sp>
        <p:nvSpPr>
          <p:cNvPr id="2" name="texto-1">
            <a:extLst xmlns:a="http://schemas.openxmlformats.org/drawingml/2006/main">
              <a:ext uri="{FF2B5EF4-FFF2-40B4-BE49-F238E27FC236}">
                <a16:creationId xmlns:a16="http://schemas.microsoft.com/office/drawing/2014/main" id="{DB412B94-D954-4070-A445-DF02D4764AD4}"/>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19:42–19:47</a:t>
            </a:r>
          </a:p>
        </p:txBody>
      </p:sp>
      <p:sp>
        <p:nvSpPr>
          <p:cNvPr id="3" name="texto-2">
            <a:extLst xmlns:a="http://schemas.openxmlformats.org/drawingml/2006/main">
              <a:ext uri="{FF2B5EF4-FFF2-40B4-BE49-F238E27FC236}">
                <a16:creationId xmlns:a16="http://schemas.microsoft.com/office/drawing/2014/main" id="{74BEF1CC-338F-48A2-BB6D-FF19AB8816B0}"/>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Evaluar sin ajustar con el test</a:t>
            </a:r>
          </a:p>
        </p:txBody>
      </p:sp>
      <p:sp>
        <p:nvSpPr>
          <p:cNvPr id="4" name="texto-3">
            <a:extLst xmlns:a="http://schemas.openxmlformats.org/drawingml/2006/main">
              <a:ext uri="{FF2B5EF4-FFF2-40B4-BE49-F238E27FC236}">
                <a16:creationId xmlns:a16="http://schemas.microsoft.com/office/drawing/2014/main" id="{8D5C91F0-26D1-4D32-9698-DB8DB8C6AE9E}"/>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20 preguntas: 14 respondibles y 6 sin respuesta</a:t>
            </a:r>
          </a:p>
        </p:txBody>
      </p:sp>
      <p:sp>
        <p:nvSpPr>
          <p:cNvPr id="5" name="texto-4">
            <a:extLst xmlns:a="http://schemas.openxmlformats.org/drawingml/2006/main">
              <a:ext uri="{FF2B5EF4-FFF2-40B4-BE49-F238E27FC236}">
                <a16:creationId xmlns:a16="http://schemas.microsoft.com/office/drawing/2014/main" id="{91A555CC-3A16-4CC0-854E-ED81F6737FE5}"/>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Conjunto distinto de las seis de validación</a:t>
            </a:r>
          </a:p>
        </p:txBody>
      </p:sp>
      <p:sp>
        <p:nvSpPr>
          <p:cNvPr id="6" name="texto-5">
            <a:extLst xmlns:a="http://schemas.openxmlformats.org/drawingml/2006/main">
              <a:ext uri="{FF2B5EF4-FFF2-40B4-BE49-F238E27FC236}">
                <a16:creationId xmlns:a16="http://schemas.microsoft.com/office/drawing/2014/main" id="{3F057008-7A61-49B8-9FC1-F9524D23D96B}"/>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Conservar respuestas, fuentes, puntuaciones y fallos</a:t>
            </a:r>
          </a:p>
        </p:txBody>
      </p:sp>
      <p:sp>
        <p:nvSpPr>
          <p:cNvPr id="7" name="texto-6">
            <a:extLst xmlns:a="http://schemas.openxmlformats.org/drawingml/2006/main">
              <a:ext uri="{FF2B5EF4-FFF2-40B4-BE49-F238E27FC236}">
                <a16:creationId xmlns:a16="http://schemas.microsoft.com/office/drawing/2014/main" id="{E8D64792-4158-4A59-9917-4B1DD337DF86}"/>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F33F75E7-888D-491B-A899-F1ECDBF38F72}"/>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19 / 24</a:t>
            </a:r>
          </a:p>
        </p:txBody>
      </p:sp>
    </p:spTree>
    <p:extLst>
      <p:ext uri="{BB962C8B-B14F-4D97-AF65-F5344CB8AC3E}">
        <p14:creationId xmlns:p14="http://schemas.microsoft.com/office/powerpoint/2010/main" val="290978485"/>
      </p:ext>
    </p:extLst>
  </p:cSld>
</p:sld>
</file>

<file path=ppt/slides/slide2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608D71EB-2116-46BD-84C8-6B0A9068A706}"/>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APLICACIÓN Y CÓDIGO</a:t>
            </a:r>
          </a:p>
        </p:txBody>
      </p:sp>
      <p:sp>
        <p:nvSpPr>
          <p:cNvPr id="2" name="texto-1">
            <a:extLst xmlns:a="http://schemas.openxmlformats.org/drawingml/2006/main">
              <a:ext uri="{FF2B5EF4-FFF2-40B4-BE49-F238E27FC236}">
                <a16:creationId xmlns:a16="http://schemas.microsoft.com/office/drawing/2014/main" id="{3AFD8894-49ED-4C07-930F-6E02C998BE37}"/>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19:47–19:50</a:t>
            </a:r>
          </a:p>
        </p:txBody>
      </p:sp>
      <p:sp>
        <p:nvSpPr>
          <p:cNvPr id="3" name="texto-2">
            <a:extLst xmlns:a="http://schemas.openxmlformats.org/drawingml/2006/main">
              <a:ext uri="{FF2B5EF4-FFF2-40B4-BE49-F238E27FC236}">
                <a16:creationId xmlns:a16="http://schemas.microsoft.com/office/drawing/2014/main" id="{ABE56934-41D5-445D-9CAC-8189FA77E5E6}"/>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La práctica que debéis entregar</a:t>
            </a:r>
          </a:p>
        </p:txBody>
      </p:sp>
      <p:sp>
        <p:nvSpPr>
          <p:cNvPr id="4" name="texto-3">
            <a:extLst xmlns:a="http://schemas.openxmlformats.org/drawingml/2006/main">
              <a:ext uri="{FF2B5EF4-FFF2-40B4-BE49-F238E27FC236}">
                <a16:creationId xmlns:a16="http://schemas.microsoft.com/office/drawing/2014/main" id="{CC9171FF-1199-4A8B-A9DE-E3D47FD7C678}"/>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8 o más documentos ficticios · pgvector 768 + HNSW</a:t>
            </a:r>
          </a:p>
        </p:txBody>
      </p:sp>
      <p:sp>
        <p:nvSpPr>
          <p:cNvPr id="5" name="texto-4">
            <a:extLst xmlns:a="http://schemas.openxmlformats.org/drawingml/2006/main">
              <a:ext uri="{FF2B5EF4-FFF2-40B4-BE49-F238E27FC236}">
                <a16:creationId xmlns:a16="http://schemas.microsoft.com/office/drawing/2014/main" id="{3E3351B5-9E20-40B7-8F67-199446452CCD}"/>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Ingesta, consulta, control previo, respuesta y fuentes</a:t>
            </a:r>
          </a:p>
        </p:txBody>
      </p:sp>
      <p:sp>
        <p:nvSpPr>
          <p:cNvPr id="6" name="texto-5">
            <a:extLst xmlns:a="http://schemas.openxmlformats.org/drawingml/2006/main">
              <a:ext uri="{FF2B5EF4-FFF2-40B4-BE49-F238E27FC236}">
                <a16:creationId xmlns:a16="http://schemas.microsoft.com/office/drawing/2014/main" id="{B662CEA7-E164-4E9F-AC11-4D89496B0610}"/>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Test 14 + 6 ejecutado · README reproducible</a:t>
            </a:r>
          </a:p>
        </p:txBody>
      </p:sp>
      <p:sp>
        <p:nvSpPr>
          <p:cNvPr id="7" name="texto-6">
            <a:extLst xmlns:a="http://schemas.openxmlformats.org/drawingml/2006/main">
              <a:ext uri="{FF2B5EF4-FFF2-40B4-BE49-F238E27FC236}">
                <a16:creationId xmlns:a16="http://schemas.microsoft.com/office/drawing/2014/main" id="{BD9BB06A-59CD-4C16-B568-C12CA491AE4F}"/>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A01BC133-DD53-4638-983D-636259D7E896}"/>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20 / 24</a:t>
            </a:r>
          </a:p>
        </p:txBody>
      </p:sp>
    </p:spTree>
    <p:extLst>
      <p:ext uri="{BB962C8B-B14F-4D97-AF65-F5344CB8AC3E}">
        <p14:creationId xmlns:p14="http://schemas.microsoft.com/office/powerpoint/2010/main" val="893678407"/>
      </p:ext>
    </p:extLst>
  </p:cSld>
</p:sld>
</file>

<file path=ppt/slides/slide21.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AD7CB662-524C-40F4-8FD3-4DBCDC4024FE}"/>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CIERRE</a:t>
            </a:r>
          </a:p>
        </p:txBody>
      </p:sp>
      <p:sp>
        <p:nvSpPr>
          <p:cNvPr id="2" name="texto-1">
            <a:extLst xmlns:a="http://schemas.openxmlformats.org/drawingml/2006/main">
              <a:ext uri="{FF2B5EF4-FFF2-40B4-BE49-F238E27FC236}">
                <a16:creationId xmlns:a16="http://schemas.microsoft.com/office/drawing/2014/main" id="{1EEB7E97-5238-4AED-8621-457C731245CE}"/>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19:50–19:53</a:t>
            </a:r>
          </a:p>
        </p:txBody>
      </p:sp>
      <p:sp>
        <p:nvSpPr>
          <p:cNvPr id="3" name="texto-2">
            <a:extLst xmlns:a="http://schemas.openxmlformats.org/drawingml/2006/main">
              <a:ext uri="{FF2B5EF4-FFF2-40B4-BE49-F238E27FC236}">
                <a16:creationId xmlns:a16="http://schemas.microsoft.com/office/drawing/2014/main" id="{467B9095-FDEF-42C5-92F7-1DB1D1F7C0AF}"/>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Verdana"/>
                <a:ea typeface="Verdana"/>
                <a:cs typeface="Verdana"/>
              </a:defRPr>
            </a:defPPr>
            <a:lvl1pPr>
              <a:defRPr sz="3225" b="1">
                <a:solidFill>
                  <a:srgbClr val="FFFFFF"/>
                </a:solidFill>
                <a:latin typeface="Verdana"/>
                <a:ea typeface="Verdana"/>
                <a:cs typeface="Verdana"/>
              </a:defRPr>
            </a:lvl1pPr>
            <a:lvl2pPr>
              <a:defRPr sz="3225" b="1">
                <a:solidFill>
                  <a:srgbClr val="FFFFFF"/>
                </a:solidFill>
                <a:latin typeface="Verdana"/>
                <a:ea typeface="Verdana"/>
                <a:cs typeface="Verdana"/>
              </a:defRPr>
            </a:lvl2pPr>
            <a:lvl3pPr>
              <a:defRPr sz="3225" b="1">
                <a:solidFill>
                  <a:srgbClr val="FFFFFF"/>
                </a:solidFill>
                <a:latin typeface="Verdana"/>
                <a:ea typeface="Verdana"/>
                <a:cs typeface="Verdana"/>
              </a:defRPr>
            </a:lvl3pPr>
            <a:lvl4pPr>
              <a:defRPr sz="3225" b="1">
                <a:solidFill>
                  <a:srgbClr val="FFFFFF"/>
                </a:solidFill>
                <a:latin typeface="Verdana"/>
                <a:ea typeface="Verdana"/>
                <a:cs typeface="Verdana"/>
              </a:defRPr>
            </a:lvl4pPr>
            <a:lvl5pPr>
              <a:defRPr sz="3225" b="1">
                <a:solidFill>
                  <a:srgbClr val="FFFFFF"/>
                </a:solidFill>
                <a:latin typeface="Verdana"/>
                <a:ea typeface="Verdana"/>
                <a:cs typeface="Verdana"/>
              </a:defRPr>
            </a:lvl5pPr>
            <a:lvl6pPr>
              <a:defRPr sz="3225" b="1">
                <a:solidFill>
                  <a:srgbClr val="FFFFFF"/>
                </a:solidFill>
                <a:latin typeface="Verdana"/>
                <a:ea typeface="Verdana"/>
                <a:cs typeface="Verdana"/>
              </a:defRPr>
            </a:lvl6pPr>
            <a:lvl7pPr>
              <a:defRPr sz="3225" b="1">
                <a:solidFill>
                  <a:srgbClr val="FFFFFF"/>
                </a:solidFill>
                <a:latin typeface="Verdana"/>
                <a:ea typeface="Verdana"/>
                <a:cs typeface="Verdana"/>
              </a:defRPr>
            </a:lvl7pPr>
            <a:lvl8pPr>
              <a:defRPr sz="3225" b="1">
                <a:solidFill>
                  <a:srgbClr val="FFFFFF"/>
                </a:solidFill>
                <a:latin typeface="Verdana"/>
                <a:ea typeface="Verdana"/>
                <a:cs typeface="Verdana"/>
              </a:defRPr>
            </a:lvl8pPr>
            <a:lvl9pPr>
              <a:defRPr sz="3225" b="1">
                <a:solidFill>
                  <a:srgbClr val="FFFFFF"/>
                </a:solidFill>
                <a:latin typeface="Verdana"/>
                <a:ea typeface="Verdana"/>
                <a:cs typeface="Verdana"/>
              </a:defRPr>
            </a:lvl9pPr>
          </a:lstStyle>
          <a:p xmlns:a="http://schemas.openxmlformats.org/drawingml/2006/main">
            <a:pPr>
              <a:lnSpc>
                <a:spcPct val="115000"/>
              </a:lnSpc>
              <a:buNone/>
              <a:defRPr sz="3225" b="1">
                <a:solidFill>
                  <a:srgbClr val="FFFFFF"/>
                </a:solidFill>
                <a:latin typeface="Verdana"/>
                <a:ea typeface="Verdana"/>
                <a:cs typeface="Verdana"/>
              </a:defRPr>
            </a:pPr>
            <a:r>
              <a:rPr sz="3225" b="1">
                <a:solidFill>
                  <a:srgbClr val="FFFFFF"/>
                </a:solidFill>
                <a:latin typeface="Verdana"/>
                <a:ea typeface="Verdana"/>
                <a:cs typeface="Verdana"/>
              </a:rPr>
              <a:t>Lo que debe poder explicar un RAG</a:t>
            </a:r>
          </a:p>
        </p:txBody>
      </p:sp>
      <p:sp>
        <p:nvSpPr>
          <p:cNvPr id="4" name="texto-3">
            <a:extLst xmlns:a="http://schemas.openxmlformats.org/drawingml/2006/main">
              <a:ext uri="{FF2B5EF4-FFF2-40B4-BE49-F238E27FC236}">
                <a16:creationId xmlns:a16="http://schemas.microsoft.com/office/drawing/2014/main" id="{26464438-A92D-4C97-8469-1AB82C473BAB}"/>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Qué documentos leyó y por qué llegaron al contexto</a:t>
            </a:r>
          </a:p>
        </p:txBody>
      </p:sp>
      <p:sp>
        <p:nvSpPr>
          <p:cNvPr id="5" name="texto-4">
            <a:extLst xmlns:a="http://schemas.openxmlformats.org/drawingml/2006/main">
              <a:ext uri="{FF2B5EF4-FFF2-40B4-BE49-F238E27FC236}">
                <a16:creationId xmlns:a16="http://schemas.microsoft.com/office/drawing/2014/main" id="{1663AE05-BBBF-44AF-AD91-4D23B40FB496}"/>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Qué afirma y qué fuente respalda cada afirmación</a:t>
            </a:r>
          </a:p>
        </p:txBody>
      </p:sp>
      <p:sp>
        <p:nvSpPr>
          <p:cNvPr id="6" name="texto-5">
            <a:extLst xmlns:a="http://schemas.openxmlformats.org/drawingml/2006/main">
              <a:ext uri="{FF2B5EF4-FFF2-40B4-BE49-F238E27FC236}">
                <a16:creationId xmlns:a16="http://schemas.microsoft.com/office/drawing/2014/main" id="{B1F039D7-97E9-4771-8E4A-58B618ABE8AC}"/>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Qué hizo cuando no encontró evidencia suficiente</a:t>
            </a:r>
          </a:p>
        </p:txBody>
      </p:sp>
      <p:sp>
        <p:nvSpPr>
          <p:cNvPr id="7" name="texto-6">
            <a:extLst xmlns:a="http://schemas.openxmlformats.org/drawingml/2006/main">
              <a:ext uri="{FF2B5EF4-FFF2-40B4-BE49-F238E27FC236}">
                <a16:creationId xmlns:a16="http://schemas.microsoft.com/office/drawing/2014/main" id="{4FF37A56-925F-4135-B706-270B59D521FE}"/>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5EA92865-C5FB-4E83-A74E-03E9AEED59D5}"/>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21 / 24</a:t>
            </a:r>
          </a:p>
        </p:txBody>
      </p:sp>
    </p:spTree>
    <p:extLst>
      <p:ext uri="{BB962C8B-B14F-4D97-AF65-F5344CB8AC3E}">
        <p14:creationId xmlns:p14="http://schemas.microsoft.com/office/powerpoint/2010/main" val="1592850421"/>
      </p:ext>
    </p:extLst>
  </p:cSld>
</p:sld>
</file>

<file path=ppt/slides/slide2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A414F067-066D-45B4-8D8F-7AB38C5FA528}"/>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CIERRE</a:t>
            </a:r>
          </a:p>
        </p:txBody>
      </p:sp>
      <p:sp>
        <p:nvSpPr>
          <p:cNvPr id="2" name="texto-1">
            <a:extLst xmlns:a="http://schemas.openxmlformats.org/drawingml/2006/main">
              <a:ext uri="{FF2B5EF4-FFF2-40B4-BE49-F238E27FC236}">
                <a16:creationId xmlns:a16="http://schemas.microsoft.com/office/drawing/2014/main" id="{29583811-627F-4FD3-97B7-037BD8B3597D}"/>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19:53–19:58</a:t>
            </a:r>
          </a:p>
        </p:txBody>
      </p:sp>
      <p:sp>
        <p:nvSpPr>
          <p:cNvPr id="3" name="texto-2">
            <a:extLst xmlns:a="http://schemas.openxmlformats.org/drawingml/2006/main">
              <a:ext uri="{FF2B5EF4-FFF2-40B4-BE49-F238E27FC236}">
                <a16:creationId xmlns:a16="http://schemas.microsoft.com/office/drawing/2014/main" id="{39724691-78F0-494D-8415-55F2960DE9E1}"/>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Preguntas y decisiones de diseño</a:t>
            </a:r>
          </a:p>
        </p:txBody>
      </p:sp>
      <p:sp>
        <p:nvSpPr>
          <p:cNvPr id="4" name="texto-3">
            <a:extLst xmlns:a="http://schemas.openxmlformats.org/drawingml/2006/main">
              <a:ext uri="{FF2B5EF4-FFF2-40B4-BE49-F238E27FC236}">
                <a16:creationId xmlns:a16="http://schemas.microsoft.com/office/drawing/2014/main" id="{9B381CD8-9EC5-48F3-9568-0E0A7A0F27A7}"/>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¿Qué cambia si crece el corpus?</a:t>
            </a:r>
          </a:p>
        </p:txBody>
      </p:sp>
      <p:sp>
        <p:nvSpPr>
          <p:cNvPr id="5" name="texto-4">
            <a:extLst xmlns:a="http://schemas.openxmlformats.org/drawingml/2006/main">
              <a:ext uri="{FF2B5EF4-FFF2-40B4-BE49-F238E27FC236}">
                <a16:creationId xmlns:a16="http://schemas.microsoft.com/office/drawing/2014/main" id="{944ED2F5-7B54-4A8D-A189-692A6B4E7B6B}"/>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¿Dónde falla: ingesta, búsqueda, contexto o generación?</a:t>
            </a:r>
          </a:p>
        </p:txBody>
      </p:sp>
      <p:sp>
        <p:nvSpPr>
          <p:cNvPr id="6" name="texto-5">
            <a:extLst xmlns:a="http://schemas.openxmlformats.org/drawingml/2006/main">
              <a:ext uri="{FF2B5EF4-FFF2-40B4-BE49-F238E27FC236}">
                <a16:creationId xmlns:a16="http://schemas.microsoft.com/office/drawing/2014/main" id="{8BF965EB-208B-4EDB-B7D9-9C4922D9657D}"/>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¿Cómo detectar una cita que no respalda la respuesta?</a:t>
            </a:r>
          </a:p>
        </p:txBody>
      </p:sp>
      <p:sp>
        <p:nvSpPr>
          <p:cNvPr id="7" name="texto-6">
            <a:extLst xmlns:a="http://schemas.openxmlformats.org/drawingml/2006/main">
              <a:ext uri="{FF2B5EF4-FFF2-40B4-BE49-F238E27FC236}">
                <a16:creationId xmlns:a16="http://schemas.microsoft.com/office/drawing/2014/main" id="{7B3D8B74-EC6F-45D4-9579-7EC66D426165}"/>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F09E5B3E-4C3E-4415-8A13-4E5EEB32201D}"/>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22 / 24</a:t>
            </a:r>
          </a:p>
        </p:txBody>
      </p:sp>
    </p:spTree>
    <p:extLst>
      <p:ext uri="{BB962C8B-B14F-4D97-AF65-F5344CB8AC3E}">
        <p14:creationId xmlns:p14="http://schemas.microsoft.com/office/powerpoint/2010/main" val="1424143486"/>
      </p:ext>
    </p:extLst>
  </p:cSld>
</p:sld>
</file>

<file path=ppt/slides/slide23.xml><?xml version="1.0" encoding="utf-8"?>
<p:sld xmlns:p="http://schemas.openxmlformats.org/presentationml/2006/main">
  <p:cSld>
    <p:bg>
      <p:bgPr>
        <a:solidFill xmlns:a="http://schemas.openxmlformats.org/drawingml/2006/main">
          <a:srgbClr val="081D2B"/>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77615757-FD03-498D-8E8A-08EDC0620090}"/>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4DDAC8"/>
                </a:solidFill>
                <a:latin typeface="Verdana"/>
                <a:ea typeface="Verdana"/>
                <a:cs typeface="Verdana"/>
              </a:defRPr>
            </a:defPPr>
            <a:lvl1pPr>
              <a:defRPr sz="1125" b="1">
                <a:solidFill>
                  <a:srgbClr val="4DDAC8"/>
                </a:solidFill>
                <a:latin typeface="Verdana"/>
                <a:ea typeface="Verdana"/>
                <a:cs typeface="Verdana"/>
              </a:defRPr>
            </a:lvl1pPr>
            <a:lvl2pPr>
              <a:defRPr sz="1125" b="1">
                <a:solidFill>
                  <a:srgbClr val="4DDAC8"/>
                </a:solidFill>
                <a:latin typeface="Verdana"/>
                <a:ea typeface="Verdana"/>
                <a:cs typeface="Verdana"/>
              </a:defRPr>
            </a:lvl2pPr>
            <a:lvl3pPr>
              <a:defRPr sz="1125" b="1">
                <a:solidFill>
                  <a:srgbClr val="4DDAC8"/>
                </a:solidFill>
                <a:latin typeface="Verdana"/>
                <a:ea typeface="Verdana"/>
                <a:cs typeface="Verdana"/>
              </a:defRPr>
            </a:lvl3pPr>
            <a:lvl4pPr>
              <a:defRPr sz="1125" b="1">
                <a:solidFill>
                  <a:srgbClr val="4DDAC8"/>
                </a:solidFill>
                <a:latin typeface="Verdana"/>
                <a:ea typeface="Verdana"/>
                <a:cs typeface="Verdana"/>
              </a:defRPr>
            </a:lvl4pPr>
            <a:lvl5pPr>
              <a:defRPr sz="1125" b="1">
                <a:solidFill>
                  <a:srgbClr val="4DDAC8"/>
                </a:solidFill>
                <a:latin typeface="Verdana"/>
                <a:ea typeface="Verdana"/>
                <a:cs typeface="Verdana"/>
              </a:defRPr>
            </a:lvl5pPr>
            <a:lvl6pPr>
              <a:defRPr sz="1125" b="1">
                <a:solidFill>
                  <a:srgbClr val="4DDAC8"/>
                </a:solidFill>
                <a:latin typeface="Verdana"/>
                <a:ea typeface="Verdana"/>
                <a:cs typeface="Verdana"/>
              </a:defRPr>
            </a:lvl6pPr>
            <a:lvl7pPr>
              <a:defRPr sz="1125" b="1">
                <a:solidFill>
                  <a:srgbClr val="4DDAC8"/>
                </a:solidFill>
                <a:latin typeface="Verdana"/>
                <a:ea typeface="Verdana"/>
                <a:cs typeface="Verdana"/>
              </a:defRPr>
            </a:lvl7pPr>
            <a:lvl8pPr>
              <a:defRPr sz="1125" b="1">
                <a:solidFill>
                  <a:srgbClr val="4DDAC8"/>
                </a:solidFill>
                <a:latin typeface="Verdana"/>
                <a:ea typeface="Verdana"/>
                <a:cs typeface="Verdana"/>
              </a:defRPr>
            </a:lvl8pPr>
            <a:lvl9pPr>
              <a:defRPr sz="1125" b="1">
                <a:solidFill>
                  <a:srgbClr val="4DDAC8"/>
                </a:solidFill>
                <a:latin typeface="Verdana"/>
                <a:ea typeface="Verdana"/>
                <a:cs typeface="Verdana"/>
              </a:defRPr>
            </a:lvl9pPr>
          </a:lstStyle>
          <a:p xmlns:a="http://schemas.openxmlformats.org/drawingml/2006/main">
            <a:pPr>
              <a:lnSpc>
                <a:spcPct val="115000"/>
              </a:lnSpc>
              <a:buNone/>
              <a:defRPr sz="1125" b="1">
                <a:solidFill>
                  <a:srgbClr val="4DDAC8"/>
                </a:solidFill>
                <a:latin typeface="Verdana"/>
                <a:ea typeface="Verdana"/>
                <a:cs typeface="Verdana"/>
              </a:defRPr>
            </a:pPr>
            <a:r>
              <a:rPr sz="1125" b="1">
                <a:solidFill>
                  <a:srgbClr val="4DDAC8"/>
                </a:solidFill>
                <a:latin typeface="Verdana"/>
                <a:ea typeface="Verdana"/>
                <a:cs typeface="Verdana"/>
              </a:rPr>
              <a:t>S10 · CIERRE</a:t>
            </a:r>
          </a:p>
        </p:txBody>
      </p:sp>
      <p:sp>
        <p:nvSpPr>
          <p:cNvPr id="2" name="texto-1">
            <a:extLst xmlns:a="http://schemas.openxmlformats.org/drawingml/2006/main">
              <a:ext uri="{FF2B5EF4-FFF2-40B4-BE49-F238E27FC236}">
                <a16:creationId xmlns:a16="http://schemas.microsoft.com/office/drawing/2014/main" id="{D1229317-9695-4255-9771-570843DFD971}"/>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DDAC8"/>
                </a:solidFill>
                <a:latin typeface="Verdana"/>
                <a:ea typeface="Verdana"/>
                <a:cs typeface="Verdana"/>
              </a:defRPr>
            </a:defPPr>
            <a:lvl1pPr>
              <a:defRPr sz="1125" b="0">
                <a:solidFill>
                  <a:srgbClr val="4DDAC8"/>
                </a:solidFill>
                <a:latin typeface="Verdana"/>
                <a:ea typeface="Verdana"/>
                <a:cs typeface="Verdana"/>
              </a:defRPr>
            </a:lvl1pPr>
            <a:lvl2pPr>
              <a:defRPr sz="1125" b="0">
                <a:solidFill>
                  <a:srgbClr val="4DDAC8"/>
                </a:solidFill>
                <a:latin typeface="Verdana"/>
                <a:ea typeface="Verdana"/>
                <a:cs typeface="Verdana"/>
              </a:defRPr>
            </a:lvl2pPr>
            <a:lvl3pPr>
              <a:defRPr sz="1125" b="0">
                <a:solidFill>
                  <a:srgbClr val="4DDAC8"/>
                </a:solidFill>
                <a:latin typeface="Verdana"/>
                <a:ea typeface="Verdana"/>
                <a:cs typeface="Verdana"/>
              </a:defRPr>
            </a:lvl3pPr>
            <a:lvl4pPr>
              <a:defRPr sz="1125" b="0">
                <a:solidFill>
                  <a:srgbClr val="4DDAC8"/>
                </a:solidFill>
                <a:latin typeface="Verdana"/>
                <a:ea typeface="Verdana"/>
                <a:cs typeface="Verdana"/>
              </a:defRPr>
            </a:lvl4pPr>
            <a:lvl5pPr>
              <a:defRPr sz="1125" b="0">
                <a:solidFill>
                  <a:srgbClr val="4DDAC8"/>
                </a:solidFill>
                <a:latin typeface="Verdana"/>
                <a:ea typeface="Verdana"/>
                <a:cs typeface="Verdana"/>
              </a:defRPr>
            </a:lvl5pPr>
            <a:lvl6pPr>
              <a:defRPr sz="1125" b="0">
                <a:solidFill>
                  <a:srgbClr val="4DDAC8"/>
                </a:solidFill>
                <a:latin typeface="Verdana"/>
                <a:ea typeface="Verdana"/>
                <a:cs typeface="Verdana"/>
              </a:defRPr>
            </a:lvl6pPr>
            <a:lvl7pPr>
              <a:defRPr sz="1125" b="0">
                <a:solidFill>
                  <a:srgbClr val="4DDAC8"/>
                </a:solidFill>
                <a:latin typeface="Verdana"/>
                <a:ea typeface="Verdana"/>
                <a:cs typeface="Verdana"/>
              </a:defRPr>
            </a:lvl7pPr>
            <a:lvl8pPr>
              <a:defRPr sz="1125" b="0">
                <a:solidFill>
                  <a:srgbClr val="4DDAC8"/>
                </a:solidFill>
                <a:latin typeface="Verdana"/>
                <a:ea typeface="Verdana"/>
                <a:cs typeface="Verdana"/>
              </a:defRPr>
            </a:lvl8pPr>
            <a:lvl9pPr>
              <a:defRPr sz="1125" b="0">
                <a:solidFill>
                  <a:srgbClr val="4DDAC8"/>
                </a:solidFill>
                <a:latin typeface="Verdana"/>
                <a:ea typeface="Verdana"/>
                <a:cs typeface="Verdana"/>
              </a:defRPr>
            </a:lvl9pPr>
          </a:lstStyle>
          <a:p xmlns:a="http://schemas.openxmlformats.org/drawingml/2006/main">
            <a:pPr>
              <a:lnSpc>
                <a:spcPct val="115000"/>
              </a:lnSpc>
              <a:buNone/>
              <a:defRPr sz="1125" b="0">
                <a:solidFill>
                  <a:srgbClr val="4DDAC8"/>
                </a:solidFill>
                <a:latin typeface="Verdana"/>
                <a:ea typeface="Verdana"/>
                <a:cs typeface="Verdana"/>
              </a:defRPr>
            </a:pPr>
            <a:r>
              <a:rPr sz="1125" b="0">
                <a:solidFill>
                  <a:srgbClr val="4DDAC8"/>
                </a:solidFill>
                <a:latin typeface="Verdana"/>
                <a:ea typeface="Verdana"/>
                <a:cs typeface="Verdana"/>
              </a:rPr>
              <a:t>19:58–20:00</a:t>
            </a:r>
          </a:p>
        </p:txBody>
      </p:sp>
      <p:sp>
        <p:nvSpPr>
          <p:cNvPr id="3" name="texto-2">
            <a:extLst xmlns:a="http://schemas.openxmlformats.org/drawingml/2006/main">
              <a:ext uri="{FF2B5EF4-FFF2-40B4-BE49-F238E27FC236}">
                <a16:creationId xmlns:a16="http://schemas.microsoft.com/office/drawing/2014/main" id="{CA546D5A-CD80-4290-9E36-CEEA50259F74}"/>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Verdana"/>
                <a:ea typeface="Verdana"/>
                <a:cs typeface="Verdana"/>
              </a:defRPr>
            </a:defPPr>
            <a:lvl1pPr>
              <a:defRPr sz="3225" b="1">
                <a:solidFill>
                  <a:srgbClr val="FFFFFF"/>
                </a:solidFill>
                <a:latin typeface="Verdana"/>
                <a:ea typeface="Verdana"/>
                <a:cs typeface="Verdana"/>
              </a:defRPr>
            </a:lvl1pPr>
            <a:lvl2pPr>
              <a:defRPr sz="3225" b="1">
                <a:solidFill>
                  <a:srgbClr val="FFFFFF"/>
                </a:solidFill>
                <a:latin typeface="Verdana"/>
                <a:ea typeface="Verdana"/>
                <a:cs typeface="Verdana"/>
              </a:defRPr>
            </a:lvl2pPr>
            <a:lvl3pPr>
              <a:defRPr sz="3225" b="1">
                <a:solidFill>
                  <a:srgbClr val="FFFFFF"/>
                </a:solidFill>
                <a:latin typeface="Verdana"/>
                <a:ea typeface="Verdana"/>
                <a:cs typeface="Verdana"/>
              </a:defRPr>
            </a:lvl3pPr>
            <a:lvl4pPr>
              <a:defRPr sz="3225" b="1">
                <a:solidFill>
                  <a:srgbClr val="FFFFFF"/>
                </a:solidFill>
                <a:latin typeface="Verdana"/>
                <a:ea typeface="Verdana"/>
                <a:cs typeface="Verdana"/>
              </a:defRPr>
            </a:lvl4pPr>
            <a:lvl5pPr>
              <a:defRPr sz="3225" b="1">
                <a:solidFill>
                  <a:srgbClr val="FFFFFF"/>
                </a:solidFill>
                <a:latin typeface="Verdana"/>
                <a:ea typeface="Verdana"/>
                <a:cs typeface="Verdana"/>
              </a:defRPr>
            </a:lvl5pPr>
            <a:lvl6pPr>
              <a:defRPr sz="3225" b="1">
                <a:solidFill>
                  <a:srgbClr val="FFFFFF"/>
                </a:solidFill>
                <a:latin typeface="Verdana"/>
                <a:ea typeface="Verdana"/>
                <a:cs typeface="Verdana"/>
              </a:defRPr>
            </a:lvl6pPr>
            <a:lvl7pPr>
              <a:defRPr sz="3225" b="1">
                <a:solidFill>
                  <a:srgbClr val="FFFFFF"/>
                </a:solidFill>
                <a:latin typeface="Verdana"/>
                <a:ea typeface="Verdana"/>
                <a:cs typeface="Verdana"/>
              </a:defRPr>
            </a:lvl7pPr>
            <a:lvl8pPr>
              <a:defRPr sz="3225" b="1">
                <a:solidFill>
                  <a:srgbClr val="FFFFFF"/>
                </a:solidFill>
                <a:latin typeface="Verdana"/>
                <a:ea typeface="Verdana"/>
                <a:cs typeface="Verdana"/>
              </a:defRPr>
            </a:lvl8pPr>
            <a:lvl9pPr>
              <a:defRPr sz="3225" b="1">
                <a:solidFill>
                  <a:srgbClr val="FFFFFF"/>
                </a:solidFill>
                <a:latin typeface="Verdana"/>
                <a:ea typeface="Verdana"/>
                <a:cs typeface="Verdana"/>
              </a:defRPr>
            </a:lvl9pPr>
          </a:lstStyle>
          <a:p xmlns:a="http://schemas.openxmlformats.org/drawingml/2006/main">
            <a:pPr>
              <a:lnSpc>
                <a:spcPct val="115000"/>
              </a:lnSpc>
              <a:buNone/>
              <a:defRPr sz="3225" b="1">
                <a:solidFill>
                  <a:srgbClr val="FFFFFF"/>
                </a:solidFill>
                <a:latin typeface="Verdana"/>
                <a:ea typeface="Verdana"/>
                <a:cs typeface="Verdana"/>
              </a:defRPr>
            </a:pPr>
            <a:r>
              <a:rPr sz="3225" b="1">
                <a:solidFill>
                  <a:srgbClr val="FFFFFF"/>
                </a:solidFill>
                <a:latin typeface="Verdana"/>
                <a:ea typeface="Verdana"/>
                <a:cs typeface="Verdana"/>
              </a:rPr>
              <a:t>El siguiente paso: CRAG</a:t>
            </a:r>
          </a:p>
        </p:txBody>
      </p:sp>
      <p:sp>
        <p:nvSpPr>
          <p:cNvPr id="4" name="texto-3">
            <a:extLst xmlns:a="http://schemas.openxmlformats.org/drawingml/2006/main">
              <a:ext uri="{FF2B5EF4-FFF2-40B4-BE49-F238E27FC236}">
                <a16:creationId xmlns:a16="http://schemas.microsoft.com/office/drawing/2014/main" id="{BA94A084-FA14-49FB-A016-1110430E377A}"/>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S11 · martes 27 de octubre · 18:30–20:00</a:t>
            </a:r>
          </a:p>
        </p:txBody>
      </p:sp>
      <p:sp>
        <p:nvSpPr>
          <p:cNvPr id="5" name="texto-4">
            <a:extLst xmlns:a="http://schemas.openxmlformats.org/drawingml/2006/main">
              <a:ext uri="{FF2B5EF4-FFF2-40B4-BE49-F238E27FC236}">
                <a16:creationId xmlns:a16="http://schemas.microsoft.com/office/drawing/2014/main" id="{64DCC801-0172-47EC-9414-B2FBF2C3AAA3}"/>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Recuperar, reordenar, valorar y corregir</a:t>
            </a:r>
          </a:p>
        </p:txBody>
      </p:sp>
      <p:sp>
        <p:nvSpPr>
          <p:cNvPr id="6" name="texto-5">
            <a:extLst xmlns:a="http://schemas.openxmlformats.org/drawingml/2006/main">
              <a:ext uri="{FF2B5EF4-FFF2-40B4-BE49-F238E27FC236}">
                <a16:creationId xmlns:a16="http://schemas.microsoft.com/office/drawing/2014/main" id="{3EB117DB-F949-4610-81D3-F5D1DB51A805}"/>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Verdana"/>
                <a:ea typeface="Verdana"/>
                <a:cs typeface="Verdana"/>
              </a:defRPr>
            </a:defPPr>
            <a:lvl1pPr>
              <a:defRPr sz="2100" b="0">
                <a:solidFill>
                  <a:srgbClr val="FFFFFF"/>
                </a:solidFill>
                <a:latin typeface="Verdana"/>
                <a:ea typeface="Verdana"/>
                <a:cs typeface="Verdana"/>
              </a:defRPr>
            </a:lvl1pPr>
            <a:lvl2pPr>
              <a:defRPr sz="2100" b="0">
                <a:solidFill>
                  <a:srgbClr val="FFFFFF"/>
                </a:solidFill>
                <a:latin typeface="Verdana"/>
                <a:ea typeface="Verdana"/>
                <a:cs typeface="Verdana"/>
              </a:defRPr>
            </a:lvl2pPr>
            <a:lvl3pPr>
              <a:defRPr sz="2100" b="0">
                <a:solidFill>
                  <a:srgbClr val="FFFFFF"/>
                </a:solidFill>
                <a:latin typeface="Verdana"/>
                <a:ea typeface="Verdana"/>
                <a:cs typeface="Verdana"/>
              </a:defRPr>
            </a:lvl3pPr>
            <a:lvl4pPr>
              <a:defRPr sz="2100" b="0">
                <a:solidFill>
                  <a:srgbClr val="FFFFFF"/>
                </a:solidFill>
                <a:latin typeface="Verdana"/>
                <a:ea typeface="Verdana"/>
                <a:cs typeface="Verdana"/>
              </a:defRPr>
            </a:lvl4pPr>
            <a:lvl5pPr>
              <a:defRPr sz="2100" b="0">
                <a:solidFill>
                  <a:srgbClr val="FFFFFF"/>
                </a:solidFill>
                <a:latin typeface="Verdana"/>
                <a:ea typeface="Verdana"/>
                <a:cs typeface="Verdana"/>
              </a:defRPr>
            </a:lvl5pPr>
            <a:lvl6pPr>
              <a:defRPr sz="2100" b="0">
                <a:solidFill>
                  <a:srgbClr val="FFFFFF"/>
                </a:solidFill>
                <a:latin typeface="Verdana"/>
                <a:ea typeface="Verdana"/>
                <a:cs typeface="Verdana"/>
              </a:defRPr>
            </a:lvl6pPr>
            <a:lvl7pPr>
              <a:defRPr sz="2100" b="0">
                <a:solidFill>
                  <a:srgbClr val="FFFFFF"/>
                </a:solidFill>
                <a:latin typeface="Verdana"/>
                <a:ea typeface="Verdana"/>
                <a:cs typeface="Verdana"/>
              </a:defRPr>
            </a:lvl7pPr>
            <a:lvl8pPr>
              <a:defRPr sz="2100" b="0">
                <a:solidFill>
                  <a:srgbClr val="FFFFFF"/>
                </a:solidFill>
                <a:latin typeface="Verdana"/>
                <a:ea typeface="Verdana"/>
                <a:cs typeface="Verdana"/>
              </a:defRPr>
            </a:lvl8pPr>
            <a:lvl9pPr>
              <a:defRPr sz="2100" b="0">
                <a:solidFill>
                  <a:srgbClr val="FFFFFF"/>
                </a:solidFill>
                <a:latin typeface="Verdana"/>
                <a:ea typeface="Verdana"/>
                <a:cs typeface="Verdana"/>
              </a:defRPr>
            </a:lvl9pPr>
          </a:lstStyle>
          <a:p xmlns:a="http://schemas.openxmlformats.org/drawingml/2006/main">
            <a:pPr>
              <a:lnSpc>
                <a:spcPct val="115000"/>
              </a:lnSpc>
              <a:buNone/>
              <a:defRPr sz="2100" b="0">
                <a:solidFill>
                  <a:srgbClr val="FFFFFF"/>
                </a:solidFill>
                <a:latin typeface="Verdana"/>
                <a:ea typeface="Verdana"/>
                <a:cs typeface="Verdana"/>
              </a:defRPr>
            </a:pPr>
            <a:r>
              <a:rPr sz="2100" b="0">
                <a:solidFill>
                  <a:srgbClr val="FFFFFF"/>
                </a:solidFill>
                <a:latin typeface="Verdana"/>
                <a:ea typeface="Verdana"/>
                <a:cs typeface="Verdana"/>
              </a:rPr>
              <a:t>Mismo problema; más decisiones y un coste que medir</a:t>
            </a:r>
          </a:p>
        </p:txBody>
      </p:sp>
      <p:sp>
        <p:nvSpPr>
          <p:cNvPr id="7" name="texto-6">
            <a:extLst xmlns:a="http://schemas.openxmlformats.org/drawingml/2006/main">
              <a:ext uri="{FF2B5EF4-FFF2-40B4-BE49-F238E27FC236}">
                <a16:creationId xmlns:a16="http://schemas.microsoft.com/office/drawing/2014/main" id="{9EAACB7E-3EBF-461F-927C-E268D1D9D253}"/>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82E4CBF9-AE2B-419A-B1D7-6D3B55B0B053}"/>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B7D0D4"/>
                </a:solidFill>
                <a:latin typeface="Verdana"/>
                <a:ea typeface="Verdana"/>
                <a:cs typeface="Verdana"/>
              </a:defRPr>
            </a:defPPr>
            <a:lvl1pPr>
              <a:defRPr sz="975" b="0">
                <a:solidFill>
                  <a:srgbClr val="B7D0D4"/>
                </a:solidFill>
                <a:latin typeface="Verdana"/>
                <a:ea typeface="Verdana"/>
                <a:cs typeface="Verdana"/>
              </a:defRPr>
            </a:lvl1pPr>
            <a:lvl2pPr>
              <a:defRPr sz="975" b="0">
                <a:solidFill>
                  <a:srgbClr val="B7D0D4"/>
                </a:solidFill>
                <a:latin typeface="Verdana"/>
                <a:ea typeface="Verdana"/>
                <a:cs typeface="Verdana"/>
              </a:defRPr>
            </a:lvl2pPr>
            <a:lvl3pPr>
              <a:defRPr sz="975" b="0">
                <a:solidFill>
                  <a:srgbClr val="B7D0D4"/>
                </a:solidFill>
                <a:latin typeface="Verdana"/>
                <a:ea typeface="Verdana"/>
                <a:cs typeface="Verdana"/>
              </a:defRPr>
            </a:lvl3pPr>
            <a:lvl4pPr>
              <a:defRPr sz="975" b="0">
                <a:solidFill>
                  <a:srgbClr val="B7D0D4"/>
                </a:solidFill>
                <a:latin typeface="Verdana"/>
                <a:ea typeface="Verdana"/>
                <a:cs typeface="Verdana"/>
              </a:defRPr>
            </a:lvl4pPr>
            <a:lvl5pPr>
              <a:defRPr sz="975" b="0">
                <a:solidFill>
                  <a:srgbClr val="B7D0D4"/>
                </a:solidFill>
                <a:latin typeface="Verdana"/>
                <a:ea typeface="Verdana"/>
                <a:cs typeface="Verdana"/>
              </a:defRPr>
            </a:lvl5pPr>
            <a:lvl6pPr>
              <a:defRPr sz="975" b="0">
                <a:solidFill>
                  <a:srgbClr val="B7D0D4"/>
                </a:solidFill>
                <a:latin typeface="Verdana"/>
                <a:ea typeface="Verdana"/>
                <a:cs typeface="Verdana"/>
              </a:defRPr>
            </a:lvl6pPr>
            <a:lvl7pPr>
              <a:defRPr sz="975" b="0">
                <a:solidFill>
                  <a:srgbClr val="B7D0D4"/>
                </a:solidFill>
                <a:latin typeface="Verdana"/>
                <a:ea typeface="Verdana"/>
                <a:cs typeface="Verdana"/>
              </a:defRPr>
            </a:lvl7pPr>
            <a:lvl8pPr>
              <a:defRPr sz="975" b="0">
                <a:solidFill>
                  <a:srgbClr val="B7D0D4"/>
                </a:solidFill>
                <a:latin typeface="Verdana"/>
                <a:ea typeface="Verdana"/>
                <a:cs typeface="Verdana"/>
              </a:defRPr>
            </a:lvl8pPr>
            <a:lvl9pPr>
              <a:defRPr sz="975" b="0">
                <a:solidFill>
                  <a:srgbClr val="B7D0D4"/>
                </a:solidFill>
                <a:latin typeface="Verdana"/>
                <a:ea typeface="Verdana"/>
                <a:cs typeface="Verdana"/>
              </a:defRPr>
            </a:lvl9pPr>
          </a:lstStyle>
          <a:p xmlns:a="http://schemas.openxmlformats.org/drawingml/2006/main">
            <a:pPr>
              <a:lnSpc>
                <a:spcPct val="115000"/>
              </a:lnSpc>
              <a:buNone/>
              <a:defRPr sz="975" b="0">
                <a:solidFill>
                  <a:srgbClr val="B7D0D4"/>
                </a:solidFill>
                <a:latin typeface="Verdana"/>
                <a:ea typeface="Verdana"/>
                <a:cs typeface="Verdana"/>
              </a:defRPr>
            </a:pPr>
            <a:r>
              <a:rPr sz="975" b="0">
                <a:solidFill>
                  <a:srgbClr val="B7D0D4"/>
                </a:solidFill>
                <a:latin typeface="Verdana"/>
                <a:ea typeface="Verdana"/>
                <a:cs typeface="Verdana"/>
              </a:rPr>
              <a:t>23 / 24</a:t>
            </a:r>
          </a:p>
        </p:txBody>
      </p:sp>
    </p:spTree>
    <p:extLst>
      <p:ext uri="{BB962C8B-B14F-4D97-AF65-F5344CB8AC3E}">
        <p14:creationId xmlns:p14="http://schemas.microsoft.com/office/powerpoint/2010/main" val="1767431365"/>
      </p:ext>
    </p:extLst>
  </p:cSld>
</p:sld>
</file>

<file path=ppt/slides/slide2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9360FD9C-BB36-4A47-9295-C369C61473DC}"/>
              </a:ext>
            </a:extLst>
          </p:cNvPr>
          <p:cNvSpPr>
            <a:spLocks xmlns:a="http://schemas.openxmlformats.org/drawingml/2006/main" noGrp="1"/>
          </p:cNvSpPr>
          <p:nvPr/>
        </p:nvSpPr>
        <p:spPr>
          <a:xfrm xmlns:a="http://schemas.openxmlformats.org/drawingml/2006/main">
            <a:off x="609600" y="3619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07C78"/>
                </a:solidFill>
                <a:latin typeface="Verdana"/>
                <a:ea typeface="Verdana"/>
                <a:cs typeface="Verdana"/>
              </a:defRPr>
            </a:defPPr>
            <a:lvl1pPr>
              <a:defRPr sz="1125" b="1">
                <a:solidFill>
                  <a:srgbClr val="007C78"/>
                </a:solidFill>
                <a:latin typeface="Verdana"/>
                <a:ea typeface="Verdana"/>
                <a:cs typeface="Verdana"/>
              </a:defRPr>
            </a:lvl1pPr>
            <a:lvl2pPr>
              <a:defRPr sz="1125" b="1">
                <a:solidFill>
                  <a:srgbClr val="007C78"/>
                </a:solidFill>
                <a:latin typeface="Verdana"/>
                <a:ea typeface="Verdana"/>
                <a:cs typeface="Verdana"/>
              </a:defRPr>
            </a:lvl2pPr>
            <a:lvl3pPr>
              <a:defRPr sz="1125" b="1">
                <a:solidFill>
                  <a:srgbClr val="007C78"/>
                </a:solidFill>
                <a:latin typeface="Verdana"/>
                <a:ea typeface="Verdana"/>
                <a:cs typeface="Verdana"/>
              </a:defRPr>
            </a:lvl3pPr>
            <a:lvl4pPr>
              <a:defRPr sz="1125" b="1">
                <a:solidFill>
                  <a:srgbClr val="007C78"/>
                </a:solidFill>
                <a:latin typeface="Verdana"/>
                <a:ea typeface="Verdana"/>
                <a:cs typeface="Verdana"/>
              </a:defRPr>
            </a:lvl4pPr>
            <a:lvl5pPr>
              <a:defRPr sz="1125" b="1">
                <a:solidFill>
                  <a:srgbClr val="007C78"/>
                </a:solidFill>
                <a:latin typeface="Verdana"/>
                <a:ea typeface="Verdana"/>
                <a:cs typeface="Verdana"/>
              </a:defRPr>
            </a:lvl5pPr>
            <a:lvl6pPr>
              <a:defRPr sz="1125" b="1">
                <a:solidFill>
                  <a:srgbClr val="007C78"/>
                </a:solidFill>
                <a:latin typeface="Verdana"/>
                <a:ea typeface="Verdana"/>
                <a:cs typeface="Verdana"/>
              </a:defRPr>
            </a:lvl6pPr>
            <a:lvl7pPr>
              <a:defRPr sz="1125" b="1">
                <a:solidFill>
                  <a:srgbClr val="007C78"/>
                </a:solidFill>
                <a:latin typeface="Verdana"/>
                <a:ea typeface="Verdana"/>
                <a:cs typeface="Verdana"/>
              </a:defRPr>
            </a:lvl7pPr>
            <a:lvl8pPr>
              <a:defRPr sz="1125" b="1">
                <a:solidFill>
                  <a:srgbClr val="007C78"/>
                </a:solidFill>
                <a:latin typeface="Verdana"/>
                <a:ea typeface="Verdana"/>
                <a:cs typeface="Verdana"/>
              </a:defRPr>
            </a:lvl8pPr>
            <a:lvl9pPr>
              <a:defRPr sz="1125" b="1">
                <a:solidFill>
                  <a:srgbClr val="007C78"/>
                </a:solidFill>
                <a:latin typeface="Verdana"/>
                <a:ea typeface="Verdana"/>
                <a:cs typeface="Verdana"/>
              </a:defRPr>
            </a:lvl9pPr>
          </a:lstStyle>
          <a:p xmlns:a="http://schemas.openxmlformats.org/drawingml/2006/main">
            <a:pPr>
              <a:lnSpc>
                <a:spcPct val="115000"/>
              </a:lnSpc>
              <a:buNone/>
              <a:defRPr sz="1125" b="1">
                <a:solidFill>
                  <a:srgbClr val="007C78"/>
                </a:solidFill>
                <a:latin typeface="Verdana"/>
                <a:ea typeface="Verdana"/>
                <a:cs typeface="Verdana"/>
              </a:defRPr>
            </a:pPr>
            <a:r>
              <a:rPr sz="1125" b="1">
                <a:solidFill>
                  <a:srgbClr val="007C78"/>
                </a:solidFill>
                <a:latin typeface="Verdana"/>
                <a:ea typeface="Verdana"/>
                <a:cs typeface="Verdana"/>
              </a:rPr>
              <a:t>S10 · CONSULTA</a:t>
            </a:r>
          </a:p>
        </p:txBody>
      </p:sp>
      <p:sp>
        <p:nvSpPr>
          <p:cNvPr id="2" name="texto-1">
            <a:extLst xmlns:a="http://schemas.openxmlformats.org/drawingml/2006/main">
              <a:ext uri="{FF2B5EF4-FFF2-40B4-BE49-F238E27FC236}">
                <a16:creationId xmlns:a16="http://schemas.microsoft.com/office/drawing/2014/main" id="{B4B1DA09-3693-47B6-80B6-8AA6BCAD44F0}"/>
              </a:ext>
            </a:extLst>
          </p:cNvPr>
          <p:cNvSpPr>
            <a:spLocks xmlns:a="http://schemas.openxmlformats.org/drawingml/2006/main" noGrp="1"/>
          </p:cNvSpPr>
          <p:nvPr/>
        </p:nvSpPr>
        <p:spPr>
          <a:xfrm xmlns:a="http://schemas.openxmlformats.org/drawingml/2006/main">
            <a:off x="9810750" y="361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007C78"/>
                </a:solidFill>
                <a:latin typeface="Verdana"/>
                <a:ea typeface="Verdana"/>
                <a:cs typeface="Verdana"/>
              </a:defRPr>
            </a:defPPr>
            <a:lvl1pPr>
              <a:defRPr sz="1125" b="0">
                <a:solidFill>
                  <a:srgbClr val="007C78"/>
                </a:solidFill>
                <a:latin typeface="Verdana"/>
                <a:ea typeface="Verdana"/>
                <a:cs typeface="Verdana"/>
              </a:defRPr>
            </a:lvl1pPr>
            <a:lvl2pPr>
              <a:defRPr sz="1125" b="0">
                <a:solidFill>
                  <a:srgbClr val="007C78"/>
                </a:solidFill>
                <a:latin typeface="Verdana"/>
                <a:ea typeface="Verdana"/>
                <a:cs typeface="Verdana"/>
              </a:defRPr>
            </a:lvl2pPr>
            <a:lvl3pPr>
              <a:defRPr sz="1125" b="0">
                <a:solidFill>
                  <a:srgbClr val="007C78"/>
                </a:solidFill>
                <a:latin typeface="Verdana"/>
                <a:ea typeface="Verdana"/>
                <a:cs typeface="Verdana"/>
              </a:defRPr>
            </a:lvl3pPr>
            <a:lvl4pPr>
              <a:defRPr sz="1125" b="0">
                <a:solidFill>
                  <a:srgbClr val="007C78"/>
                </a:solidFill>
                <a:latin typeface="Verdana"/>
                <a:ea typeface="Verdana"/>
                <a:cs typeface="Verdana"/>
              </a:defRPr>
            </a:lvl4pPr>
            <a:lvl5pPr>
              <a:defRPr sz="1125" b="0">
                <a:solidFill>
                  <a:srgbClr val="007C78"/>
                </a:solidFill>
                <a:latin typeface="Verdana"/>
                <a:ea typeface="Verdana"/>
                <a:cs typeface="Verdana"/>
              </a:defRPr>
            </a:lvl5pPr>
            <a:lvl6pPr>
              <a:defRPr sz="1125" b="0">
                <a:solidFill>
                  <a:srgbClr val="007C78"/>
                </a:solidFill>
                <a:latin typeface="Verdana"/>
                <a:ea typeface="Verdana"/>
                <a:cs typeface="Verdana"/>
              </a:defRPr>
            </a:lvl6pPr>
            <a:lvl7pPr>
              <a:defRPr sz="1125" b="0">
                <a:solidFill>
                  <a:srgbClr val="007C78"/>
                </a:solidFill>
                <a:latin typeface="Verdana"/>
                <a:ea typeface="Verdana"/>
                <a:cs typeface="Verdana"/>
              </a:defRPr>
            </a:lvl7pPr>
            <a:lvl8pPr>
              <a:defRPr sz="1125" b="0">
                <a:solidFill>
                  <a:srgbClr val="007C78"/>
                </a:solidFill>
                <a:latin typeface="Verdana"/>
                <a:ea typeface="Verdana"/>
                <a:cs typeface="Verdana"/>
              </a:defRPr>
            </a:lvl8pPr>
            <a:lvl9pPr>
              <a:defRPr sz="1125" b="0">
                <a:solidFill>
                  <a:srgbClr val="007C78"/>
                </a:solidFill>
                <a:latin typeface="Verdana"/>
                <a:ea typeface="Verdana"/>
                <a:cs typeface="Verdana"/>
              </a:defRPr>
            </a:lvl9pPr>
          </a:lstStyle>
          <a:p xmlns:a="http://schemas.openxmlformats.org/drawingml/2006/main">
            <a:pPr>
              <a:lnSpc>
                <a:spcPct val="115000"/>
              </a:lnSpc>
              <a:buNone/>
              <a:defRPr sz="1125" b="0">
                <a:solidFill>
                  <a:srgbClr val="007C78"/>
                </a:solidFill>
                <a:latin typeface="Verdana"/>
                <a:ea typeface="Verdana"/>
                <a:cs typeface="Verdana"/>
              </a:defRPr>
            </a:pPr>
            <a:r>
              <a:rPr sz="1125" b="0">
                <a:solidFill>
                  <a:srgbClr val="007C78"/>
                </a:solidFill>
                <a:latin typeface="Verdana"/>
                <a:ea typeface="Verdana"/>
                <a:cs typeface="Verdana"/>
              </a:rPr>
              <a:t>Apéndice</a:t>
            </a:r>
          </a:p>
        </p:txBody>
      </p:sp>
      <p:sp>
        <p:nvSpPr>
          <p:cNvPr id="3" name="texto-2">
            <a:extLst xmlns:a="http://schemas.openxmlformats.org/drawingml/2006/main">
              <a:ext uri="{FF2B5EF4-FFF2-40B4-BE49-F238E27FC236}">
                <a16:creationId xmlns:a16="http://schemas.microsoft.com/office/drawing/2014/main" id="{E02C1821-7ECB-4E6A-B258-2ECC98A9323C}"/>
              </a:ext>
            </a:extLst>
          </p:cNvPr>
          <p:cNvSpPr>
            <a:spLocks xmlns:a="http://schemas.openxmlformats.org/drawingml/2006/main" noGrp="1"/>
          </p:cNvSpPr>
          <p:nvPr/>
        </p:nvSpPr>
        <p:spPr>
          <a:xfrm xmlns:a="http://schemas.openxmlformats.org/drawingml/2006/main">
            <a:off x="609600" y="9525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02D39"/>
                </a:solidFill>
                <a:latin typeface="Verdana"/>
                <a:ea typeface="Verdana"/>
                <a:cs typeface="Verdana"/>
              </a:defRPr>
            </a:defPPr>
            <a:lvl1pPr>
              <a:defRPr sz="3225" b="1">
                <a:solidFill>
                  <a:srgbClr val="102D39"/>
                </a:solidFill>
                <a:latin typeface="Verdana"/>
                <a:ea typeface="Verdana"/>
                <a:cs typeface="Verdana"/>
              </a:defRPr>
            </a:lvl1pPr>
            <a:lvl2pPr>
              <a:defRPr sz="3225" b="1">
                <a:solidFill>
                  <a:srgbClr val="102D39"/>
                </a:solidFill>
                <a:latin typeface="Verdana"/>
                <a:ea typeface="Verdana"/>
                <a:cs typeface="Verdana"/>
              </a:defRPr>
            </a:lvl2pPr>
            <a:lvl3pPr>
              <a:defRPr sz="3225" b="1">
                <a:solidFill>
                  <a:srgbClr val="102D39"/>
                </a:solidFill>
                <a:latin typeface="Verdana"/>
                <a:ea typeface="Verdana"/>
                <a:cs typeface="Verdana"/>
              </a:defRPr>
            </a:lvl3pPr>
            <a:lvl4pPr>
              <a:defRPr sz="3225" b="1">
                <a:solidFill>
                  <a:srgbClr val="102D39"/>
                </a:solidFill>
                <a:latin typeface="Verdana"/>
                <a:ea typeface="Verdana"/>
                <a:cs typeface="Verdana"/>
              </a:defRPr>
            </a:lvl4pPr>
            <a:lvl5pPr>
              <a:defRPr sz="3225" b="1">
                <a:solidFill>
                  <a:srgbClr val="102D39"/>
                </a:solidFill>
                <a:latin typeface="Verdana"/>
                <a:ea typeface="Verdana"/>
                <a:cs typeface="Verdana"/>
              </a:defRPr>
            </a:lvl5pPr>
            <a:lvl6pPr>
              <a:defRPr sz="3225" b="1">
                <a:solidFill>
                  <a:srgbClr val="102D39"/>
                </a:solidFill>
                <a:latin typeface="Verdana"/>
                <a:ea typeface="Verdana"/>
                <a:cs typeface="Verdana"/>
              </a:defRPr>
            </a:lvl6pPr>
            <a:lvl7pPr>
              <a:defRPr sz="3225" b="1">
                <a:solidFill>
                  <a:srgbClr val="102D39"/>
                </a:solidFill>
                <a:latin typeface="Verdana"/>
                <a:ea typeface="Verdana"/>
                <a:cs typeface="Verdana"/>
              </a:defRPr>
            </a:lvl7pPr>
            <a:lvl8pPr>
              <a:defRPr sz="3225" b="1">
                <a:solidFill>
                  <a:srgbClr val="102D39"/>
                </a:solidFill>
                <a:latin typeface="Verdana"/>
                <a:ea typeface="Verdana"/>
                <a:cs typeface="Verdana"/>
              </a:defRPr>
            </a:lvl8pPr>
            <a:lvl9pPr>
              <a:defRPr sz="3225" b="1">
                <a:solidFill>
                  <a:srgbClr val="102D39"/>
                </a:solidFill>
                <a:latin typeface="Verdana"/>
                <a:ea typeface="Verdana"/>
                <a:cs typeface="Verdana"/>
              </a:defRPr>
            </a:lvl9pPr>
          </a:lstStyle>
          <a:p xmlns:a="http://schemas.openxmlformats.org/drawingml/2006/main">
            <a:pPr>
              <a:lnSpc>
                <a:spcPct val="115000"/>
              </a:lnSpc>
              <a:buNone/>
              <a:defRPr sz="3225" b="1">
                <a:solidFill>
                  <a:srgbClr val="102D39"/>
                </a:solidFill>
                <a:latin typeface="Verdana"/>
                <a:ea typeface="Verdana"/>
                <a:cs typeface="Verdana"/>
              </a:defRPr>
            </a:pPr>
            <a:r>
              <a:rPr sz="3225" b="1">
                <a:solidFill>
                  <a:srgbClr val="102D39"/>
                </a:solidFill>
                <a:latin typeface="Verdana"/>
                <a:ea typeface="Verdana"/>
                <a:cs typeface="Verdana"/>
              </a:rPr>
              <a:t>Apéndice: medir recuperación</a:t>
            </a:r>
          </a:p>
        </p:txBody>
      </p:sp>
      <p:sp>
        <p:nvSpPr>
          <p:cNvPr id="4" name="texto-3">
            <a:extLst xmlns:a="http://schemas.openxmlformats.org/drawingml/2006/main">
              <a:ext uri="{FF2B5EF4-FFF2-40B4-BE49-F238E27FC236}">
                <a16:creationId xmlns:a16="http://schemas.microsoft.com/office/drawing/2014/main" id="{EE9AC156-B62A-4449-A06D-B63E6F343FB1}"/>
              </a:ext>
            </a:extLst>
          </p:cNvPr>
          <p:cNvSpPr>
            <a:spLocks xmlns:a="http://schemas.openxmlformats.org/drawingml/2006/main" noGrp="1"/>
          </p:cNvSpPr>
          <p:nvPr/>
        </p:nvSpPr>
        <p:spPr>
          <a:xfrm xmlns:a="http://schemas.openxmlformats.org/drawingml/2006/main">
            <a:off x="609600" y="2238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Hit@k: aparece al menos una evidencia relevante</a:t>
            </a:r>
          </a:p>
        </p:txBody>
      </p:sp>
      <p:sp>
        <p:nvSpPr>
          <p:cNvPr id="5" name="texto-4">
            <a:extLst xmlns:a="http://schemas.openxmlformats.org/drawingml/2006/main">
              <a:ext uri="{FF2B5EF4-FFF2-40B4-BE49-F238E27FC236}">
                <a16:creationId xmlns:a16="http://schemas.microsoft.com/office/drawing/2014/main" id="{EA3CFD7E-9356-4544-AB03-38BE97DB7D99}"/>
              </a:ext>
            </a:extLst>
          </p:cNvPr>
          <p:cNvSpPr>
            <a:spLocks xmlns:a="http://schemas.openxmlformats.org/drawingml/2006/main" noGrp="1"/>
          </p:cNvSpPr>
          <p:nvPr/>
        </p:nvSpPr>
        <p:spPr>
          <a:xfrm xmlns:a="http://schemas.openxmlformats.org/drawingml/2006/main">
            <a:off x="609600" y="3190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Recall@k: relevantes recuperados / relevantes esperados</a:t>
            </a:r>
          </a:p>
        </p:txBody>
      </p:sp>
      <p:sp>
        <p:nvSpPr>
          <p:cNvPr id="6" name="texto-5">
            <a:extLst xmlns:a="http://schemas.openxmlformats.org/drawingml/2006/main">
              <a:ext uri="{FF2B5EF4-FFF2-40B4-BE49-F238E27FC236}">
                <a16:creationId xmlns:a16="http://schemas.microsoft.com/office/drawing/2014/main" id="{DF88C16C-C9AF-4D8C-B021-8687908AE11F}"/>
              </a:ext>
            </a:extLst>
          </p:cNvPr>
          <p:cNvSpPr>
            <a:spLocks xmlns:a="http://schemas.openxmlformats.org/drawingml/2006/main" noGrp="1"/>
          </p:cNvSpPr>
          <p:nvPr/>
        </p:nvSpPr>
        <p:spPr>
          <a:xfrm xmlns:a="http://schemas.openxmlformats.org/drawingml/2006/main">
            <a:off x="609600" y="4143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9"/>
                </a:solidFill>
                <a:latin typeface="Verdana"/>
                <a:ea typeface="Verdana"/>
                <a:cs typeface="Verdana"/>
              </a:defRPr>
            </a:defPPr>
            <a:lvl1pPr>
              <a:defRPr sz="2100" b="0">
                <a:solidFill>
                  <a:srgbClr val="102D39"/>
                </a:solidFill>
                <a:latin typeface="Verdana"/>
                <a:ea typeface="Verdana"/>
                <a:cs typeface="Verdana"/>
              </a:defRPr>
            </a:lvl1pPr>
            <a:lvl2pPr>
              <a:defRPr sz="2100" b="0">
                <a:solidFill>
                  <a:srgbClr val="102D39"/>
                </a:solidFill>
                <a:latin typeface="Verdana"/>
                <a:ea typeface="Verdana"/>
                <a:cs typeface="Verdana"/>
              </a:defRPr>
            </a:lvl2pPr>
            <a:lvl3pPr>
              <a:defRPr sz="2100" b="0">
                <a:solidFill>
                  <a:srgbClr val="102D39"/>
                </a:solidFill>
                <a:latin typeface="Verdana"/>
                <a:ea typeface="Verdana"/>
                <a:cs typeface="Verdana"/>
              </a:defRPr>
            </a:lvl3pPr>
            <a:lvl4pPr>
              <a:defRPr sz="2100" b="0">
                <a:solidFill>
                  <a:srgbClr val="102D39"/>
                </a:solidFill>
                <a:latin typeface="Verdana"/>
                <a:ea typeface="Verdana"/>
                <a:cs typeface="Verdana"/>
              </a:defRPr>
            </a:lvl4pPr>
            <a:lvl5pPr>
              <a:defRPr sz="2100" b="0">
                <a:solidFill>
                  <a:srgbClr val="102D39"/>
                </a:solidFill>
                <a:latin typeface="Verdana"/>
                <a:ea typeface="Verdana"/>
                <a:cs typeface="Verdana"/>
              </a:defRPr>
            </a:lvl5pPr>
            <a:lvl6pPr>
              <a:defRPr sz="2100" b="0">
                <a:solidFill>
                  <a:srgbClr val="102D39"/>
                </a:solidFill>
                <a:latin typeface="Verdana"/>
                <a:ea typeface="Verdana"/>
                <a:cs typeface="Verdana"/>
              </a:defRPr>
            </a:lvl6pPr>
            <a:lvl7pPr>
              <a:defRPr sz="2100" b="0">
                <a:solidFill>
                  <a:srgbClr val="102D39"/>
                </a:solidFill>
                <a:latin typeface="Verdana"/>
                <a:ea typeface="Verdana"/>
                <a:cs typeface="Verdana"/>
              </a:defRPr>
            </a:lvl7pPr>
            <a:lvl8pPr>
              <a:defRPr sz="2100" b="0">
                <a:solidFill>
                  <a:srgbClr val="102D39"/>
                </a:solidFill>
                <a:latin typeface="Verdana"/>
                <a:ea typeface="Verdana"/>
                <a:cs typeface="Verdana"/>
              </a:defRPr>
            </a:lvl8pPr>
            <a:lvl9pPr>
              <a:defRPr sz="2100" b="0">
                <a:solidFill>
                  <a:srgbClr val="102D39"/>
                </a:solidFill>
                <a:latin typeface="Verdana"/>
                <a:ea typeface="Verdana"/>
                <a:cs typeface="Verdana"/>
              </a:defRPr>
            </a:lvl9pPr>
          </a:lstStyle>
          <a:p xmlns:a="http://schemas.openxmlformats.org/drawingml/2006/main">
            <a:pPr>
              <a:lnSpc>
                <a:spcPct val="115000"/>
              </a:lnSpc>
              <a:buNone/>
              <a:defRPr sz="2100" b="0">
                <a:solidFill>
                  <a:srgbClr val="102D39"/>
                </a:solidFill>
                <a:latin typeface="Verdana"/>
                <a:ea typeface="Verdana"/>
                <a:cs typeface="Verdana"/>
              </a:defRPr>
            </a:pPr>
            <a:r>
              <a:rPr sz="2100" b="0">
                <a:solidFill>
                  <a:srgbClr val="102D39"/>
                </a:solidFill>
                <a:latin typeface="Verdana"/>
                <a:ea typeface="Verdana"/>
                <a:cs typeface="Verdana"/>
              </a:rPr>
              <a:t>MRR: media de 1 / rango de la primera evidencia relevante</a:t>
            </a:r>
          </a:p>
        </p:txBody>
      </p:sp>
      <p:sp>
        <p:nvSpPr>
          <p:cNvPr id="7" name="texto-6">
            <a:extLst xmlns:a="http://schemas.openxmlformats.org/drawingml/2006/main">
              <a:ext uri="{FF2B5EF4-FFF2-40B4-BE49-F238E27FC236}">
                <a16:creationId xmlns:a16="http://schemas.microsoft.com/office/drawing/2014/main" id="{DD839D59-5744-409D-9009-CE21233F6397}"/>
              </a:ext>
            </a:extLst>
          </p:cNvPr>
          <p:cNvSpPr>
            <a:spLocks xmlns:a="http://schemas.openxmlformats.org/drawingml/2006/main" noGrp="1"/>
          </p:cNvSpPr>
          <p:nvPr/>
        </p:nvSpPr>
        <p:spPr>
          <a:xfrm xmlns:a="http://schemas.openxmlformats.org/drawingml/2006/main">
            <a:off x="609600" y="644842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thePower · AI Engineer · RAG</a:t>
            </a:r>
          </a:p>
        </p:txBody>
      </p:sp>
      <p:sp>
        <p:nvSpPr>
          <p:cNvPr id="8" name="texto-7">
            <a:extLst xmlns:a="http://schemas.openxmlformats.org/drawingml/2006/main">
              <a:ext uri="{FF2B5EF4-FFF2-40B4-BE49-F238E27FC236}">
                <a16:creationId xmlns:a16="http://schemas.microsoft.com/office/drawing/2014/main" id="{7BCD46D6-3F9F-4763-8979-2FE962FEA8F9}"/>
              </a:ext>
            </a:extLst>
          </p:cNvPr>
          <p:cNvSpPr>
            <a:spLocks xmlns:a="http://schemas.openxmlformats.org/drawingml/2006/main" noGrp="1"/>
          </p:cNvSpPr>
          <p:nvPr/>
        </p:nvSpPr>
        <p:spPr>
          <a:xfrm xmlns:a="http://schemas.openxmlformats.org/drawingml/2006/main">
            <a:off x="10572750" y="6448425"/>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75" b="0">
                <a:solidFill>
                  <a:srgbClr val="4E6972"/>
                </a:solidFill>
                <a:latin typeface="Verdana"/>
                <a:ea typeface="Verdana"/>
                <a:cs typeface="Verdana"/>
              </a:defRPr>
            </a:defPPr>
            <a:lvl1pPr>
              <a:defRPr sz="975" b="0">
                <a:solidFill>
                  <a:srgbClr val="4E6972"/>
                </a:solidFill>
                <a:latin typeface="Verdana"/>
                <a:ea typeface="Verdana"/>
                <a:cs typeface="Verdana"/>
              </a:defRPr>
            </a:lvl1pPr>
            <a:lvl2pPr>
              <a:defRPr sz="975" b="0">
                <a:solidFill>
                  <a:srgbClr val="4E6972"/>
                </a:solidFill>
                <a:latin typeface="Verdana"/>
                <a:ea typeface="Verdana"/>
                <a:cs typeface="Verdana"/>
              </a:defRPr>
            </a:lvl2pPr>
            <a:lvl3pPr>
              <a:defRPr sz="975" b="0">
                <a:solidFill>
                  <a:srgbClr val="4E6972"/>
                </a:solidFill>
                <a:latin typeface="Verdana"/>
                <a:ea typeface="Verdana"/>
                <a:cs typeface="Verdana"/>
              </a:defRPr>
            </a:lvl3pPr>
            <a:lvl4pPr>
              <a:defRPr sz="975" b="0">
                <a:solidFill>
                  <a:srgbClr val="4E6972"/>
                </a:solidFill>
                <a:latin typeface="Verdana"/>
                <a:ea typeface="Verdana"/>
                <a:cs typeface="Verdana"/>
              </a:defRPr>
            </a:lvl4pPr>
            <a:lvl5pPr>
              <a:defRPr sz="975" b="0">
                <a:solidFill>
                  <a:srgbClr val="4E6972"/>
                </a:solidFill>
                <a:latin typeface="Verdana"/>
                <a:ea typeface="Verdana"/>
                <a:cs typeface="Verdana"/>
              </a:defRPr>
            </a:lvl5pPr>
            <a:lvl6pPr>
              <a:defRPr sz="975" b="0">
                <a:solidFill>
                  <a:srgbClr val="4E6972"/>
                </a:solidFill>
                <a:latin typeface="Verdana"/>
                <a:ea typeface="Verdana"/>
                <a:cs typeface="Verdana"/>
              </a:defRPr>
            </a:lvl6pPr>
            <a:lvl7pPr>
              <a:defRPr sz="975" b="0">
                <a:solidFill>
                  <a:srgbClr val="4E6972"/>
                </a:solidFill>
                <a:latin typeface="Verdana"/>
                <a:ea typeface="Verdana"/>
                <a:cs typeface="Verdana"/>
              </a:defRPr>
            </a:lvl7pPr>
            <a:lvl8pPr>
              <a:defRPr sz="975" b="0">
                <a:solidFill>
                  <a:srgbClr val="4E6972"/>
                </a:solidFill>
                <a:latin typeface="Verdana"/>
                <a:ea typeface="Verdana"/>
                <a:cs typeface="Verdana"/>
              </a:defRPr>
            </a:lvl8pPr>
            <a:lvl9pPr>
              <a:defRPr sz="975" b="0">
                <a:solidFill>
                  <a:srgbClr val="4E6972"/>
                </a:solidFill>
                <a:latin typeface="Verdana"/>
                <a:ea typeface="Verdana"/>
                <a:cs typeface="Verdana"/>
              </a:defRPr>
            </a:lvl9pPr>
          </a:lstStyle>
          <a:p xmlns:a="http://schemas.openxmlformats.org/drawingml/2006/main">
            <a:pPr>
              <a:lnSpc>
                <a:spcPct val="115000"/>
              </a:lnSpc>
              <a:buNone/>
              <a:defRPr sz="975" b="0">
                <a:solidFill>
                  <a:srgbClr val="4E6972"/>
                </a:solidFill>
                <a:latin typeface="Verdana"/>
                <a:ea typeface="Verdana"/>
                <a:cs typeface="Verdana"/>
              </a:defRPr>
            </a:pPr>
            <a:r>
              <a:rPr sz="975" b="0">
                <a:solidFill>
                  <a:srgbClr val="4E6972"/>
                </a:solidFill>
                <a:latin typeface="Verdana"/>
                <a:ea typeface="Verdana"/>
                <a:cs typeface="Verdana"/>
              </a:rPr>
              <a:t>24 / 24</a:t>
            </a:r>
          </a:p>
        </p:txBody>
      </p:sp>
    </p:spTree>
    <p:extLst>
      <p:ext uri="{BB962C8B-B14F-4D97-AF65-F5344CB8AC3E}">
        <p14:creationId xmlns:p14="http://schemas.microsoft.com/office/powerpoint/2010/main" val="210070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2026-10-21T13:40:15.6720000Z</dcterms:created>
  <dcterms:modified xsi:type="dcterms:W3CDTF">2026-10-21T13:40:15.6720000Z</dcterms:modified>
</coreProperties>
</file>
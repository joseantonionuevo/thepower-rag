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d95e6dbdaf41fc" /><Relationship Type="http://schemas.openxmlformats.org/officeDocument/2006/relationships/extended-properties" Target="/docProps/app.xml" Id="Ra64a76a88b924144" /><Relationship Type="http://schemas.openxmlformats.org/officeDocument/2006/relationships/officeDocument" Target="/ppt/presentation.xml" Id="R0b6830a9f0c84c59" /></Relationships>
</file>

<file path=ppt/presentation.xml><?xml version="1.0" encoding="utf-8"?>
<p:presentation xmlns:p="http://schemas.openxmlformats.org/presentationml/2006/main">
  <p:sldMasterIdLst>
    <p:sldMasterId xmlns:r="http://schemas.openxmlformats.org/officeDocument/2006/relationships" id="2147483648" r:id="R9abbeaef2e9b46a6"/>
  </p:sldMasterIdLst>
  <p:notesMasterIdLst>
    <p:notesMasterId xmlns:r="http://schemas.openxmlformats.org/officeDocument/2006/relationships" r:id="R01e2c3b884ad4f76"/>
  </p:notesMasterIdLst>
  <p:sldIdLst>
    <p:sldId xmlns:r="http://schemas.openxmlformats.org/officeDocument/2006/relationships" id="256" r:id="R13265e96687c429f"/>
    <p:sldId xmlns:r="http://schemas.openxmlformats.org/officeDocument/2006/relationships" id="257" r:id="R4e4e025aabcf4939"/>
    <p:sldId xmlns:r="http://schemas.openxmlformats.org/officeDocument/2006/relationships" id="258" r:id="Rcdd44477e31b4852"/>
    <p:sldId xmlns:r="http://schemas.openxmlformats.org/officeDocument/2006/relationships" id="259" r:id="R67f5f56d648d4ff4"/>
    <p:sldId xmlns:r="http://schemas.openxmlformats.org/officeDocument/2006/relationships" id="260" r:id="Re7e76ead46e946b0"/>
    <p:sldId xmlns:r="http://schemas.openxmlformats.org/officeDocument/2006/relationships" id="261" r:id="R49c87c8d367f491e"/>
    <p:sldId xmlns:r="http://schemas.openxmlformats.org/officeDocument/2006/relationships" id="262" r:id="R326825b5341d4e64"/>
    <p:sldId xmlns:r="http://schemas.openxmlformats.org/officeDocument/2006/relationships" id="263" r:id="R3c80ccff7c0245e9"/>
    <p:sldId xmlns:r="http://schemas.openxmlformats.org/officeDocument/2006/relationships" id="264" r:id="R20be4b0cee5f421a"/>
    <p:sldId xmlns:r="http://schemas.openxmlformats.org/officeDocument/2006/relationships" id="265" r:id="R1cad45c5259c4e0f"/>
    <p:sldId xmlns:r="http://schemas.openxmlformats.org/officeDocument/2006/relationships" id="266" r:id="R5ccafda38fb043dc"/>
    <p:sldId xmlns:r="http://schemas.openxmlformats.org/officeDocument/2006/relationships" id="267" r:id="R2850f7e8293a49b3"/>
    <p:sldId xmlns:r="http://schemas.openxmlformats.org/officeDocument/2006/relationships" id="268" r:id="Ra5d62bc67dbd4723"/>
    <p:sldId xmlns:r="http://schemas.openxmlformats.org/officeDocument/2006/relationships" id="269" r:id="Rb2bfd6348fc24e85"/>
    <p:sldId xmlns:r="http://schemas.openxmlformats.org/officeDocument/2006/relationships" id="270" r:id="R3f9445c898354a24"/>
    <p:sldId xmlns:r="http://schemas.openxmlformats.org/officeDocument/2006/relationships" id="271" r:id="Rec01e7c6c3164025"/>
    <p:sldId xmlns:r="http://schemas.openxmlformats.org/officeDocument/2006/relationships" id="272" r:id="Ra47f2349d5a945d4"/>
    <p:sldId xmlns:r="http://schemas.openxmlformats.org/officeDocument/2006/relationships" id="273" r:id="R1e298b1aaa7f4568"/>
    <p:sldId xmlns:r="http://schemas.openxmlformats.org/officeDocument/2006/relationships" id="274" r:id="Rbb1b31a215634606"/>
    <p:sldId xmlns:r="http://schemas.openxmlformats.org/officeDocument/2006/relationships" id="275" r:id="R6b396b37f6274178"/>
    <p:sldId xmlns:r="http://schemas.openxmlformats.org/officeDocument/2006/relationships" id="276" r:id="Ra2965ee6b10849d4"/>
    <p:sldId xmlns:r="http://schemas.openxmlformats.org/officeDocument/2006/relationships" id="277" r:id="Rc00c406c822d42af"/>
    <p:sldId xmlns:r="http://schemas.openxmlformats.org/officeDocument/2006/relationships" id="278" r:id="R2a83be5de87f48a5"/>
    <p:sldId xmlns:r="http://schemas.openxmlformats.org/officeDocument/2006/relationships" id="279" r:id="Rc8fb53cd0a8a4a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2b03c0409648c9" /><Relationship Type="http://schemas.openxmlformats.org/officeDocument/2006/relationships/slideMaster" Target="/ppt/slideMasters/slideMaster1.xml" Id="R9abbeaef2e9b46a6" /><Relationship Type="http://schemas.openxmlformats.org/officeDocument/2006/relationships/notesMaster" Target="/ppt/notesMasters/notesMaster1.xml" Id="R01e2c3b884ad4f76" /><Relationship Type="http://schemas.openxmlformats.org/officeDocument/2006/relationships/presProps" Target="/ppt/presProps.xml" Id="R5049cffccc114139" /><Relationship Type="http://schemas.openxmlformats.org/officeDocument/2006/relationships/tableStyles" Target="/ppt/tableStyles.xml" Id="R3035e8a43cbb4ed0" /><Relationship Type="http://schemas.openxmlformats.org/officeDocument/2006/relationships/slide" Target="/ppt/slides/slide1.xml" Id="R13265e96687c429f" /><Relationship Type="http://schemas.openxmlformats.org/officeDocument/2006/relationships/slide" Target="/ppt/slides/slide2.xml" Id="R4e4e025aabcf4939" /><Relationship Type="http://schemas.openxmlformats.org/officeDocument/2006/relationships/slide" Target="/ppt/slides/slide3.xml" Id="Rcdd44477e31b4852" /><Relationship Type="http://schemas.openxmlformats.org/officeDocument/2006/relationships/slide" Target="/ppt/slides/slide4.xml" Id="R67f5f56d648d4ff4" /><Relationship Type="http://schemas.openxmlformats.org/officeDocument/2006/relationships/slide" Target="/ppt/slides/slide5.xml" Id="Re7e76ead46e946b0" /><Relationship Type="http://schemas.openxmlformats.org/officeDocument/2006/relationships/slide" Target="/ppt/slides/slide6.xml" Id="R49c87c8d367f491e" /><Relationship Type="http://schemas.openxmlformats.org/officeDocument/2006/relationships/slide" Target="/ppt/slides/slide7.xml" Id="R326825b5341d4e64" /><Relationship Type="http://schemas.openxmlformats.org/officeDocument/2006/relationships/slide" Target="/ppt/slides/slide8.xml" Id="R3c80ccff7c0245e9" /><Relationship Type="http://schemas.openxmlformats.org/officeDocument/2006/relationships/slide" Target="/ppt/slides/slide9.xml" Id="R20be4b0cee5f421a" /><Relationship Type="http://schemas.openxmlformats.org/officeDocument/2006/relationships/slide" Target="/ppt/slides/slide10.xml" Id="R1cad45c5259c4e0f" /><Relationship Type="http://schemas.openxmlformats.org/officeDocument/2006/relationships/slide" Target="/ppt/slides/slide11.xml" Id="R5ccafda38fb043dc" /><Relationship Type="http://schemas.openxmlformats.org/officeDocument/2006/relationships/slide" Target="/ppt/slides/slide12.xml" Id="R2850f7e8293a49b3" /><Relationship Type="http://schemas.openxmlformats.org/officeDocument/2006/relationships/slide" Target="/ppt/slides/slide13.xml" Id="Ra5d62bc67dbd4723" /><Relationship Type="http://schemas.openxmlformats.org/officeDocument/2006/relationships/slide" Target="/ppt/slides/slide14.xml" Id="Rb2bfd6348fc24e85" /><Relationship Type="http://schemas.openxmlformats.org/officeDocument/2006/relationships/slide" Target="/ppt/slides/slide15.xml" Id="R3f9445c898354a24" /><Relationship Type="http://schemas.openxmlformats.org/officeDocument/2006/relationships/slide" Target="/ppt/slides/slide16.xml" Id="Rec01e7c6c3164025" /><Relationship Type="http://schemas.openxmlformats.org/officeDocument/2006/relationships/slide" Target="/ppt/slides/slide17.xml" Id="Ra47f2349d5a945d4" /><Relationship Type="http://schemas.openxmlformats.org/officeDocument/2006/relationships/slide" Target="/ppt/slides/slide18.xml" Id="R1e298b1aaa7f4568" /><Relationship Type="http://schemas.openxmlformats.org/officeDocument/2006/relationships/slide" Target="/ppt/slides/slide19.xml" Id="Rbb1b31a215634606" /><Relationship Type="http://schemas.openxmlformats.org/officeDocument/2006/relationships/slide" Target="/ppt/slides/slide20.xml" Id="R6b396b37f6274178" /><Relationship Type="http://schemas.openxmlformats.org/officeDocument/2006/relationships/slide" Target="/ppt/slides/slide21.xml" Id="Ra2965ee6b10849d4" /><Relationship Type="http://schemas.openxmlformats.org/officeDocument/2006/relationships/slide" Target="/ppt/slides/slide22.xml" Id="Rc00c406c822d42af" /><Relationship Type="http://schemas.openxmlformats.org/officeDocument/2006/relationships/slide" Target="/ppt/slides/slide23.xml" Id="R2a83be5de87f48a5" /><Relationship Type="http://schemas.openxmlformats.org/officeDocument/2006/relationships/slide" Target="/ppt/slides/slide24.xml" Id="Rc8fb53cd0a8a4a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12e5dc3f6340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baf87196b5410c" /><Relationship Type="http://schemas.openxmlformats.org/officeDocument/2006/relationships/notesMaster" Target="/ppt/notesMasters/notesMaster1.xml" Id="Rc49c0f43c18044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139a3fb80e4156" /><Relationship Type="http://schemas.openxmlformats.org/officeDocument/2006/relationships/notesMaster" Target="/ppt/notesMasters/notesMaster1.xml" Id="R43bf71fba3d049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d11d44c6f24a0c" /><Relationship Type="http://schemas.openxmlformats.org/officeDocument/2006/relationships/notesMaster" Target="/ppt/notesMasters/notesMaster1.xml" Id="Rde64a29f8f3f44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fef216b4bc45bf" /><Relationship Type="http://schemas.openxmlformats.org/officeDocument/2006/relationships/notesMaster" Target="/ppt/notesMasters/notesMaster1.xml" Id="R70309685940245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1ac00f5bdb4dda" /><Relationship Type="http://schemas.openxmlformats.org/officeDocument/2006/relationships/notesMaster" Target="/ppt/notesMasters/notesMaster1.xml" Id="Rf220d061928941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46fafcfa75459b" /><Relationship Type="http://schemas.openxmlformats.org/officeDocument/2006/relationships/notesMaster" Target="/ppt/notesMasters/notesMaster1.xml" Id="R69ebe6f81ab345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0943fe8d54402c" /><Relationship Type="http://schemas.openxmlformats.org/officeDocument/2006/relationships/notesMaster" Target="/ppt/notesMasters/notesMaster1.xml" Id="Rd4992896761846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3b5bdf26ed49e7" /><Relationship Type="http://schemas.openxmlformats.org/officeDocument/2006/relationships/notesMaster" Target="/ppt/notesMasters/notesMaster1.xml" Id="Rb545b625efaf43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8ba540c6374f29" /><Relationship Type="http://schemas.openxmlformats.org/officeDocument/2006/relationships/notesMaster" Target="/ppt/notesMasters/notesMaster1.xml" Id="R3686fc602b074c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b32ae012a24407" /><Relationship Type="http://schemas.openxmlformats.org/officeDocument/2006/relationships/notesMaster" Target="/ppt/notesMasters/notesMaster1.xml" Id="R452173337bd948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f2331d5a3144eb" /><Relationship Type="http://schemas.openxmlformats.org/officeDocument/2006/relationships/notesMaster" Target="/ppt/notesMasters/notesMaster1.xml" Id="Ra5864e0091284f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3462c367dc4631" /><Relationship Type="http://schemas.openxmlformats.org/officeDocument/2006/relationships/notesMaster" Target="/ppt/notesMasters/notesMaster1.xml" Id="Rd286e068f6aa40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4ae90c15c24055" /><Relationship Type="http://schemas.openxmlformats.org/officeDocument/2006/relationships/notesMaster" Target="/ppt/notesMasters/notesMaster1.xml" Id="R856c2b67a67e4c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e4c27392244aef" /><Relationship Type="http://schemas.openxmlformats.org/officeDocument/2006/relationships/notesMaster" Target="/ppt/notesMasters/notesMaster1.xml" Id="R9c9f92fc2b8b45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8be53555204d88" /><Relationship Type="http://schemas.openxmlformats.org/officeDocument/2006/relationships/notesMaster" Target="/ppt/notesMasters/notesMaster1.xml" Id="R829ecd68ed144e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8b6c314fde432f" /><Relationship Type="http://schemas.openxmlformats.org/officeDocument/2006/relationships/notesMaster" Target="/ppt/notesMasters/notesMaster1.xml" Id="R10218269ce4e47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ca7238231e4b02" /><Relationship Type="http://schemas.openxmlformats.org/officeDocument/2006/relationships/notesMaster" Target="/ppt/notesMasters/notesMaster1.xml" Id="R5af488d3cf734f9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a0bf8902534a53" /><Relationship Type="http://schemas.openxmlformats.org/officeDocument/2006/relationships/notesMaster" Target="/ppt/notesMasters/notesMaster1.xml" Id="R74db2ba89b6044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a4fa7811154c62" /><Relationship Type="http://schemas.openxmlformats.org/officeDocument/2006/relationships/notesMaster" Target="/ppt/notesMasters/notesMaster1.xml" Id="R8d0755a8f32a405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1bfea9e9fc44b3" /><Relationship Type="http://schemas.openxmlformats.org/officeDocument/2006/relationships/notesMaster" Target="/ppt/notesMasters/notesMaster1.xml" Id="R8a03aaab08f94d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7ff738855174391" /><Relationship Type="http://schemas.openxmlformats.org/officeDocument/2006/relationships/notesMaster" Target="/ppt/notesMasters/notesMaster1.xml" Id="R9392deaed764472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ad1557f0ff4efe" /><Relationship Type="http://schemas.openxmlformats.org/officeDocument/2006/relationships/notesMaster" Target="/ppt/notesMasters/notesMaster1.xml" Id="R996d2de5381f4ec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1d6fa5a12894a85" /><Relationship Type="http://schemas.openxmlformats.org/officeDocument/2006/relationships/notesMaster" Target="/ppt/notesMasters/notesMaster1.xml" Id="Rffe4479601e84e3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5c5dc9951d24484" /><Relationship Type="http://schemas.openxmlformats.org/officeDocument/2006/relationships/notesMaster" Target="/ppt/notesMasters/notesMaster1.xml" Id="Ra38f6af1c3ca45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 · Deep Research y multimodal</a:t>
            </a:r>
          </a:p>
          <a:p xmlns:a="http://schemas.openxmlformats.org/drawingml/2006/main">
            <a:r>
              <a:t>18:30–18:31 (1 min, Europe/Madrid)</a:t>
            </a:r>
          </a:p>
          <a:p xmlns:a="http://schemas.openxmlformats.org/drawingml/2006/main">
            <a:r>
              <a:t/>
            </a:r>
          </a:p>
          <a:p xmlns:a="http://schemas.openxmlformats.org/drawingml/2006/main">
            <a:r>
              <a:t>EXPLICACIÓN</a:t>
            </a:r>
          </a:p>
          <a:p xmlns:a="http://schemas.openxmlformats.org/drawingml/2006/main">
            <a:r>
              <a:t>Abre con una situación reconocible: un cliente de ThePower Shop envía a atención al cliente la foto de su pedido y una nota de voz. La foto identifica el pedido y el audio cuenta qué pasó: abrió unos auriculares y el derecho no suena. Leer la imagen, entender la petición e investigar qué dicen la política de la tienda y la normativa son trabajos diferentes. Hoy los conectaremos en un único agente. Venimos de recuperar documentos en S10 y corregir la recuperación en S11 con la misma tienda. Ahora añadimos entradas que no son solo texto, una herramienta que lee pedidos y fuentes que no están en nuestro corpus. El objetivo es que el alumno pueda explicar el recorrido y construir una versión pequeña, con límites y resultados comprobables.</a:t>
            </a:r>
          </a:p>
          <a:p xmlns:a="http://schemas.openxmlformats.org/drawingml/2006/main">
            <a:r>
              <a:t/>
            </a:r>
          </a:p>
          <a:p xmlns:a="http://schemas.openxmlformats.org/drawingml/2006/main">
            <a:r>
              <a:t>ACCIÓN</a:t>
            </a:r>
          </a:p>
          <a:p xmlns:a="http://schemas.openxmlformats.org/drawingml/2006/main">
            <a:r>
              <a:t>Presenta el caso sin abrir todavía la aplicación. Indica la fecha, el grupo M/J y el horario de 18:30 a 20:00.</a:t>
            </a:r>
          </a:p>
          <a:p xmlns:a="http://schemas.openxmlformats.org/drawingml/2006/main">
            <a:r>
              <a:t/>
            </a:r>
          </a:p>
          <a:p xmlns:a="http://schemas.openxmlformats.org/drawingml/2006/main">
            <a:r>
              <a:t>PREGUNTA AL GRUPO</a:t>
            </a:r>
          </a:p>
          <a:p xmlns:a="http://schemas.openxmlformats.org/drawingml/2006/main">
            <a:r>
              <a:t>¿Qué información suele faltar cuando un cliente solo nos manda la foto de un pedido?</a:t>
            </a:r>
          </a:p>
          <a:p xmlns:a="http://schemas.openxmlformats.org/drawingml/2006/main">
            <a:r>
              <a:t/>
            </a:r>
          </a:p>
          <a:p xmlns:a="http://schemas.openxmlformats.org/drawingml/2006/main">
            <a:r>
              <a:t>RESPUESTA ESPERADA</a:t>
            </a:r>
          </a:p>
          <a:p xmlns:a="http://schemas.openxmlformats.org/drawingml/2006/main">
            <a:r>
              <a:t>Qué le pasa al producto y qué quiere el cliente. El audio puede aportar ese contexto.</a:t>
            </a:r>
          </a:p>
          <a:p xmlns:a="http://schemas.openxmlformats.org/drawingml/2006/main">
            <a:r>
              <a:t/>
            </a:r>
          </a:p>
          <a:p xmlns:a="http://schemas.openxmlformats.org/drawingml/2006/main">
            <a:r>
              <a:t>TRANSICIÓN</a:t>
            </a:r>
          </a:p>
          <a:p xmlns:a="http://schemas.openxmlformats.org/drawingml/2006/main">
            <a:r>
              <a:t>Antes de empezar, recogemos el feedback sobre CRAG.</a:t>
            </a:r>
          </a:p>
          <a:p xmlns:a="http://schemas.openxmlformats.org/drawingml/2006/main">
            <a:r>
              <a:t/>
            </a:r>
          </a:p>
          <a:p xmlns:a="http://schemas.openxmlformats.org/drawingml/2006/main">
            <a:r>
              <a:t>FUENTES</a:t>
            </a:r>
          </a:p>
          <a:p xmlns:a="http://schemas.openxmlformats.org/drawingml/2006/main">
            <a:r>
              <a:t>corpus/sources/program/s12-deep-research.md</a:t>
            </a:r>
          </a:p>
          <a:p xmlns:a="http://schemas.openxmlformats.org/drawingml/2006/main">
            <a:r>
              <a:t>docs/sources/ai-engineer-curriculum-2026-07-17.txt</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 Evaluación de la clase anterior</a:t>
            </a:r>
          </a:p>
          <a:p xmlns:a="http://schemas.openxmlformats.org/drawingml/2006/main">
            <a:r>
              <a:t>18:31–18:33 (2 min, Europe/Madrid)</a:t>
            </a:r>
          </a:p>
          <a:p xmlns:a="http://schemas.openxmlformats.org/drawingml/2006/main">
            <a:r>
              <a:t/>
            </a:r>
          </a:p>
          <a:p xmlns:a="http://schemas.openxmlformats.org/drawingml/2006/main">
            <a:r>
              <a:t>EXPLICACIÓN</a:t>
            </a:r>
          </a:p>
          <a:p xmlns:a="http://schemas.openxmlformats.org/drawingml/2006/main">
            <a:r>
              <a:t>Deja dos minutos para la encuesta. El QR corresponde a AI Engineer y evalúa S11 del martes 27, la clase anterior. Mientras responden, pide que piensen en una consulta que el corpus no pueda resolver. Puede tratarse de lo que dice la normativa de consumo o de un problema cuyo contexto solo aparece en una foto. Recoge un ejemplo y úsalo para introducir la investigación externa. No alargues el feedback hasta consumir el bloque conceptual.</a:t>
            </a:r>
          </a:p>
          <a:p xmlns:a="http://schemas.openxmlformats.org/drawingml/2006/main">
            <a:r>
              <a:t/>
            </a:r>
          </a:p>
          <a:p xmlns:a="http://schemas.openxmlformats.org/drawingml/2006/main">
            <a:r>
              <a:t>ACCIÓN</a:t>
            </a:r>
          </a:p>
          <a:p xmlns:a="http://schemas.openxmlformats.org/drawingml/2006/main">
            <a:r>
              <a:t>Mantén el QR visible durante dos minutos. La misma imagen original se conserva en material/assets/qr-ai-engineer.jpg.</a:t>
            </a:r>
          </a:p>
          <a:p xmlns:a="http://schemas.openxmlformats.org/drawingml/2006/main">
            <a:r>
              <a:t/>
            </a:r>
          </a:p>
          <a:p xmlns:a="http://schemas.openxmlformats.org/drawingml/2006/main">
            <a:r>
              <a:t>PREGUNTA AL GRUPO</a:t>
            </a:r>
          </a:p>
          <a:p xmlns:a="http://schemas.openxmlformats.org/drawingml/2006/main">
            <a:r>
              <a:t>¿Qué haría nuestro RAG si la solución depende de una página que nunca hemos indexado?</a:t>
            </a:r>
          </a:p>
          <a:p xmlns:a="http://schemas.openxmlformats.org/drawingml/2006/main">
            <a:r>
              <a:t/>
            </a:r>
          </a:p>
          <a:p xmlns:a="http://schemas.openxmlformats.org/drawingml/2006/main">
            <a:r>
              <a:t>RESPUESTA ESPERADA</a:t>
            </a:r>
          </a:p>
          <a:p xmlns:a="http://schemas.openxmlformats.org/drawingml/2006/main">
            <a:r>
              <a:t>Podría reconocer la falta de evidencia y rechazar. Para buscar información nueva necesita otra capacidad.</a:t>
            </a:r>
          </a:p>
          <a:p xmlns:a="http://schemas.openxmlformats.org/drawingml/2006/main">
            <a:r>
              <a:t/>
            </a:r>
          </a:p>
          <a:p xmlns:a="http://schemas.openxmlformats.org/drawingml/2006/main">
            <a:r>
              <a:t>TRANSICIÓN</a:t>
            </a:r>
          </a:p>
          <a:p xmlns:a="http://schemas.openxmlformats.org/drawingml/2006/main">
            <a:r>
              <a:t>Situamos esas capacidades dentro del agente que construiremos.</a:t>
            </a:r>
          </a:p>
          <a:p xmlns:a="http://schemas.openxmlformats.org/drawingml/2006/main">
            <a:r>
              <a:t/>
            </a:r>
          </a:p>
          <a:p xmlns:a="http://schemas.openxmlformats.org/drawingml/2006/main">
            <a:r>
              <a:t>FUENTES</a:t>
            </a:r>
          </a:p>
          <a:p xmlns:a="http://schemas.openxmlformats.org/drawingml/2006/main">
            <a:r>
              <a:t>material/assets/qr-origen.md</a:t>
            </a:r>
          </a:p>
          <a:p xmlns:a="http://schemas.openxmlformats.org/drawingml/2006/main">
            <a:r>
              <a:t>material/guiones/S11-guion-profesor.md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 · Objetivo de la sesión</a:t>
            </a:r>
          </a:p>
          <a:p xmlns:a="http://schemas.openxmlformats.org/drawingml/2006/main">
            <a:r>
              <a:t>18:33–18:35 (2 min, Europe/Madrid)</a:t>
            </a:r>
          </a:p>
          <a:p xmlns:a="http://schemas.openxmlformats.org/drawingml/2006/main">
            <a:r>
              <a:t/>
            </a:r>
          </a:p>
          <a:p xmlns:a="http://schemas.openxmlformats.org/drawingml/2006/main">
            <a:r>
              <a:t>EXPLICACIÓN</a:t>
            </a:r>
          </a:p>
          <a:p xmlns:a="http://schemas.openxmlformats.org/drawingml/2006/main">
            <a:r>
              <a:t>Lee el objetivo como un comportamiento observable. El alumno no tiene que construir una interfaz web ni varios agentes. Puede entregar un terminal o notebook que recorra las capacidades. Durante la primera hora separaremos cada responsabilidad para que después resulte sencillo encontrar un fallo. La última media hora se dedica a la aplicación existente, un resultado real guardado y las condiciones del ejercicio. Distingue siempre el diseño del agente, el proveedor de modelos y la infraestructura que lo ejecuta.</a:t>
            </a:r>
          </a:p>
          <a:p xmlns:a="http://schemas.openxmlformats.org/drawingml/2006/main">
            <a:r>
              <a:t/>
            </a:r>
          </a:p>
          <a:p xmlns:a="http://schemas.openxmlformats.org/drawingml/2006/main">
            <a:r>
              <a:t>ACCIÓN</a:t>
            </a:r>
          </a:p>
          <a:p xmlns:a="http://schemas.openxmlformats.org/drawingml/2006/main">
            <a:r>
              <a:t>Señala los cuatro resultados que comprobarás al final. Relaciona memoria y herramientas con las sesiones previas de LangGraph.</a:t>
            </a:r>
          </a:p>
          <a:p xmlns:a="http://schemas.openxmlformats.org/drawingml/2006/main">
            <a:r>
              <a:t/>
            </a:r>
          </a:p>
          <a:p xmlns:a="http://schemas.openxmlformats.org/drawingml/2006/main">
            <a:r>
              <a:t>PREGUNTA AL GRUPO</a:t>
            </a:r>
          </a:p>
          <a:p xmlns:a="http://schemas.openxmlformats.org/drawingml/2006/main">
            <a:r>
              <a:t>¿Qué prueba sencilla nos demostraría que el audio realmente ha influido en la respuesta?</a:t>
            </a:r>
          </a:p>
          <a:p xmlns:a="http://schemas.openxmlformats.org/drawingml/2006/main">
            <a:r>
              <a:t/>
            </a:r>
          </a:p>
          <a:p xmlns:a="http://schemas.openxmlformats.org/drawingml/2006/main">
            <a:r>
              <a:t>RESPUESTA ESPERADA</a:t>
            </a:r>
          </a:p>
          <a:p xmlns:a="http://schemas.openxmlformats.org/drawingml/2006/main">
            <a:r>
              <a:t>Cambiar la intención del audio manteniendo la imagen y comprobar que cambia la pregunta o la ruta del agente.</a:t>
            </a:r>
          </a:p>
          <a:p xmlns:a="http://schemas.openxmlformats.org/drawingml/2006/main">
            <a:r>
              <a:t/>
            </a:r>
          </a:p>
          <a:p xmlns:a="http://schemas.openxmlformats.org/drawingml/2006/main">
            <a:r>
              <a:t>TRANSICIÓN</a:t>
            </a:r>
          </a:p>
          <a:p xmlns:a="http://schemas.openxmlformats.org/drawingml/2006/main">
            <a:r>
              <a:t>Primero comparamos la investigación con lo que ya conocemos de RAG y CRAG.</a:t>
            </a:r>
          </a:p>
          <a:p xmlns:a="http://schemas.openxmlformats.org/drawingml/2006/main">
            <a:r>
              <a:t/>
            </a:r>
          </a:p>
          <a:p xmlns:a="http://schemas.openxmlformats.org/drawingml/2006/main">
            <a:r>
              <a:t>FUENTES</a:t>
            </a:r>
          </a:p>
          <a:p xmlns:a="http://schemas.openxmlformats.org/drawingml/2006/main">
            <a:r>
              <a:t>docs/sources/ai-engineer-curriculum-2026-07-17.txt</a:t>
            </a:r>
          </a:p>
          <a:p xmlns:a="http://schemas.openxmlformats.org/drawingml/2006/main">
            <a:r>
              <a:t>corpus/sources/program/s12-deep-research.md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 Respuesta directa, RAG, CRAG e investigación</a:t>
            </a:r>
          </a:p>
          <a:p xmlns:a="http://schemas.openxmlformats.org/drawingml/2006/main">
            <a:r>
              <a:t>18:35–18:39 (4 min, Europe/Madrid)</a:t>
            </a:r>
          </a:p>
          <a:p xmlns:a="http://schemas.openxmlformats.org/drawingml/2006/main">
            <a:r>
              <a:t/>
            </a:r>
          </a:p>
          <a:p xmlns:a="http://schemas.openxmlformats.org/drawingml/2006/main">
            <a:r>
              <a:t>EXPLICACIÓN</a:t>
            </a:r>
          </a:p>
          <a:p xmlns:a="http://schemas.openxmlformats.org/drawingml/2006/main">
            <a:r>
              <a:t>Usa cuatro ejemplos de la tienda: reformular una respuesta, consultar el plazo de devolución, resolver una pregunta compuesta sobre envíos e investigar qué dice la normativa sobre un producto precintado. RAG recupera documentos. CRAG evalúa si esa evidencia cubre la pregunta y puede corregir la búsqueda. Una investigación descompone la tarea, consulta fuentes y revisa las lagunas antes de redactar. Estas categorías se pueden combinar: una investigación también puede usar RAG. La multimodalidad describe las entradas o salidas, por lo que cualquiera de esos recorridos puede recibir una imagen. No presentes Deep Research como una garantía de exactitud ni como un nombre único de arquitectura.</a:t>
            </a:r>
          </a:p>
          <a:p xmlns:a="http://schemas.openxmlformats.org/drawingml/2006/main">
            <a:r>
              <a:t/>
            </a:r>
          </a:p>
          <a:p xmlns:a="http://schemas.openxmlformats.org/drawingml/2006/main">
            <a:r>
              <a:t>ACCIÓN</a:t>
            </a:r>
          </a:p>
          <a:p xmlns:a="http://schemas.openxmlformats.org/drawingml/2006/main">
            <a:r>
              <a:t>Pide al grupo que clasifique los cuatro ejemplos. Conserva uno ambiguo y explica por qué la ruta depende de la evidencia necesaria.</a:t>
            </a:r>
          </a:p>
          <a:p xmlns:a="http://schemas.openxmlformats.org/drawingml/2006/main">
            <a:r>
              <a:t/>
            </a:r>
          </a:p>
          <a:p xmlns:a="http://schemas.openxmlformats.org/drawingml/2006/main">
            <a:r>
              <a:t>PREGUNTA AL GRUPO</a:t>
            </a:r>
          </a:p>
          <a:p xmlns:a="http://schemas.openxmlformats.org/drawingml/2006/main">
            <a:r>
              <a:t>Si una investigación consulta las políticas de la tienda, ¿deja de ser investigación?</a:t>
            </a:r>
          </a:p>
          <a:p xmlns:a="http://schemas.openxmlformats.org/drawingml/2006/main">
            <a:r>
              <a:t/>
            </a:r>
          </a:p>
          <a:p xmlns:a="http://schemas.openxmlformats.org/drawingml/2006/main">
            <a:r>
              <a:t>RESPUESTA ESPERADA</a:t>
            </a:r>
          </a:p>
          <a:p xmlns:a="http://schemas.openxmlformats.org/drawingml/2006/main">
            <a:r>
              <a:t>Puede combinar recuperación interna con herramientas y fuentes externas. La decisión depende de la tarea.</a:t>
            </a:r>
          </a:p>
          <a:p xmlns:a="http://schemas.openxmlformats.org/drawingml/2006/main">
            <a:r>
              <a:t/>
            </a:r>
          </a:p>
          <a:p xmlns:a="http://schemas.openxmlformats.org/drawingml/2006/main">
            <a:r>
              <a:t>TRANSICIÓN</a:t>
            </a:r>
          </a:p>
          <a:p xmlns:a="http://schemas.openxmlformats.org/drawingml/2006/main">
            <a:r>
              <a:t>Veamos qué cambia cuando la petición incluye archivos.</a:t>
            </a:r>
          </a:p>
          <a:p xmlns:a="http://schemas.openxmlformats.org/drawingml/2006/main">
            <a:r>
              <a:t/>
            </a:r>
          </a:p>
          <a:p xmlns:a="http://schemas.openxmlformats.org/drawingml/2006/main">
            <a:r>
              <a:t>FUENTES</a:t>
            </a:r>
          </a:p>
          <a:p xmlns:a="http://schemas.openxmlformats.org/drawingml/2006/main">
            <a:r>
              <a:t>AGENTS.md#qué-hace-la-aplicación</a:t>
            </a:r>
          </a:p>
          <a:p xmlns:a="http://schemas.openxmlformats.org/drawingml/2006/main">
            <a:r>
              <a:t>apps/api/src/research-graph.ts</a:t>
            </a:r>
          </a:p>
          <a:p xmlns:a="http://schemas.openxmlformats.org/drawingml/2006/main">
            <a:r>
              <a:t>docs/s12-research-phase1.md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 Multimodalidad</a:t>
            </a:r>
          </a:p>
          <a:p xmlns:a="http://schemas.openxmlformats.org/drawingml/2006/main">
            <a:r>
              <a:t>18:39–18:42 (3 min, Europe/Madrid)</a:t>
            </a:r>
          </a:p>
          <a:p xmlns:a="http://schemas.openxmlformats.org/drawingml/2006/main">
            <a:r>
              <a:t/>
            </a:r>
          </a:p>
          <a:p xmlns:a="http://schemas.openxmlformats.org/drawingml/2006/main">
            <a:r>
              <a:t>EXPLICACIÓN</a:t>
            </a:r>
          </a:p>
          <a:p xmlns:a="http://schemas.openxmlformats.org/drawingml/2006/main">
            <a:r>
              <a:t>Define modalidad como una forma de representar información. Un modelo puede admitir texto e imagen, mientras otro servicio se encarga de transcribir audio. Un sistema multimodal no necesita resolverlo todo con una única llamada. En nuestro recorrido, la visión convierte la foto del pedido en una observación y la transcripción convierte el audio en texto. Después fusionamos esas entradas. Conservar el origen permite comprobar un número mal leído o una palabra mal transcrita. Un MP3 al final es una salida de voz. No implica que el sistema mantenga una conversación de voz en tiempo real.</a:t>
            </a:r>
          </a:p>
          <a:p xmlns:a="http://schemas.openxmlformats.org/drawingml/2006/main">
            <a:r>
              <a:t/>
            </a:r>
          </a:p>
          <a:p xmlns:a="http://schemas.openxmlformats.org/drawingml/2006/main">
            <a:r>
              <a:t>ACCIÓN</a:t>
            </a:r>
          </a:p>
          <a:p xmlns:a="http://schemas.openxmlformats.org/drawingml/2006/main">
            <a:r>
              <a:t>Usa el mismo caso durante toda la clase. Evita cambiar a ejemplos de vídeo o voz en tiempo real que la demo no cubre.</a:t>
            </a:r>
          </a:p>
          <a:p xmlns:a="http://schemas.openxmlformats.org/drawingml/2006/main">
            <a:r>
              <a:t/>
            </a:r>
          </a:p>
          <a:p xmlns:a="http://schemas.openxmlformats.org/drawingml/2006/main">
            <a:r>
              <a:t>PREGUNTA AL GRUPO</a:t>
            </a:r>
          </a:p>
          <a:p xmlns:a="http://schemas.openxmlformats.org/drawingml/2006/main">
            <a:r>
              <a:t>¿Necesitamos un único modelo que entienda todo para construir este sistema?</a:t>
            </a:r>
          </a:p>
          <a:p xmlns:a="http://schemas.openxmlformats.org/drawingml/2006/main">
            <a:r>
              <a:t/>
            </a:r>
          </a:p>
          <a:p xmlns:a="http://schemas.openxmlformats.org/drawingml/2006/main">
            <a:r>
              <a:t>RESPUESTA ESPERADA</a:t>
            </a:r>
          </a:p>
          <a:p xmlns:a="http://schemas.openxmlformats.org/drawingml/2006/main">
            <a:r>
              <a:t>Podemos coordinar modelos especializados y unificar sus resultados en el estado del grafo.</a:t>
            </a:r>
          </a:p>
          <a:p xmlns:a="http://schemas.openxmlformats.org/drawingml/2006/main">
            <a:r>
              <a:t/>
            </a:r>
          </a:p>
          <a:p xmlns:a="http://schemas.openxmlformats.org/drawingml/2006/main">
            <a:r>
              <a:t>TRANSICIÓN</a:t>
            </a:r>
          </a:p>
          <a:p xmlns:a="http://schemas.openxmlformats.org/drawingml/2006/main">
            <a:r>
              <a:t>La primera transformación será leer la foto del pedido.</a:t>
            </a:r>
          </a:p>
          <a:p xmlns:a="http://schemas.openxmlformats.org/drawingml/2006/main">
            <a:r>
              <a:t/>
            </a:r>
          </a:p>
          <a:p xmlns:a="http://schemas.openxmlformats.org/drawingml/2006/main">
            <a:r>
              <a:t>FUENTES</a:t>
            </a:r>
          </a:p>
          <a:p xmlns:a="http://schemas.openxmlformats.org/drawingml/2006/main">
            <a:r>
              <a:t>apps/api/src/research-multimodal.ts</a:t>
            </a:r>
          </a:p>
          <a:p xmlns:a="http://schemas.openxmlformats.org/drawingml/2006/main">
            <a:r>
              <a:t>apps/api/src/research-perception-real.ts</a:t>
            </a:r>
          </a:p>
          <a:p xmlns:a="http://schemas.openxmlformats.org/drawingml/2006/main">
            <a:r>
              <a:t>packages/research/src/fusion.ts</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 · Lectura de imagen y OCR</a:t>
            </a:r>
          </a:p>
          <a:p xmlns:a="http://schemas.openxmlformats.org/drawingml/2006/main">
            <a:r>
              <a:t>18:42–18:45 (3 min, Europe/Madrid)</a:t>
            </a:r>
          </a:p>
          <a:p xmlns:a="http://schemas.openxmlformats.org/drawingml/2006/main">
            <a:r>
              <a:t/>
            </a:r>
          </a:p>
          <a:p xmlns:a="http://schemas.openxmlformats.org/drawingml/2006/main">
            <a:r>
              <a:t>EXPLICACIÓN</a:t>
            </a:r>
          </a:p>
          <a:p xmlns:a="http://schemas.openxmlformats.org/drawingml/2006/main">
            <a:r>
              <a:t>Distingue OCR e interpretación visual. OCR extrae caracteres. Un modelo con visión también puede describir el contexto de una pantalla, pero puede equivocarse con cifras, fechas o importes. Lee el número TPS-20481 y la fecha 20/10/2026 sin cambiar ningún dígito. La foto permite saber de qué pedido hablamos. No demuestra que el pedido sea de la cuenta de quien escribe ni qué le pasa al producto. Antes de responder necesitamos los datos del pedido desde la tienda y la explicación del cliente. El ejemplo es una imagen sintética de un pedido ficticio.</a:t>
            </a:r>
          </a:p>
          <a:p xmlns:a="http://schemas.openxmlformats.org/drawingml/2006/main">
            <a:r>
              <a:t/>
            </a:r>
          </a:p>
          <a:p xmlns:a="http://schemas.openxmlformats.org/drawingml/2006/main">
            <a:r>
              <a:t>ACCIÓN</a:t>
            </a:r>
          </a:p>
          <a:p xmlns:a="http://schemas.openxmlformats.org/drawingml/2006/main">
            <a:r>
              <a:t>Pide a alguien que lea la foto y a otra persona que explique qué todavía no sabemos.</a:t>
            </a:r>
          </a:p>
          <a:p xmlns:a="http://schemas.openxmlformats.org/drawingml/2006/main">
            <a:r>
              <a:t/>
            </a:r>
          </a:p>
          <a:p xmlns:a="http://schemas.openxmlformats.org/drawingml/2006/main">
            <a:r>
              <a:t>PREGUNTA AL GRUPO</a:t>
            </a:r>
          </a:p>
          <a:p xmlns:a="http://schemas.openxmlformats.org/drawingml/2006/main">
            <a:r>
              <a:t>¿Podemos concluir ya que el cliente puede devolver los auriculares?</a:t>
            </a:r>
          </a:p>
          <a:p xmlns:a="http://schemas.openxmlformats.org/drawingml/2006/main">
            <a:r>
              <a:t/>
            </a:r>
          </a:p>
          <a:p xmlns:a="http://schemas.openxmlformats.org/drawingml/2006/main">
            <a:r>
              <a:t>RESPUESTA ESPERADA</a:t>
            </a:r>
          </a:p>
          <a:p xmlns:a="http://schemas.openxmlformats.org/drawingml/2006/main">
            <a:r>
              <a:t>Todavía falta saber qué les pasa, qué dice la política de la tienda y si el pedido es de su cuenta.</a:t>
            </a:r>
          </a:p>
          <a:p xmlns:a="http://schemas.openxmlformats.org/drawingml/2006/main">
            <a:r>
              <a:t/>
            </a:r>
          </a:p>
          <a:p xmlns:a="http://schemas.openxmlformats.org/drawingml/2006/main">
            <a:r>
              <a:t>TRANSICIÓN</a:t>
            </a:r>
          </a:p>
          <a:p xmlns:a="http://schemas.openxmlformats.org/drawingml/2006/main">
            <a:r>
              <a:t>Antes de invocar visión, la aplicación comprueba el archivo.</a:t>
            </a:r>
          </a:p>
          <a:p xmlns:a="http://schemas.openxmlformats.org/drawingml/2006/main">
            <a:r>
              <a:t/>
            </a:r>
          </a:p>
          <a:p xmlns:a="http://schemas.openxmlformats.org/drawingml/2006/main">
            <a:r>
              <a:t>FUENTES</a:t>
            </a:r>
          </a:p>
          <a:p xmlns:a="http://schemas.openxmlformats.org/drawingml/2006/main">
            <a:r>
              <a:t>apps/api/fixtures/media/manifest.json</a:t>
            </a:r>
          </a:p>
          <a:p xmlns:a="http://schemas.openxmlformats.org/drawingml/2006/main">
            <a:r>
              <a:t>apps/api/src/research-perception.ts</a:t>
            </a:r>
          </a:p>
          <a:p xmlns:a="http://schemas.openxmlformats.org/drawingml/2006/main">
            <a:r>
              <a:t>docs/s12-cloud-deployment.md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 · Procesamiento de archivos</a:t>
            </a:r>
          </a:p>
          <a:p xmlns:a="http://schemas.openxmlformats.org/drawingml/2006/main">
            <a:r>
              <a:t>18:45–18:48 (3 min, Europe/Madrid)</a:t>
            </a:r>
          </a:p>
          <a:p xmlns:a="http://schemas.openxmlformats.org/drawingml/2006/main">
            <a:r>
              <a:t/>
            </a:r>
          </a:p>
          <a:p xmlns:a="http://schemas.openxmlformats.org/drawingml/2006/main">
            <a:r>
              <a:t>EXPLICACIÓN</a:t>
            </a:r>
          </a:p>
          <a:p xmlns:a="http://schemas.openxmlformats.org/drawingml/2006/main">
            <a:r>
              <a:t>Recorre la admisión de un archivo. Primero se comprueban sus bytes y formato real, después límites como tamaño y duración, y solo entonces se guarda y se llama al proveedor. Renombrar un HTML a .png no lo convierte en una imagen. La demo acepta un conjunto estrecho de formatos para que el recorrido sea reproducible. PDF y otros tipos de archivo requieren un extractor y un diseño propios, por lo que quedan como ampliación. En el estado guardamos referencias, metadatos y texto acotado. Los binarios y el base64 hacen crecer checkpoints y no sirven como memoria conversacional.</a:t>
            </a:r>
          </a:p>
          <a:p xmlns:a="http://schemas.openxmlformats.org/drawingml/2006/main">
            <a:r>
              <a:t/>
            </a:r>
          </a:p>
          <a:p xmlns:a="http://schemas.openxmlformats.org/drawingml/2006/main">
            <a:r>
              <a:t>ACCIÓN</a:t>
            </a:r>
          </a:p>
          <a:p xmlns:a="http://schemas.openxmlformats.org/drawingml/2006/main">
            <a:r>
              <a:t>Contrasta un archivo mal formado con unknown-square.png, una imagen válida que el guion offline no reconoce. Son dos errores distintos.</a:t>
            </a:r>
          </a:p>
          <a:p xmlns:a="http://schemas.openxmlformats.org/drawingml/2006/main">
            <a:r>
              <a:t/>
            </a:r>
          </a:p>
          <a:p xmlns:a="http://schemas.openxmlformats.org/drawingml/2006/main">
            <a:r>
              <a:t>PREGUNTA AL GRUPO</a:t>
            </a:r>
          </a:p>
          <a:p xmlns:a="http://schemas.openxmlformats.org/drawingml/2006/main">
            <a:r>
              <a:t>¿Por qué limitar dimensiones si el archivo ocupa pocos bytes?</a:t>
            </a:r>
          </a:p>
          <a:p xmlns:a="http://schemas.openxmlformats.org/drawingml/2006/main">
            <a:r>
              <a:t/>
            </a:r>
          </a:p>
          <a:p xmlns:a="http://schemas.openxmlformats.org/drawingml/2006/main">
            <a:r>
              <a:t>RESPUESTA ESPERADA</a:t>
            </a:r>
          </a:p>
          <a:p xmlns:a="http://schemas.openxmlformats.org/drawingml/2006/main">
            <a:r>
              <a:t>Un archivo muy comprimido puede exigir mucha memoria al decodificarse. Bytes y tamaño descomprimido son límites distintos.</a:t>
            </a:r>
          </a:p>
          <a:p xmlns:a="http://schemas.openxmlformats.org/drawingml/2006/main">
            <a:r>
              <a:t/>
            </a:r>
          </a:p>
          <a:p xmlns:a="http://schemas.openxmlformats.org/drawingml/2006/main">
            <a:r>
              <a:t>TRANSICIÓN</a:t>
            </a:r>
          </a:p>
          <a:p xmlns:a="http://schemas.openxmlformats.org/drawingml/2006/main">
            <a:r>
              <a:t>El audio tiene su propio proceso de admisión y lectura.</a:t>
            </a:r>
          </a:p>
          <a:p xmlns:a="http://schemas.openxmlformats.org/drawingml/2006/main">
            <a:r>
              <a:t/>
            </a:r>
          </a:p>
          <a:p xmlns:a="http://schemas.openxmlformats.org/drawingml/2006/main">
            <a:r>
              <a:t>FUENTES</a:t>
            </a:r>
          </a:p>
          <a:p xmlns:a="http://schemas.openxmlformats.org/drawingml/2006/main">
            <a:r>
              <a:t>packages/contracts/src/media.ts</a:t>
            </a:r>
          </a:p>
          <a:p xmlns:a="http://schemas.openxmlformats.org/drawingml/2006/main">
            <a:r>
              <a:t>apps/api/src/media-bytes.ts</a:t>
            </a:r>
          </a:p>
          <a:p xmlns:a="http://schemas.openxmlformats.org/drawingml/2006/main">
            <a:r>
              <a:t>docs/s12-research-phase3.md#entrada-y-fusión</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 · Audio a texto</a:t>
            </a:r>
          </a:p>
          <a:p xmlns:a="http://schemas.openxmlformats.org/drawingml/2006/main">
            <a:r>
              <a:t>18:48–18:51 (3 min, Europe/Madrid)</a:t>
            </a:r>
          </a:p>
          <a:p xmlns:a="http://schemas.openxmlformats.org/drawingml/2006/main">
            <a:r>
              <a:t/>
            </a:r>
          </a:p>
          <a:p xmlns:a="http://schemas.openxmlformats.org/drawingml/2006/main">
            <a:r>
              <a:t>EXPLICACIÓN</a:t>
            </a:r>
          </a:p>
          <a:p xmlns:a="http://schemas.openxmlformats.org/drawingml/2006/main">
            <a:r>
              <a:t>Explica speech to text como transcripción de voz a texto. El agente usará esa transcripción, de modo que una palabra mal reconocida puede cambiar la intención. Un número de pedido o una marca mal reconocidos cambian la pregunta. Conservamos la transcripción tal como llegó, no la reescribimos para que parezca perfecta. Podemos pedir aclaración o utilizar el contexto con cuidado, dejando visible el texto original. La nota de voz del caso dice que el cliente abrió los auriculares y que el derecho no suena. Ese dato no figura en la foto y será importante al construir la pregunta de investigación.</a:t>
            </a:r>
          </a:p>
          <a:p xmlns:a="http://schemas.openxmlformats.org/drawingml/2006/main">
            <a:r>
              <a:t/>
            </a:r>
          </a:p>
          <a:p xmlns:a="http://schemas.openxmlformats.org/drawingml/2006/main">
            <a:r>
              <a:t>ACCIÓN</a:t>
            </a:r>
          </a:p>
          <a:p xmlns:a="http://schemas.openxmlformats.org/drawingml/2006/main">
            <a:r>
              <a:t>Reproduce apps/api/fixtures/media/nota-de-voz-devolucion.wav si el sonido compartido funciona. Después resume su intención sin atribuir una transcripción literal nueva.</a:t>
            </a:r>
          </a:p>
          <a:p xmlns:a="http://schemas.openxmlformats.org/drawingml/2006/main">
            <a:r>
              <a:t/>
            </a:r>
          </a:p>
          <a:p xmlns:a="http://schemas.openxmlformats.org/drawingml/2006/main">
            <a:r>
              <a:t>PREGUNTA AL GRUPO</a:t>
            </a:r>
          </a:p>
          <a:p xmlns:a="http://schemas.openxmlformats.org/drawingml/2006/main">
            <a:r>
              <a:t>Si la transcripción cambia TPS-20481 por TPS-20418, ¿deberíamos seguir como si nada?</a:t>
            </a:r>
          </a:p>
          <a:p xmlns:a="http://schemas.openxmlformats.org/drawingml/2006/main">
            <a:r>
              <a:t/>
            </a:r>
          </a:p>
          <a:p xmlns:a="http://schemas.openxmlformats.org/drawingml/2006/main">
            <a:r>
              <a:t>RESPUESTA ESPERADA</a:t>
            </a:r>
          </a:p>
          <a:p xmlns:a="http://schemas.openxmlformats.org/drawingml/2006/main">
            <a:r>
              <a:t>Hay una discrepancia relevante con la imagen. Conviene pedir aclaración y conservar ambas entradas.</a:t>
            </a:r>
          </a:p>
          <a:p xmlns:a="http://schemas.openxmlformats.org/drawingml/2006/main">
            <a:r>
              <a:t/>
            </a:r>
          </a:p>
          <a:p xmlns:a="http://schemas.openxmlformats.org/drawingml/2006/main">
            <a:r>
              <a:t>TRANSICIÓN</a:t>
            </a:r>
          </a:p>
          <a:p xmlns:a="http://schemas.openxmlformats.org/drawingml/2006/main">
            <a:r>
              <a:t>Ahora unimos lo leído y lo escuchado.</a:t>
            </a:r>
          </a:p>
          <a:p xmlns:a="http://schemas.openxmlformats.org/drawingml/2006/main">
            <a:r>
              <a:t/>
            </a:r>
          </a:p>
          <a:p xmlns:a="http://schemas.openxmlformats.org/drawingml/2006/main">
            <a:r>
              <a:t>FUENTES</a:t>
            </a:r>
          </a:p>
          <a:p xmlns:a="http://schemas.openxmlformats.org/drawingml/2006/main">
            <a:r>
              <a:t>apps/api/fixtures/media/manifest.json</a:t>
            </a:r>
          </a:p>
          <a:p xmlns:a="http://schemas.openxmlformats.org/drawingml/2006/main">
            <a:r>
              <a:t>apps/api/src/research-perception-real.ts</a:t>
            </a:r>
          </a:p>
          <a:p xmlns:a="http://schemas.openxmlformats.org/drawingml/2006/main">
            <a:r>
              <a:t>docs/s12-cloud-deployment.md#presupuesto-y-límites-de-la-evidencia</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 · Fusión de entradas</a:t>
            </a:r>
          </a:p>
          <a:p xmlns:a="http://schemas.openxmlformats.org/drawingml/2006/main">
            <a:r>
              <a:t>18:51–18:55 (4 min, Europe/Madrid)</a:t>
            </a:r>
          </a:p>
          <a:p xmlns:a="http://schemas.openxmlformats.org/drawingml/2006/main">
            <a:r>
              <a:t/>
            </a:r>
          </a:p>
          <a:p xmlns:a="http://schemas.openxmlformats.org/drawingml/2006/main">
            <a:r>
              <a:t>EXPLICACIÓN</a:t>
            </a:r>
          </a:p>
          <a:p xmlns:a="http://schemas.openxmlformats.org/drawingml/2006/main">
            <a:r>
              <a:t>Construye la pregunta en voz alta utilizando las dos modalidades. La foto aporta el pedido y el audio aporta lo que le pasa y lo que quiere el cliente. La fusión tiene que mantener la petición completa, incluidos matices y negaciones. Si las modalidades discrepan, el agente no debe elegir silenciosamente una. Si el contenido excede la capacidad admitida, pedimos acortar en lugar de recortar el final, donde podría estar la instrucción principal. Separa texto escrito, observación visual y transcripción. Esa separación permite volver a cada fuente al diagnosticar un fallo.</a:t>
            </a:r>
          </a:p>
          <a:p xmlns:a="http://schemas.openxmlformats.org/drawingml/2006/main">
            <a:r>
              <a:t/>
            </a:r>
          </a:p>
          <a:p xmlns:a="http://schemas.openxmlformats.org/drawingml/2006/main">
            <a:r>
              <a:t>ACCIÓN</a:t>
            </a:r>
          </a:p>
          <a:p xmlns:a="http://schemas.openxmlformats.org/drawingml/2006/main">
            <a:r>
              <a:t>Propón como contraste la foto del pedido TPS-20481 y un audio que hable del pedido TPS-19876. Pide al grupo que decida la salida antes de mostrar la respuesta esperada.</a:t>
            </a:r>
          </a:p>
          <a:p xmlns:a="http://schemas.openxmlformats.org/drawingml/2006/main">
            <a:r>
              <a:t/>
            </a:r>
          </a:p>
          <a:p xmlns:a="http://schemas.openxmlformats.org/drawingml/2006/main">
            <a:r>
              <a:t>PREGUNTA AL GRUPO</a:t>
            </a:r>
          </a:p>
          <a:p xmlns:a="http://schemas.openxmlformats.org/drawingml/2006/main">
            <a:r>
              <a:t>¿Qué salida esperamos si la imagen y el audio se contradicen?</a:t>
            </a:r>
          </a:p>
          <a:p xmlns:a="http://schemas.openxmlformats.org/drawingml/2006/main">
            <a:r>
              <a:t/>
            </a:r>
          </a:p>
          <a:p xmlns:a="http://schemas.openxmlformats.org/drawingml/2006/main">
            <a:r>
              <a:t>RESPUESTA ESPERADA</a:t>
            </a:r>
          </a:p>
          <a:p xmlns:a="http://schemas.openxmlformats.org/drawingml/2006/main">
            <a:r>
              <a:t>Una aclaración que señale la discrepancia, sin investigar un pedido elegido al azar.</a:t>
            </a:r>
          </a:p>
          <a:p xmlns:a="http://schemas.openxmlformats.org/drawingml/2006/main">
            <a:r>
              <a:t/>
            </a:r>
          </a:p>
          <a:p xmlns:a="http://schemas.openxmlformats.org/drawingml/2006/main">
            <a:r>
              <a:t>TRANSICIÓN</a:t>
            </a:r>
          </a:p>
          <a:p xmlns:a="http://schemas.openxmlformats.org/drawingml/2006/main">
            <a:r>
              <a:t>Con la pregunta formada, el agente decide qué capacidad utilizar.</a:t>
            </a:r>
          </a:p>
          <a:p xmlns:a="http://schemas.openxmlformats.org/drawingml/2006/main">
            <a:r>
              <a:t/>
            </a:r>
          </a:p>
          <a:p xmlns:a="http://schemas.openxmlformats.org/drawingml/2006/main">
            <a:r>
              <a:t>FUENTES</a:t>
            </a:r>
          </a:p>
          <a:p xmlns:a="http://schemas.openxmlformats.org/drawingml/2006/main">
            <a:r>
              <a:t>packages/research/src/fusion.ts</a:t>
            </a:r>
          </a:p>
          <a:p xmlns:a="http://schemas.openxmlformats.org/drawingml/2006/main">
            <a:r>
              <a:t>apps/api/src/research-multimodal.ts</a:t>
            </a:r>
          </a:p>
          <a:p xmlns:a="http://schemas.openxmlformats.org/drawingml/2006/main">
            <a:r>
              <a:t>docs/s12-research-phase3.md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 Herramientas y elección de ruta</a:t>
            </a:r>
          </a:p>
          <a:p xmlns:a="http://schemas.openxmlformats.org/drawingml/2006/main">
            <a:r>
              <a:t>18:55–18:58 (3 min, Europe/Madrid)</a:t>
            </a:r>
          </a:p>
          <a:p xmlns:a="http://schemas.openxmlformats.org/drawingml/2006/main">
            <a:r>
              <a:t/>
            </a:r>
          </a:p>
          <a:p xmlns:a="http://schemas.openxmlformats.org/drawingml/2006/main">
            <a:r>
              <a:t>EXPLICACIÓN</a:t>
            </a:r>
          </a:p>
          <a:p xmlns:a="http://schemas.openxmlformats.org/drawingml/2006/main">
            <a:r>
              <a:t>Recuerda que proponer una herramienta y ejecutarla son pasos distintos. El modelo puede sugerir una llamada, pero el programa comprueba el nombre permitido, los argumentos y los permisos. Nuestra herramienta de solo lectura consulta los datos de un pedido: producto, pago, fechas y estado. Esos datos no están en las políticas y no tiene sentido buscarlos en la web. La pregunta sobre la normativa sí necesita fuentes externas. Una misma investigación puede usar ambas vías. La cuenta de la conversación limita qué pedidos puede leer la herramienta. Un número escrito en una foto o en una página nunca cambia ese permiso.</a:t>
            </a:r>
          </a:p>
          <a:p xmlns:a="http://schemas.openxmlformats.org/drawingml/2006/main">
            <a:r>
              <a:t/>
            </a:r>
          </a:p>
          <a:p xmlns:a="http://schemas.openxmlformats.org/drawingml/2006/main">
            <a:r>
              <a:t>ACCIÓN</a:t>
            </a:r>
          </a:p>
          <a:p xmlns:a="http://schemas.openxmlformats.org/drawingml/2006/main">
            <a:r>
              <a:t>Enseña el contrato conceptual get_order({orderId: 'TPS-20481'}). La implementación comprueba que el pedido pertenece a la cuenta de la conversación.</a:t>
            </a:r>
          </a:p>
          <a:p xmlns:a="http://schemas.openxmlformats.org/drawingml/2006/main">
            <a:r>
              <a:t/>
            </a:r>
          </a:p>
          <a:p xmlns:a="http://schemas.openxmlformats.org/drawingml/2006/main">
            <a:r>
              <a:t>PREGUNTA AL GRUPO</a:t>
            </a:r>
          </a:p>
          <a:p xmlns:a="http://schemas.openxmlformats.org/drawingml/2006/main">
            <a:r>
              <a:t>¿Puede una página externa o una foto ordenar que la herramienta lea el pedido de otro cliente?</a:t>
            </a:r>
          </a:p>
          <a:p xmlns:a="http://schemas.openxmlformats.org/drawingml/2006/main">
            <a:r>
              <a:t/>
            </a:r>
          </a:p>
          <a:p xmlns:a="http://schemas.openxmlformats.org/drawingml/2006/main">
            <a:r>
              <a:t>RESPUESTA ESPERADA</a:t>
            </a:r>
          </a:p>
          <a:p xmlns:a="http://schemas.openxmlformats.org/drawingml/2006/main">
            <a:r>
              <a:t>La página y la foto son datos. La autorización la impone el programa.</a:t>
            </a:r>
          </a:p>
          <a:p xmlns:a="http://schemas.openxmlformats.org/drawingml/2006/main">
            <a:r>
              <a:t/>
            </a:r>
          </a:p>
          <a:p xmlns:a="http://schemas.openxmlformats.org/drawingml/2006/main">
            <a:r>
              <a:t>TRANSICIÓN</a:t>
            </a:r>
          </a:p>
          <a:p xmlns:a="http://schemas.openxmlformats.org/drawingml/2006/main">
            <a:r>
              <a:t>La elección de ruta también puede usar el contexto de la conversación.</a:t>
            </a:r>
          </a:p>
          <a:p xmlns:a="http://schemas.openxmlformats.org/drawingml/2006/main">
            <a:r>
              <a:t/>
            </a:r>
          </a:p>
          <a:p xmlns:a="http://schemas.openxmlformats.org/drawingml/2006/main">
            <a:r>
              <a:t>FUENTES</a:t>
            </a:r>
          </a:p>
          <a:p xmlns:a="http://schemas.openxmlformats.org/drawingml/2006/main">
            <a:r>
              <a:t>apps/api/src/research-tool.ts</a:t>
            </a:r>
          </a:p>
          <a:p xmlns:a="http://schemas.openxmlformats.org/drawingml/2006/main">
            <a:r>
              <a:t>packages/research/src/plan.ts</a:t>
            </a:r>
          </a:p>
          <a:p xmlns:a="http://schemas.openxmlformats.org/drawingml/2006/main">
            <a:r>
              <a:t>apps/api/src/research-owner.ts</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 Memoria y conversaciones aisladas</a:t>
            </a:r>
          </a:p>
          <a:p xmlns:a="http://schemas.openxmlformats.org/drawingml/2006/main">
            <a:r>
              <a:t>18:58–19:01 (3 min, Europe/Madrid)</a:t>
            </a:r>
          </a:p>
          <a:p xmlns:a="http://schemas.openxmlformats.org/drawingml/2006/main">
            <a:r>
              <a:t/>
            </a:r>
          </a:p>
          <a:p xmlns:a="http://schemas.openxmlformats.org/drawingml/2006/main">
            <a:r>
              <a:t>EXPLICACIÓN</a:t>
            </a:r>
          </a:p>
          <a:p xmlns:a="http://schemas.openxmlformats.org/drawingml/2006/main">
            <a:r>
              <a:t>Distingue historial de conversación, checkpoint del grafo e informe guardado. El historial ayuda a interpretar ese pedido en un turno posterior. El checkpoint conserva el estado de una ejecución. El informe es un resultado que debemos poder recuperar aunque el historial se recorte. thread_id identifica un hilo, pero por sí solo no autoriza el acceso. En nuestra app hay una conversación del propietario y cada trabajo tiene su propio checkpoint. El alumno puede implementar una versión más pequeña, pero debe demostrar dos conversaciones aisladas. Recordar una frase del usuario no la convierte en prueba de cómo funciona un proveedor.</a:t>
            </a:r>
          </a:p>
          <a:p xmlns:a="http://schemas.openxmlformats.org/drawingml/2006/main">
            <a:r>
              <a:t/>
            </a:r>
          </a:p>
          <a:p xmlns:a="http://schemas.openxmlformats.org/drawingml/2006/main">
            <a:r>
              <a:t>ACCIÓN</a:t>
            </a:r>
          </a:p>
          <a:p xmlns:a="http://schemas.openxmlformats.org/drawingml/2006/main">
            <a:r>
              <a:t>Anticipa la prueba de recarga y conversación nueva que se hará en la demo. No equipares cambiar de hilo con demostrar todos los controles de acceso.</a:t>
            </a:r>
          </a:p>
          <a:p xmlns:a="http://schemas.openxmlformats.org/drawingml/2006/main">
            <a:r>
              <a:t/>
            </a:r>
          </a:p>
          <a:p xmlns:a="http://schemas.openxmlformats.org/drawingml/2006/main">
            <a:r>
              <a:t>PREGUNTA AL GRUPO</a:t>
            </a:r>
          </a:p>
          <a:p xmlns:a="http://schemas.openxmlformats.org/drawingml/2006/main">
            <a:r>
              <a:t>Si el cliente dijo que pagó con tarjeta, ¿ya hemos verificado su método de pago?</a:t>
            </a:r>
          </a:p>
          <a:p xmlns:a="http://schemas.openxmlformats.org/drawingml/2006/main">
            <a:r>
              <a:t/>
            </a:r>
          </a:p>
          <a:p xmlns:a="http://schemas.openxmlformats.org/drawingml/2006/main">
            <a:r>
              <a:t>RESPUESTA ESPERADA</a:t>
            </a:r>
          </a:p>
          <a:p xmlns:a="http://schemas.openxmlformats.org/drawingml/2006/main">
            <a:r>
              <a:t>Es contexto aportado por el cliente. El pago necesita una comprobación independiente con la herramienta.</a:t>
            </a:r>
          </a:p>
          <a:p xmlns:a="http://schemas.openxmlformats.org/drawingml/2006/main">
            <a:r>
              <a:t/>
            </a:r>
          </a:p>
          <a:p xmlns:a="http://schemas.openxmlformats.org/drawingml/2006/main">
            <a:r>
              <a:t>TRANSICIÓN</a:t>
            </a:r>
          </a:p>
          <a:p xmlns:a="http://schemas.openxmlformats.org/drawingml/2006/main">
            <a:r>
              <a:t>Veamos cómo se organiza una investigación en varias etapas.</a:t>
            </a:r>
          </a:p>
          <a:p xmlns:a="http://schemas.openxmlformats.org/drawingml/2006/main">
            <a:r>
              <a:t/>
            </a:r>
          </a:p>
          <a:p xmlns:a="http://schemas.openxmlformats.org/drawingml/2006/main">
            <a:r>
              <a:t>FUENTES</a:t>
            </a:r>
          </a:p>
          <a:p xmlns:a="http://schemas.openxmlformats.org/drawingml/2006/main">
            <a:r>
              <a:t>apps/api/src/research-checkpointer.ts</a:t>
            </a:r>
          </a:p>
          <a:p xmlns:a="http://schemas.openxmlformats.org/drawingml/2006/main">
            <a:r>
              <a:t>apps/api/src/research-memory.ts</a:t>
            </a:r>
          </a:p>
          <a:p xmlns:a="http://schemas.openxmlformats.org/drawingml/2006/main">
            <a:r>
              <a:t>docs/s12-research-phase2.md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 Deep Research</a:t>
            </a:r>
          </a:p>
          <a:p xmlns:a="http://schemas.openxmlformats.org/drawingml/2006/main">
            <a:r>
              <a:t>19:01–19:05 (4 min, Europe/Madrid)</a:t>
            </a:r>
          </a:p>
          <a:p xmlns:a="http://schemas.openxmlformats.org/drawingml/2006/main">
            <a:r>
              <a:t/>
            </a:r>
          </a:p>
          <a:p xmlns:a="http://schemas.openxmlformats.org/drawingml/2006/main">
            <a:r>
              <a:t>EXPLICACIÓN</a:t>
            </a:r>
          </a:p>
          <a:p xmlns:a="http://schemas.openxmlformats.org/drawingml/2006/main">
            <a:r>
              <a:t>Define Deep Research por su recorrido: planificar, reunir evidencia, valorar cobertura y terminar con un informe. El nombre también lo usan productos concretos. Aquí nos interesa comprender el comportamiento antes de escoger proveedor. El plan del caso puede separar lo que dice la política de la tienda, los datos del pedido y lo que exige la normativa europea. Una búsqueda puede traer una página relevante y aun así dejar una subpregunta sin cubrir. La decisión de seguir depende de esa laguna y de los límites disponibles. Nuestro grafo permite una ronda inicial y una de seguimiento, no un bucle indefinido.</a:t>
            </a:r>
          </a:p>
          <a:p xmlns:a="http://schemas.openxmlformats.org/drawingml/2006/main">
            <a:r>
              <a:t/>
            </a:r>
          </a:p>
          <a:p xmlns:a="http://schemas.openxmlformats.org/drawingml/2006/main">
            <a:r>
              <a:t>ACCIÓN</a:t>
            </a:r>
          </a:p>
          <a:p xmlns:a="http://schemas.openxmlformats.org/drawingml/2006/main">
            <a:r>
              <a:t>Pide dos subpreguntas concretas para el caso. Rechaza planes vagos como investigar todo sobre devoluciones.</a:t>
            </a:r>
          </a:p>
          <a:p xmlns:a="http://schemas.openxmlformats.org/drawingml/2006/main">
            <a:r>
              <a:t/>
            </a:r>
          </a:p>
          <a:p xmlns:a="http://schemas.openxmlformats.org/drawingml/2006/main">
            <a:r>
              <a:t>PREGUNTA AL GRUPO</a:t>
            </a:r>
          </a:p>
          <a:p xmlns:a="http://schemas.openxmlformats.org/drawingml/2006/main">
            <a:r>
              <a:t>¿Cuándo merece la pena una segunda búsqueda?</a:t>
            </a:r>
          </a:p>
          <a:p xmlns:a="http://schemas.openxmlformats.org/drawingml/2006/main">
            <a:r>
              <a:t/>
            </a:r>
          </a:p>
          <a:p xmlns:a="http://schemas.openxmlformats.org/drawingml/2006/main">
            <a:r>
              <a:t>RESPUESTA ESPERADA</a:t>
            </a:r>
          </a:p>
          <a:p xmlns:a="http://schemas.openxmlformats.org/drawingml/2006/main">
            <a:r>
              <a:t>Cuando sabemos qué falta, existe una consulta concreta para buscarlo y queda tiempo y presupuesto.</a:t>
            </a:r>
          </a:p>
          <a:p xmlns:a="http://schemas.openxmlformats.org/drawingml/2006/main">
            <a:r>
              <a:t/>
            </a:r>
          </a:p>
          <a:p xmlns:a="http://schemas.openxmlformats.org/drawingml/2006/main">
            <a:r>
              <a:t>TRANSICIÓN</a:t>
            </a:r>
          </a:p>
          <a:p xmlns:a="http://schemas.openxmlformats.org/drawingml/2006/main">
            <a:r>
              <a:t>La calidad del informe depende de las fuentes que aceptamos.</a:t>
            </a:r>
          </a:p>
          <a:p xmlns:a="http://schemas.openxmlformats.org/drawingml/2006/main">
            <a:r>
              <a:t/>
            </a:r>
          </a:p>
          <a:p xmlns:a="http://schemas.openxmlformats.org/drawingml/2006/main">
            <a:r>
              <a:t>FUENTES</a:t>
            </a:r>
          </a:p>
          <a:p xmlns:a="http://schemas.openxmlformats.org/drawingml/2006/main">
            <a:r>
              <a:t>apps/api/src/research-graph.ts</a:t>
            </a:r>
          </a:p>
          <a:p xmlns:a="http://schemas.openxmlformats.org/drawingml/2006/main">
            <a:r>
              <a:t>packages/research/src/plan.ts</a:t>
            </a:r>
          </a:p>
          <a:p xmlns:a="http://schemas.openxmlformats.org/drawingml/2006/main">
            <a:r>
              <a:t>packages/research/src/policy.ts</a:t>
            </a:r>
          </a:p>
          <a:p xmlns:a="http://schemas.openxmlformats.org/drawingml/2006/main">
            <a:r>
              <a:t>docs/s12-research-phase1.md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 Búsqueda, lectura y evidencia</a:t>
            </a:r>
          </a:p>
          <a:p xmlns:a="http://schemas.openxmlformats.org/drawingml/2006/main">
            <a:r>
              <a:t>19:05–19:08 (3 min, Europe/Madrid)</a:t>
            </a:r>
          </a:p>
          <a:p xmlns:a="http://schemas.openxmlformats.org/drawingml/2006/main">
            <a:r>
              <a:t/>
            </a:r>
          </a:p>
          <a:p xmlns:a="http://schemas.openxmlformats.org/drawingml/2006/main">
            <a:r>
              <a:t>EXPLICACIÓN</a:t>
            </a:r>
          </a:p>
          <a:p xmlns:a="http://schemas.openxmlformats.org/drawingml/2006/main">
            <a:r>
              <a:t>Separa buscar de leer. Un buscador devuelve candidatos y fragmentos resumidos, pero necesitamos leer el contenido relevante. Para una norma, priorizamos fuentes oficiales y comprobamos su vigencia y su fecha. Un extracto debe estar relacionado con la subpregunta y conservar su procedencia. La foto de nuestro caso puede demostrar qué texto recibió el agente, pero no el estado real del pedido. Tampoco aceptamos instrucciones encontradas en una página como si fueran órdenes del usuario. Las políticas de la tienda, la herramienta de pedidos y la web tienen ámbitos de autoridad diferentes.</a:t>
            </a:r>
          </a:p>
          <a:p xmlns:a="http://schemas.openxmlformats.org/drawingml/2006/main">
            <a:r>
              <a:t/>
            </a:r>
          </a:p>
          <a:p xmlns:a="http://schemas.openxmlformats.org/drawingml/2006/main">
            <a:r>
              <a:t>ACCIÓN</a:t>
            </a:r>
          </a:p>
          <a:p xmlns:a="http://schemas.openxmlformats.org/drawingml/2006/main">
            <a:r>
              <a:t>Da el ejemplo de una página que documenta una regla general y pregunta qué parte del caso del cliente sigue sin probar.</a:t>
            </a:r>
          </a:p>
          <a:p xmlns:a="http://schemas.openxmlformats.org/drawingml/2006/main">
            <a:r>
              <a:t/>
            </a:r>
          </a:p>
          <a:p xmlns:a="http://schemas.openxmlformats.org/drawingml/2006/main">
            <a:r>
              <a:t>PREGUNTA AL GRUPO</a:t>
            </a:r>
          </a:p>
          <a:p xmlns:a="http://schemas.openxmlformats.org/drawingml/2006/main">
            <a:r>
              <a:t>¿Una cita real puede acompañar una conclusión que la fuente no permite?</a:t>
            </a:r>
          </a:p>
          <a:p xmlns:a="http://schemas.openxmlformats.org/drawingml/2006/main">
            <a:r>
              <a:t/>
            </a:r>
          </a:p>
          <a:p xmlns:a="http://schemas.openxmlformats.org/drawingml/2006/main">
            <a:r>
              <a:t>RESPUESTA ESPERADA</a:t>
            </a:r>
          </a:p>
          <a:p xmlns:a="http://schemas.openxmlformats.org/drawingml/2006/main">
            <a:r>
              <a:t>Sí. Hay que revisar la relación entre la afirmación y el extracto, no solo que exista el enlace.</a:t>
            </a:r>
          </a:p>
          <a:p xmlns:a="http://schemas.openxmlformats.org/drawingml/2006/main">
            <a:r>
              <a:t/>
            </a:r>
          </a:p>
          <a:p xmlns:a="http://schemas.openxmlformats.org/drawingml/2006/main">
            <a:r>
              <a:t>TRANSICIÓN</a:t>
            </a:r>
          </a:p>
          <a:p xmlns:a="http://schemas.openxmlformats.org/drawingml/2006/main">
            <a:r>
              <a:t>Esa relación es el centro de la verificación del informe.</a:t>
            </a:r>
          </a:p>
          <a:p xmlns:a="http://schemas.openxmlformats.org/drawingml/2006/main">
            <a:r>
              <a:t/>
            </a:r>
          </a:p>
          <a:p xmlns:a="http://schemas.openxmlformats.org/drawingml/2006/main">
            <a:r>
              <a:t>FUENTES</a:t>
            </a:r>
          </a:p>
          <a:p xmlns:a="http://schemas.openxmlformats.org/drawingml/2006/main">
            <a:r>
              <a:t>apps/api/src/research-gather.ts</a:t>
            </a:r>
          </a:p>
          <a:p xmlns:a="http://schemas.openxmlformats.org/drawingml/2006/main">
            <a:r>
              <a:t>packages/research/src/evidence.ts</a:t>
            </a:r>
          </a:p>
          <a:p xmlns:a="http://schemas.openxmlformats.org/drawingml/2006/main">
            <a:r>
              <a:t>packages/research/src/url-policy.ts</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 · Verificación e informes parciales</a:t>
            </a:r>
          </a:p>
          <a:p xmlns:a="http://schemas.openxmlformats.org/drawingml/2006/main">
            <a:r>
              <a:t>19:08–19:12 (4 min, Europe/Madrid)</a:t>
            </a:r>
          </a:p>
          <a:p xmlns:a="http://schemas.openxmlformats.org/drawingml/2006/main">
            <a:r>
              <a:t/>
            </a:r>
          </a:p>
          <a:p xmlns:a="http://schemas.openxmlformats.org/drawingml/2006/main">
            <a:r>
              <a:t>EXPLICACIÓN</a:t>
            </a:r>
          </a:p>
          <a:p xmlns:a="http://schemas.openxmlformats.org/drawingml/2006/main">
            <a:r>
              <a:t>El programa puede haber completado todas sus llamadas y producir un informe parcial porque ninguna fuente cubre una parte de la pregunta, por ejemplo la garantía de un producto defectuoso. Eso es una salida útil si explica la laguna. Nuestro verificador utiliza extractos admitidos y comprueba tramos de texto, cifras y negaciones. Es una elección conservadora que reduce ciertas invenciones, pero limita la síntesis libre y no certifica la verdad universal. Una fuente puede estar desactualizada o ser inadecuada. Mantén separadas la salud de la ejecución, la cobertura de la respuesta y la evaluación humana de su utilidad.</a:t>
            </a:r>
          </a:p>
          <a:p xmlns:a="http://schemas.openxmlformats.org/drawingml/2006/main">
            <a:r>
              <a:t/>
            </a:r>
          </a:p>
          <a:p xmlns:a="http://schemas.openxmlformats.org/drawingml/2006/main">
            <a:r>
              <a:t>ACCIÓN</a:t>
            </a:r>
          </a:p>
          <a:p xmlns:a="http://schemas.openxmlformats.org/drawingml/2006/main">
            <a:r>
              <a:t>Plantea dos salidas: una respuesta tajante de que nada abierto se puede devolver y un informe parcial que separa desistimiento y garantía. Compara la evidencia necesaria para cada una.</a:t>
            </a:r>
          </a:p>
          <a:p xmlns:a="http://schemas.openxmlformats.org/drawingml/2006/main">
            <a:r>
              <a:t/>
            </a:r>
          </a:p>
          <a:p xmlns:a="http://schemas.openxmlformats.org/drawingml/2006/main">
            <a:r>
              <a:t>PREGUNTA AL GRUPO</a:t>
            </a:r>
          </a:p>
          <a:p xmlns:a="http://schemas.openxmlformats.org/drawingml/2006/main">
            <a:r>
              <a:t>¿Es un fallo que el sistema diga que todavía no puede confirmar el reembolso?</a:t>
            </a:r>
          </a:p>
          <a:p xmlns:a="http://schemas.openxmlformats.org/drawingml/2006/main">
            <a:r>
              <a:t/>
            </a:r>
          </a:p>
          <a:p xmlns:a="http://schemas.openxmlformats.org/drawingml/2006/main">
            <a:r>
              <a:t>RESPUESTA ESPERADA</a:t>
            </a:r>
          </a:p>
          <a:p xmlns:a="http://schemas.openxmlformats.org/drawingml/2006/main">
            <a:r>
              <a:t>Puede ser el resultado correcto si faltan datos del caso. Un informe parcial debe indicar qué falta y cómo comprobarlo.</a:t>
            </a:r>
          </a:p>
          <a:p xmlns:a="http://schemas.openxmlformats.org/drawingml/2006/main">
            <a:r>
              <a:t/>
            </a:r>
          </a:p>
          <a:p xmlns:a="http://schemas.openxmlformats.org/drawingml/2006/main">
            <a:r>
              <a:t>TRANSICIÓN</a:t>
            </a:r>
          </a:p>
          <a:p xmlns:a="http://schemas.openxmlformats.org/drawingml/2006/main">
            <a:r>
              <a:t>La investigación puede durar más que una petición normal.</a:t>
            </a:r>
          </a:p>
          <a:p xmlns:a="http://schemas.openxmlformats.org/drawingml/2006/main">
            <a:r>
              <a:t/>
            </a:r>
          </a:p>
          <a:p xmlns:a="http://schemas.openxmlformats.org/drawingml/2006/main">
            <a:r>
              <a:t>FUENTES</a:t>
            </a:r>
          </a:p>
          <a:p xmlns:a="http://schemas.openxmlformats.org/drawingml/2006/main">
            <a:r>
              <a:t>packages/research/src/report.ts</a:t>
            </a:r>
          </a:p>
          <a:p xmlns:a="http://schemas.openxmlformats.org/drawingml/2006/main">
            <a:r>
              <a:t>packages/research/src/evidence.ts</a:t>
            </a:r>
          </a:p>
          <a:p xmlns:a="http://schemas.openxmlformats.org/drawingml/2006/main">
            <a:r>
              <a:t>docs/s12-cloud-deployment.md#ensayo-real-de-extremo-a-extremo</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 Ejecución asíncrona</a:t>
            </a:r>
          </a:p>
          <a:p xmlns:a="http://schemas.openxmlformats.org/drawingml/2006/main">
            <a:r>
              <a:t>19:12–19:15 (3 min, Europe/Madrid)</a:t>
            </a:r>
          </a:p>
          <a:p xmlns:a="http://schemas.openxmlformats.org/drawingml/2006/main">
            <a:r>
              <a:t/>
            </a:r>
          </a:p>
          <a:p xmlns:a="http://schemas.openxmlformats.org/drawingml/2006/main">
            <a:r>
              <a:t>EXPLICACIÓN</a:t>
            </a:r>
          </a:p>
          <a:p xmlns:a="http://schemas.openxmlformats.org/drawingml/2006/main">
            <a:r>
              <a:t>Una operación asíncrona separa iniciar el trabajo de recibir el informe final. El cliente obtiene un ID, lo guarda y consulta ese mismo trabajo. Si se recarga la página, debe recuperar su estado. Volver a pulsar enviar sin identificar la operación puede duplicar trabajo y gasto. La app utiliza un ID de trabajo y una clave de idempotencia. Esta última permite reconocer un envío repetido de la misma petición. La persistencia y los permisos hacen posible recuperar el informe desde otra petición autorizada.</a:t>
            </a:r>
          </a:p>
          <a:p xmlns:a="http://schemas.openxmlformats.org/drawingml/2006/main">
            <a:r>
              <a:t/>
            </a:r>
          </a:p>
          <a:p xmlns:a="http://schemas.openxmlformats.org/drawingml/2006/main">
            <a:r>
              <a:t>ACCIÓN</a:t>
            </a:r>
          </a:p>
          <a:p xmlns:a="http://schemas.openxmlformats.org/drawingml/2006/main">
            <a:r>
              <a:t>Escribe en voz alta la secuencia crear una vez, guardar ID, consultar y recuperar. Evita un ejemplo con un bucle infinito de espera.</a:t>
            </a:r>
          </a:p>
          <a:p xmlns:a="http://schemas.openxmlformats.org/drawingml/2006/main">
            <a:r>
              <a:t/>
            </a:r>
          </a:p>
          <a:p xmlns:a="http://schemas.openxmlformats.org/drawingml/2006/main">
            <a:r>
              <a:t>PREGUNTA AL GRUPO</a:t>
            </a:r>
          </a:p>
          <a:p xmlns:a="http://schemas.openxmlformats.org/drawingml/2006/main">
            <a:r>
              <a:t>Si perdemos la conexión, ¿debemos crear automáticamente otro trabajo?</a:t>
            </a:r>
          </a:p>
          <a:p xmlns:a="http://schemas.openxmlformats.org/drawingml/2006/main">
            <a:r>
              <a:t/>
            </a:r>
          </a:p>
          <a:p xmlns:a="http://schemas.openxmlformats.org/drawingml/2006/main">
            <a:r>
              <a:t>RESPUESTA ESPERADA</a:t>
            </a:r>
          </a:p>
          <a:p xmlns:a="http://schemas.openxmlformats.org/drawingml/2006/main">
            <a:r>
              <a:t>Primero hay que recuperar el ID y el estado del trabajo que pudo haberse creado.</a:t>
            </a:r>
          </a:p>
          <a:p xmlns:a="http://schemas.openxmlformats.org/drawingml/2006/main">
            <a:r>
              <a:t/>
            </a:r>
          </a:p>
          <a:p xmlns:a="http://schemas.openxmlformats.org/drawingml/2006/main">
            <a:r>
              <a:t>TRANSICIÓN</a:t>
            </a:r>
          </a:p>
          <a:p xmlns:a="http://schemas.openxmlformats.org/drawingml/2006/main">
            <a:r>
              <a:t>El enunciado propone una API concreta con este mismo ciclo.</a:t>
            </a:r>
          </a:p>
          <a:p xmlns:a="http://schemas.openxmlformats.org/drawingml/2006/main">
            <a:r>
              <a:t/>
            </a:r>
          </a:p>
          <a:p xmlns:a="http://schemas.openxmlformats.org/drawingml/2006/main">
            <a:r>
              <a:t>FUENTES</a:t>
            </a:r>
          </a:p>
          <a:p xmlns:a="http://schemas.openxmlformats.org/drawingml/2006/main">
            <a:r>
              <a:t>apps/api/src/research-routes.ts</a:t>
            </a:r>
          </a:p>
          <a:p xmlns:a="http://schemas.openxmlformats.org/drawingml/2006/main">
            <a:r>
              <a:t>apps/api/src/research-dispatch.ts</a:t>
            </a:r>
          </a:p>
          <a:p xmlns:a="http://schemas.openxmlformats.org/drawingml/2006/main">
            <a:r>
              <a:t>docs/s12-research-phase2.md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 · Gemini Deep Research e Interactions API</a:t>
            </a:r>
          </a:p>
          <a:p xmlns:a="http://schemas.openxmlformats.org/drawingml/2006/main">
            <a:r>
              <a:t>19:15–19:18 (3 min, Europe/Madrid)</a:t>
            </a:r>
          </a:p>
          <a:p xmlns:a="http://schemas.openxmlformats.org/drawingml/2006/main">
            <a:r>
              <a:t/>
            </a:r>
          </a:p>
          <a:p xmlns:a="http://schemas.openxmlformats.org/drawingml/2006/main">
            <a:r>
              <a:t>EXPLICACIÓN</a:t>
            </a:r>
          </a:p>
          <a:p xmlns:a="http://schemas.openxmlformats.org/drawingml/2006/main">
            <a:r>
              <a:t>Contrasta la API gestionada de Gemini con la implementación didáctica. El SDK documenta crear la interacción con agent y background=True, conservar el id y consultar con interactions.get(id=...). El estado completed permite leer el resultado. failed y cancelled son finales de error o cancelación. En clase imponemos además un máximo de consultas y un plazo local, en lugar de copiar un while True sin límite. Si agotamos la espera local, no afirmamos que el proveedor haya cancelado. La API documenta cancelación explícita, pero hay que comprobar el estado final y no inferir la ausencia de coste. No se ha ejecutado una interacción Gemini nueva para preparar estos materiales.</a:t>
            </a:r>
          </a:p>
          <a:p xmlns:a="http://schemas.openxmlformats.org/drawingml/2006/main">
            <a:r>
              <a:t/>
            </a:r>
          </a:p>
          <a:p xmlns:a="http://schemas.openxmlformats.org/drawingml/2006/main">
            <a:r>
              <a:t>ACCIÓN</a:t>
            </a:r>
          </a:p>
          <a:p xmlns:a="http://schemas.openxmlformats.org/drawingml/2006/main">
            <a:r>
              <a:t>Señala el agente de referencia del enunciado, deep-research-preview-04-2026, en las notas de consulta. Confirma disponibilidad en la cuenta antes del ejercicio. La app utiliza LangGraph y no llama a esa API.</a:t>
            </a:r>
          </a:p>
          <a:p xmlns:a="http://schemas.openxmlformats.org/drawingml/2006/main">
            <a:r>
              <a:t/>
            </a:r>
          </a:p>
          <a:p xmlns:a="http://schemas.openxmlformats.org/drawingml/2006/main">
            <a:r>
              <a:t>PREGUNTA AL GRUPO</a:t>
            </a:r>
          </a:p>
          <a:p xmlns:a="http://schemas.openxmlformats.org/drawingml/2006/main">
            <a:r>
              <a:t>¿El jobId de nuestra app se puede pasar como interaction_id a Gemini?</a:t>
            </a:r>
          </a:p>
          <a:p xmlns:a="http://schemas.openxmlformats.org/drawingml/2006/main">
            <a:r>
              <a:t/>
            </a:r>
          </a:p>
          <a:p xmlns:a="http://schemas.openxmlformats.org/drawingml/2006/main">
            <a:r>
              <a:t>RESPUESTA ESPERADA</a:t>
            </a:r>
          </a:p>
          <a:p xmlns:a="http://schemas.openxmlformats.org/drawingml/2006/main">
            <a:r>
              <a:t>Son identificadores de sistemas distintos. Cada implementación guarda y consulta el suyo.</a:t>
            </a:r>
          </a:p>
          <a:p xmlns:a="http://schemas.openxmlformats.org/drawingml/2006/main">
            <a:r>
              <a:t/>
            </a:r>
          </a:p>
          <a:p xmlns:a="http://schemas.openxmlformats.org/drawingml/2006/main">
            <a:r>
              <a:t>TRANSICIÓN</a:t>
            </a:r>
          </a:p>
          <a:p xmlns:a="http://schemas.openxmlformats.org/drawingml/2006/main">
            <a:r>
              <a:t>Tanto el agente gestionado como el grafo propio necesitan límites.</a:t>
            </a:r>
          </a:p>
          <a:p xmlns:a="http://schemas.openxmlformats.org/drawingml/2006/main">
            <a:r>
              <a:t/>
            </a:r>
          </a:p>
          <a:p xmlns:a="http://schemas.openxmlformats.org/drawingml/2006/main">
            <a:r>
              <a:t>FUENTES</a:t>
            </a:r>
          </a:p>
          <a:p xmlns:a="http://schemas.openxmlformats.org/drawingml/2006/main">
            <a:r>
              <a:t>../GUIA-DE-CLASES-2026.md#ai-s12</a:t>
            </a:r>
          </a:p>
          <a:p xmlns:a="http://schemas.openxmlformats.org/drawingml/2006/main">
            <a:r>
              <a:t>https://github.com/googleapis/python-genai/blob/main/README.md</a:t>
            </a:r>
          </a:p>
          <a:p xmlns:a="http://schemas.openxmlformats.org/drawingml/2006/main">
            <a:r>
              <a:t>https://github.com/googleapis/python-genai/blob/main/google/genai/_gaos/interactions.py</a:t>
            </a:r>
          </a:p>
          <a:p xmlns:a="http://schemas.openxmlformats.org/drawingml/2006/main">
            <a:r>
              <a:t>apps/api/src/research-graph.ts</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 Límites de tiempo y coste</a:t>
            </a:r>
          </a:p>
          <a:p xmlns:a="http://schemas.openxmlformats.org/drawingml/2006/main">
            <a:r>
              <a:t>19:18–19:21 (3 min, Europe/Madrid)</a:t>
            </a:r>
          </a:p>
          <a:p xmlns:a="http://schemas.openxmlformats.org/drawingml/2006/main">
            <a:r>
              <a:t/>
            </a:r>
          </a:p>
          <a:p xmlns:a="http://schemas.openxmlformats.org/drawingml/2006/main">
            <a:r>
              <a:t>EXPLICACIÓN</a:t>
            </a:r>
          </a:p>
          <a:p xmlns:a="http://schemas.openxmlformats.org/drawingml/2006/main">
            <a:r>
              <a:t>Explica por qué una investigación autónoma necesita condiciones de parada. Los valores de la diapositiva proceden del contrato actual de la app, no son un estándar de Deep Research ni el límite universal de Gemini. Visión, transcripción y voz tienen su propia contabilidad y comparten el plazo global. Reservar un máximo antes de enviar permite rechazar una nueva llamada cuando no hay presupuesto. Tokens medidos, un precio estimado y un importe facturado son datos diferentes. Una petición enviada cuyo resultado se desconoce no debe repetirse a ciegas. En el aula principal usaremos el modo local sin gasto y evidencia real anterior.</a:t>
            </a:r>
          </a:p>
          <a:p xmlns:a="http://schemas.openxmlformats.org/drawingml/2006/main">
            <a:r>
              <a:t/>
            </a:r>
          </a:p>
          <a:p xmlns:a="http://schemas.openxmlformats.org/drawingml/2006/main">
            <a:r>
              <a:t>ACCIÓN</a:t>
            </a:r>
          </a:p>
          <a:p xmlns:a="http://schemas.openxmlformats.org/drawingml/2006/main">
            <a:r>
              <a:t>Pregunta qué límite debería detener una ronda con tiempo disponible pero sin presupuesto. No muestres claves ni pantallas de facturación durante el directo.</a:t>
            </a:r>
          </a:p>
          <a:p xmlns:a="http://schemas.openxmlformats.org/drawingml/2006/main">
            <a:r>
              <a:t/>
            </a:r>
          </a:p>
          <a:p xmlns:a="http://schemas.openxmlformats.org/drawingml/2006/main">
            <a:r>
              <a:t>PREGUNTA AL GRUPO</a:t>
            </a:r>
          </a:p>
          <a:p xmlns:a="http://schemas.openxmlformats.org/drawingml/2006/main">
            <a:r>
              <a:t>Si se agota el tiempo local después de enviar una llamada, ¿podemos escribir coste cero?</a:t>
            </a:r>
          </a:p>
          <a:p xmlns:a="http://schemas.openxmlformats.org/drawingml/2006/main">
            <a:r>
              <a:t/>
            </a:r>
          </a:p>
          <a:p xmlns:a="http://schemas.openxmlformats.org/drawingml/2006/main">
            <a:r>
              <a:t>RESPUESTA ESPERADA</a:t>
            </a:r>
          </a:p>
          <a:p xmlns:a="http://schemas.openxmlformats.org/drawingml/2006/main">
            <a:r>
              <a:t>El proveedor pudo procesarla. El consumo debe quedar como desconocido hasta poder conciliarlo.</a:t>
            </a:r>
          </a:p>
          <a:p xmlns:a="http://schemas.openxmlformats.org/drawingml/2006/main">
            <a:r>
              <a:t/>
            </a:r>
          </a:p>
          <a:p xmlns:a="http://schemas.openxmlformats.org/drawingml/2006/main">
            <a:r>
              <a:t>TRANSICIÓN</a:t>
            </a:r>
          </a:p>
          <a:p xmlns:a="http://schemas.openxmlformats.org/drawingml/2006/main">
            <a:r>
              <a:t>La voz también es una operación con entrada, límites y resultado propio.</a:t>
            </a:r>
          </a:p>
          <a:p xmlns:a="http://schemas.openxmlformats.org/drawingml/2006/main">
            <a:r>
              <a:t/>
            </a:r>
          </a:p>
          <a:p xmlns:a="http://schemas.openxmlformats.org/drawingml/2006/main">
            <a:r>
              <a:t>FUENTES</a:t>
            </a:r>
          </a:p>
          <a:p xmlns:a="http://schemas.openxmlformats.org/drawingml/2006/main">
            <a:r>
              <a:t>packages/contracts/src/research.ts#RESEARCH_LIMITS</a:t>
            </a:r>
          </a:p>
          <a:p xmlns:a="http://schemas.openxmlformats.org/drawingml/2006/main">
            <a:r>
              <a:t>packages/contracts/src/media.ts</a:t>
            </a:r>
          </a:p>
          <a:p xmlns:a="http://schemas.openxmlformats.org/drawingml/2006/main">
            <a:r>
              <a:t>apps/api/src/research-money.ts</a:t>
            </a:r>
          </a:p>
          <a:p xmlns:a="http://schemas.openxmlformats.org/drawingml/2006/main">
            <a:r>
              <a:t>docs/s12-cloud-deployment.md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 Texto a voz</a:t>
            </a:r>
          </a:p>
          <a:p xmlns:a="http://schemas.openxmlformats.org/drawingml/2006/main">
            <a:r>
              <a:t>19:21–19:24 (3 min, Europe/Madrid)</a:t>
            </a:r>
          </a:p>
          <a:p xmlns:a="http://schemas.openxmlformats.org/drawingml/2006/main">
            <a:r>
              <a:t/>
            </a:r>
          </a:p>
          <a:p xmlns:a="http://schemas.openxmlformats.org/drawingml/2006/main">
            <a:r>
              <a:t>EXPLICACIÓN</a:t>
            </a:r>
          </a:p>
          <a:p xmlns:a="http://schemas.openxmlformats.org/drawingml/2006/main">
            <a:r>
              <a:t>Define text to speech como síntesis de voz a partir de texto. En la app no pedimos al TTS que invente un resumen. Primero seleccionamos frases que han pasado la verificación y después generamos el audio. Esto facilita comparar lo escrito con lo hablado. Si el informe es parcial, la locución puede indicarlo. La generación y la reproducción son pasos distintos: un MP3 correcto no prueba que el alumno haya compartido el sonido de su ordenador. En el modo offline, la salida de prueba es un tono rotulado y no voz neural. El MP3 guardado del ensayo real sí permite escuchar una síntesis anterior.</a:t>
            </a:r>
          </a:p>
          <a:p xmlns:a="http://schemas.openxmlformats.org/drawingml/2006/main">
            <a:r>
              <a:t/>
            </a:r>
          </a:p>
          <a:p xmlns:a="http://schemas.openxmlformats.org/drawingml/2006/main">
            <a:r>
              <a:t>ACCIÓN</a:t>
            </a:r>
          </a:p>
          <a:p xmlns:a="http://schemas.openxmlformats.org/drawingml/2006/main">
            <a:r>
              <a:t>Recuerda ensayar la opción de compartir audio en la reunión. Si no funciona, muestra el texto de la locución y el archivo guardado.</a:t>
            </a:r>
          </a:p>
          <a:p xmlns:a="http://schemas.openxmlformats.org/drawingml/2006/main">
            <a:r>
              <a:t/>
            </a:r>
          </a:p>
          <a:p xmlns:a="http://schemas.openxmlformats.org/drawingml/2006/main">
            <a:r>
              <a:t>PREGUNTA AL GRUPO</a:t>
            </a:r>
          </a:p>
          <a:p xmlns:a="http://schemas.openxmlformats.org/drawingml/2006/main">
            <a:r>
              <a:t>¿Por qué conservar el texto exacto que se convierte en voz?</a:t>
            </a:r>
          </a:p>
          <a:p xmlns:a="http://schemas.openxmlformats.org/drawingml/2006/main">
            <a:r>
              <a:t/>
            </a:r>
          </a:p>
          <a:p xmlns:a="http://schemas.openxmlformats.org/drawingml/2006/main">
            <a:r>
              <a:t>RESPUESTA ESPERADA</a:t>
            </a:r>
          </a:p>
          <a:p xmlns:a="http://schemas.openxmlformats.org/drawingml/2006/main">
            <a:r>
              <a:t>Permite detectar una diferencia entre el informe, el guion hablado y el audio que finalmente se reproduce.</a:t>
            </a:r>
          </a:p>
          <a:p xmlns:a="http://schemas.openxmlformats.org/drawingml/2006/main">
            <a:r>
              <a:t/>
            </a:r>
          </a:p>
          <a:p xmlns:a="http://schemas.openxmlformats.org/drawingml/2006/main">
            <a:r>
              <a:t>TRANSICIÓN</a:t>
            </a:r>
          </a:p>
          <a:p xmlns:a="http://schemas.openxmlformats.org/drawingml/2006/main">
            <a:r>
              <a:t>Reunimos ahora los fallos que conviene diseñar de antemano.</a:t>
            </a:r>
          </a:p>
          <a:p xmlns:a="http://schemas.openxmlformats.org/drawingml/2006/main">
            <a:r>
              <a:t/>
            </a:r>
          </a:p>
          <a:p xmlns:a="http://schemas.openxmlformats.org/drawingml/2006/main">
            <a:r>
              <a:t>FUENTES</a:t>
            </a:r>
          </a:p>
          <a:p xmlns:a="http://schemas.openxmlformats.org/drawingml/2006/main">
            <a:r>
              <a:t>packages/research/src/speech-script.ts</a:t>
            </a:r>
          </a:p>
          <a:p xmlns:a="http://schemas.openxmlformats.org/drawingml/2006/main">
            <a:r>
              <a:t>apps/api/src/research-perception-real.ts</a:t>
            </a:r>
          </a:p>
          <a:p xmlns:a="http://schemas.openxmlformats.org/drawingml/2006/main">
            <a:r>
              <a:t>docs/s12-research-phase3.md#voz</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 · Errores y respuestas útiles</a:t>
            </a:r>
          </a:p>
          <a:p xmlns:a="http://schemas.openxmlformats.org/drawingml/2006/main">
            <a:r>
              <a:t>19:24–19:27 (3 min, Europe/Madrid)</a:t>
            </a:r>
          </a:p>
          <a:p xmlns:a="http://schemas.openxmlformats.org/drawingml/2006/main">
            <a:r>
              <a:t/>
            </a:r>
          </a:p>
          <a:p xmlns:a="http://schemas.openxmlformats.org/drawingml/2006/main">
            <a:r>
              <a:t>EXPLICACIÓN</a:t>
            </a:r>
          </a:p>
          <a:p xmlns:a="http://schemas.openxmlformats.org/drawingml/2006/main">
            <a:r>
              <a:t>Pide al grupo una salida esperada para cada situación antes de leer la segunda columna. Una buena gestión de errores conserva lo que sí está disponible y explica qué operación falta. Una configuración real incompleta no se convierte silenciosamente en demo. Un modelo que falla no se sustituye por otro sin indicarlo. Si faltan fuentes, redactamos solo lo que puede sostenerse o rechazamos. El informe parcial y el fallo técnico requieren mensajes diferentes. En una espera agotada conservamos el identificador, porque el trabajo remoto podría seguir activo.</a:t>
            </a:r>
          </a:p>
          <a:p xmlns:a="http://schemas.openxmlformats.org/drawingml/2006/main">
            <a:r>
              <a:t/>
            </a:r>
          </a:p>
          <a:p xmlns:a="http://schemas.openxmlformats.org/drawingml/2006/main">
            <a:r>
              <a:t>ACCIÓN</a:t>
            </a:r>
          </a:p>
          <a:p xmlns:a="http://schemas.openxmlformats.org/drawingml/2006/main">
            <a:r>
              <a:t>Asigna a dos alumnos situaciones distintas y pide una frase de interfaz que explique el estado sin prometer un éxito.</a:t>
            </a:r>
          </a:p>
          <a:p xmlns:a="http://schemas.openxmlformats.org/drawingml/2006/main">
            <a:r>
              <a:t/>
            </a:r>
          </a:p>
          <a:p xmlns:a="http://schemas.openxmlformats.org/drawingml/2006/main">
            <a:r>
              <a:t>PREGUNTA AL GRUPO</a:t>
            </a:r>
          </a:p>
          <a:p xmlns:a="http://schemas.openxmlformats.org/drawingml/2006/main">
            <a:r>
              <a:t>¿Qué sería engañoso si falla el proveedor de visión?</a:t>
            </a:r>
          </a:p>
          <a:p xmlns:a="http://schemas.openxmlformats.org/drawingml/2006/main">
            <a:r>
              <a:t/>
            </a:r>
          </a:p>
          <a:p xmlns:a="http://schemas.openxmlformats.org/drawingml/2006/main">
            <a:r>
              <a:t>RESPUESTA ESPERADA</a:t>
            </a:r>
          </a:p>
          <a:p xmlns:a="http://schemas.openxmlformats.org/drawingml/2006/main">
            <a:r>
              <a:t>Mostrar una lectura del guion offline como si la hubiera producido el proveedor real.</a:t>
            </a:r>
          </a:p>
          <a:p xmlns:a="http://schemas.openxmlformats.org/drawingml/2006/main">
            <a:r>
              <a:t/>
            </a:r>
          </a:p>
          <a:p xmlns:a="http://schemas.openxmlformats.org/drawingml/2006/main">
            <a:r>
              <a:t>TRANSICIÓN</a:t>
            </a:r>
          </a:p>
          <a:p xmlns:a="http://schemas.openxmlformats.org/drawingml/2006/main">
            <a:r>
              <a:t>Con estas piezas podemos diseñar un grafo pequeño y comprobable.</a:t>
            </a:r>
          </a:p>
          <a:p xmlns:a="http://schemas.openxmlformats.org/drawingml/2006/main">
            <a:r>
              <a:t/>
            </a:r>
          </a:p>
          <a:p xmlns:a="http://schemas.openxmlformats.org/drawingml/2006/main">
            <a:r>
              <a:t>FUENTES</a:t>
            </a:r>
          </a:p>
          <a:p xmlns:a="http://schemas.openxmlformats.org/drawingml/2006/main">
            <a:r>
              <a:t>apps/api/src/research-multimodal.ts</a:t>
            </a:r>
          </a:p>
          <a:p xmlns:a="http://schemas.openxmlformats.org/drawingml/2006/main">
            <a:r>
              <a:t>apps/api/src/research-result.ts</a:t>
            </a:r>
          </a:p>
          <a:p xmlns:a="http://schemas.openxmlformats.org/drawingml/2006/main">
            <a:r>
              <a:t>docs/s12-research-phase2.md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 El grafo del ejercicio</a:t>
            </a:r>
          </a:p>
          <a:p xmlns:a="http://schemas.openxmlformats.org/drawingml/2006/main">
            <a:r>
              <a:t>19:27–19:30 (3 min, Europe/Madrid)</a:t>
            </a:r>
          </a:p>
          <a:p xmlns:a="http://schemas.openxmlformats.org/drawingml/2006/main">
            <a:r>
              <a:t/>
            </a:r>
          </a:p>
          <a:p xmlns:a="http://schemas.openxmlformats.org/drawingml/2006/main">
            <a:r>
              <a:t>EXPLICACIÓN</a:t>
            </a:r>
          </a:p>
          <a:p xmlns:a="http://schemas.openxmlformats.org/drawingml/2006/main">
            <a:r>
              <a:t>Recorre el diseño como una lista de contratos. Un nodo recibe datos y devuelve campos concretos del estado. Las aristas condicionales deciden si pedir aclaración, responder, llamar a una herramienta o investigar. El estado debe permitir observar el resultado de la percepción y las fuentes aceptadas. Para el ejercicio basta una interfaz pequeña. La investigación gestionada puede aparecer como una herramienta que devuelve un ID y después un resultado. La aplicación que veremos usa un grafo de investigación propio para enseñar sus pasos internos. Ambos caminos deben declarar claramente qué implementan.</a:t>
            </a:r>
          </a:p>
          <a:p xmlns:a="http://schemas.openxmlformats.org/drawingml/2006/main">
            <a:r>
              <a:t/>
            </a:r>
          </a:p>
          <a:p xmlns:a="http://schemas.openxmlformats.org/drawingml/2006/main">
            <a:r>
              <a:t>ACCIÓN</a:t>
            </a:r>
          </a:p>
          <a:p xmlns:a="http://schemas.openxmlformats.org/drawingml/2006/main">
            <a:r>
              <a:t>Pide que identifiquen dónde probarían una contradicción entre imagen y audio, y dónde verificarían el aislamiento de dos conversaciones.</a:t>
            </a:r>
          </a:p>
          <a:p xmlns:a="http://schemas.openxmlformats.org/drawingml/2006/main">
            <a:r>
              <a:t/>
            </a:r>
          </a:p>
          <a:p xmlns:a="http://schemas.openxmlformats.org/drawingml/2006/main">
            <a:r>
              <a:t>PREGUNTA AL GRUPO</a:t>
            </a:r>
          </a:p>
          <a:p xmlns:a="http://schemas.openxmlformats.org/drawingml/2006/main">
            <a:r>
              <a:t>¿Dónde pondrías una regla que impida investigar una entrada contradictoria?</a:t>
            </a:r>
          </a:p>
          <a:p xmlns:a="http://schemas.openxmlformats.org/drawingml/2006/main">
            <a:r>
              <a:t/>
            </a:r>
          </a:p>
          <a:p xmlns:a="http://schemas.openxmlformats.org/drawingml/2006/main">
            <a:r>
              <a:t>RESPUESTA ESPERADA</a:t>
            </a:r>
          </a:p>
          <a:p xmlns:a="http://schemas.openxmlformats.org/drawingml/2006/main">
            <a:r>
              <a:t>En la validación o fusión, antes de crear el plan o enviar una llamada de investigación.</a:t>
            </a:r>
          </a:p>
          <a:p xmlns:a="http://schemas.openxmlformats.org/drawingml/2006/main">
            <a:r>
              <a:t/>
            </a:r>
          </a:p>
          <a:p xmlns:a="http://schemas.openxmlformats.org/drawingml/2006/main">
            <a:r>
              <a:t>TRANSICIÓN</a:t>
            </a:r>
          </a:p>
          <a:p xmlns:a="http://schemas.openxmlformats.org/drawingml/2006/main">
            <a:r>
              <a:t>Pasamos de los conceptos a las decisiones concretas de nuestra aplicación.</a:t>
            </a:r>
          </a:p>
          <a:p xmlns:a="http://schemas.openxmlformats.org/drawingml/2006/main">
            <a:r>
              <a:t/>
            </a:r>
          </a:p>
          <a:p xmlns:a="http://schemas.openxmlformats.org/drawingml/2006/main">
            <a:r>
              <a:t>FUENTES</a:t>
            </a:r>
          </a:p>
          <a:p xmlns:a="http://schemas.openxmlformats.org/drawingml/2006/main">
            <a:r>
              <a:t>apps/api/src/research-multimodal.ts</a:t>
            </a:r>
          </a:p>
          <a:p xmlns:a="http://schemas.openxmlformats.org/drawingml/2006/main">
            <a:r>
              <a:t>apps/api/src/research-graph.ts</a:t>
            </a:r>
          </a:p>
          <a:p xmlns:a="http://schemas.openxmlformats.org/drawingml/2006/main">
            <a:r>
              <a:t>apps/api/src/research-routes.ts</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 · La aplicación que ya tenemos</a:t>
            </a:r>
          </a:p>
          <a:p xmlns:a="http://schemas.openxmlformats.org/drawingml/2006/main">
            <a:r>
              <a:t>19:30–19:34 (4 min, Europe/Madrid)</a:t>
            </a:r>
          </a:p>
          <a:p xmlns:a="http://schemas.openxmlformats.org/drawingml/2006/main">
            <a:r>
              <a:t/>
            </a:r>
          </a:p>
          <a:p xmlns:a="http://schemas.openxmlformats.org/drawingml/2006/main">
            <a:r>
              <a:t>EXPLICACIÓN</a:t>
            </a:r>
          </a:p>
          <a:p xmlns:a="http://schemas.openxmlformats.org/drawingml/2006/main">
            <a:r>
              <a:t>Presenta las decisiones de la app después de haber explicado las responsabilidades. LangGraph controla la investigación y consulta las políticas de la tienda, la herramienta de pedidos y la web. El ensayo real se hizo con Claude para texto e imagen, Whisper para audio y Aura para voz. La fábrica actual permite configurar el proveedor generativo, pero no prometemos compatibilidad universal con cualquier modelo de visión. La persistencia utiliza servicios de Cloudflare. Estos nombres describen nuestra implementación y no requisitos conceptuales de multimodalidad. La ruta Gemini/Interactions del enunciado no queda implementada por el hecho de que esta app tenga un grafo equivalente.</a:t>
            </a:r>
          </a:p>
          <a:p xmlns:a="http://schemas.openxmlformats.org/drawingml/2006/main">
            <a:r>
              <a:t/>
            </a:r>
          </a:p>
          <a:p xmlns:a="http://schemas.openxmlformats.org/drawingml/2006/main">
            <a:r>
              <a:t>ACCIÓN</a:t>
            </a:r>
          </a:p>
          <a:p xmlns:a="http://schemas.openxmlformats.org/drawingml/2006/main">
            <a:r>
              <a:t>Abre la app local en 127.0.0.1:5191 y la etapa Investigación. Mantén los secretos y las configuraciones operativas fuera de la pantalla compartida.</a:t>
            </a:r>
          </a:p>
          <a:p xmlns:a="http://schemas.openxmlformats.org/drawingml/2006/main">
            <a:r>
              <a:t/>
            </a:r>
          </a:p>
          <a:p xmlns:a="http://schemas.openxmlformats.org/drawingml/2006/main">
            <a:r>
              <a:t>PREGUNTA AL GRUPO</a:t>
            </a:r>
          </a:p>
          <a:p xmlns:a="http://schemas.openxmlformats.org/drawingml/2006/main">
            <a:r>
              <a:t>Si cambiamos el proveedor, ¿desaparecen las necesidades de validar archivos y aislar conversaciones?</a:t>
            </a:r>
          </a:p>
          <a:p xmlns:a="http://schemas.openxmlformats.org/drawingml/2006/main">
            <a:r>
              <a:t/>
            </a:r>
          </a:p>
          <a:p xmlns:a="http://schemas.openxmlformats.org/drawingml/2006/main">
            <a:r>
              <a:t>RESPUESTA ESPERADA</a:t>
            </a:r>
          </a:p>
          <a:p xmlns:a="http://schemas.openxmlformats.org/drawingml/2006/main">
            <a:r>
              <a:t>Esas responsabilidades siguen perteneciendo al sistema.</a:t>
            </a:r>
          </a:p>
          <a:p xmlns:a="http://schemas.openxmlformats.org/drawingml/2006/main">
            <a:r>
              <a:t/>
            </a:r>
          </a:p>
          <a:p xmlns:a="http://schemas.openxmlformats.org/drawingml/2006/main">
            <a:r>
              <a:t>TRANSICIÓN</a:t>
            </a:r>
          </a:p>
          <a:p xmlns:a="http://schemas.openxmlformats.org/drawingml/2006/main">
            <a:r>
              <a:t>Vamos a observar cada parte con la foto y la nota de voz del caso.</a:t>
            </a:r>
          </a:p>
          <a:p xmlns:a="http://schemas.openxmlformats.org/drawingml/2006/main">
            <a:r>
              <a:t/>
            </a:r>
          </a:p>
          <a:p xmlns:a="http://schemas.openxmlformats.org/drawingml/2006/main">
            <a:r>
              <a:t>FUENTES</a:t>
            </a:r>
          </a:p>
          <a:p xmlns:a="http://schemas.openxmlformats.org/drawingml/2006/main">
            <a:r>
              <a:t>AGENTS.md#runtime</a:t>
            </a:r>
          </a:p>
          <a:p xmlns:a="http://schemas.openxmlformats.org/drawingml/2006/main">
            <a:r>
              <a:t>apps/api/src/model.ts</a:t>
            </a:r>
          </a:p>
          <a:p xmlns:a="http://schemas.openxmlformats.org/drawingml/2006/main">
            <a:r>
              <a:t>docs/s12-cloud-deployment.md#ensayo-real-de-extremo-a-extremo</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 · Demostración del caso completo</a:t>
            </a:r>
          </a:p>
          <a:p xmlns:a="http://schemas.openxmlformats.org/drawingml/2006/main">
            <a:r>
              <a:t>19:34–19:49 (15 min, Europe/Madrid)</a:t>
            </a:r>
          </a:p>
          <a:p xmlns:a="http://schemas.openxmlformats.org/drawingml/2006/main">
            <a:r>
              <a:t/>
            </a:r>
          </a:p>
          <a:p xmlns:a="http://schemas.openxmlformats.org/drawingml/2006/main">
            <a:r>
              <a:t>EXPLICACIÓN</a:t>
            </a:r>
          </a:p>
          <a:p xmlns:a="http://schemas.openxmlformats.org/drawingml/2006/main">
            <a:r>
              <a:t>Usa el perfil local de investigación con sus guiones rotulados. Adjunta pedido-auriculares.png y nota-de-voz-devolucion.wav, marca Generar voz y envía sin escribir la pregunta. Muestra que la observación y la intención se conservan por separado, que aparecen plan y fuentes y que el resultado se guarda. El tono offline es una prueba técnica, no una voz neural. Recarga y comprueba el mismo informe. Haz un seguimiento breve con «¿y ese pedido?» y después abre otra conversación para mostrar aislamiento. El guion detallado y los tiempos de corte están en el apartado de demostración del documento del profesor. La consulta a get_order y las fuentes del caso real se pueden recorrer en el respaldo guardado.</a:t>
            </a:r>
          </a:p>
          <a:p xmlns:a="http://schemas.openxmlformats.org/drawingml/2006/main">
            <a:r>
              <a:t/>
            </a:r>
          </a:p>
          <a:p xmlns:a="http://schemas.openxmlformats.org/drawingml/2006/main">
            <a:r>
              <a:t>ACCIÓN</a:t>
            </a:r>
          </a:p>
          <a:p xmlns:a="http://schemas.openxmlformats.org/drawingml/2006/main">
            <a:r>
              <a:t>19:34–19:37 entradas y origen; 19:37–19:41 proceso e informe; 19:41–19:44 recarga y memoria; 19:44–19:47 archivo desconocido e hilo nuevo; 19:47–19:49 preguntas. Si un paso no responde en 90 segundos, pasa al respaldo.</a:t>
            </a:r>
          </a:p>
          <a:p xmlns:a="http://schemas.openxmlformats.org/drawingml/2006/main">
            <a:r>
              <a:t/>
            </a:r>
          </a:p>
          <a:p xmlns:a="http://schemas.openxmlformats.org/drawingml/2006/main">
            <a:r>
              <a:t>PREGUNTA AL GRUPO</a:t>
            </a:r>
          </a:p>
          <a:p xmlns:a="http://schemas.openxmlformats.org/drawingml/2006/main">
            <a:r>
              <a:t>¿Qué parte del resultado procede de la imagen y cuál de una fuente leída?</a:t>
            </a:r>
          </a:p>
          <a:p xmlns:a="http://schemas.openxmlformats.org/drawingml/2006/main">
            <a:r>
              <a:t/>
            </a:r>
          </a:p>
          <a:p xmlns:a="http://schemas.openxmlformats.org/drawingml/2006/main">
            <a:r>
              <a:t>RESPUESTA ESPERADA</a:t>
            </a:r>
          </a:p>
          <a:p xmlns:a="http://schemas.openxmlformats.org/drawingml/2006/main">
            <a:r>
              <a:t>El pedido, el producto y el pago proceden de la imagen. Lo que dicen la tienda y la normativa debe apoyarse en una fuente admitida.</a:t>
            </a:r>
          </a:p>
          <a:p xmlns:a="http://schemas.openxmlformats.org/drawingml/2006/main">
            <a:r>
              <a:t/>
            </a:r>
          </a:p>
          <a:p xmlns:a="http://schemas.openxmlformats.org/drawingml/2006/main">
            <a:r>
              <a:t>TRANSICIÓN</a:t>
            </a:r>
          </a:p>
          <a:p xmlns:a="http://schemas.openxmlformats.org/drawingml/2006/main">
            <a:r>
              <a:t>Ahora distinguimos esta demostración de los resultados reales ya conservados.</a:t>
            </a:r>
          </a:p>
          <a:p xmlns:a="http://schemas.openxmlformats.org/drawingml/2006/main">
            <a:r>
              <a:t/>
            </a:r>
          </a:p>
          <a:p xmlns:a="http://schemas.openxmlformats.org/drawingml/2006/main">
            <a:r>
              <a:t>FUENTES</a:t>
            </a:r>
          </a:p>
          <a:p xmlns:a="http://schemas.openxmlformats.org/drawingml/2006/main">
            <a:r>
              <a:t>docs/s12-research-phase3.md#guía-de-clase-90-minutos</a:t>
            </a:r>
          </a:p>
          <a:p xmlns:a="http://schemas.openxmlformats.org/drawingml/2006/main">
            <a:r>
              <a:t>apps/api/fixtures/media/manifest.json</a:t>
            </a:r>
          </a:p>
          <a:p xmlns:a="http://schemas.openxmlformats.org/drawingml/2006/main">
            <a:r>
              <a:t>docs/s12-research-phase2.md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 · Lo observado en el ensayo real</a:t>
            </a:r>
          </a:p>
          <a:p xmlns:a="http://schemas.openxmlformats.org/drawingml/2006/main">
            <a:r>
              <a:t>19:49–19:54 (5 min, Europe/Madrid)</a:t>
            </a:r>
          </a:p>
          <a:p xmlns:a="http://schemas.openxmlformats.org/drawingml/2006/main">
            <a:r>
              <a:t/>
            </a:r>
          </a:p>
          <a:p xmlns:a="http://schemas.openxmlformats.org/drawingml/2006/main">
            <a:r>
              <a:t>EXPLICACIÓN</a:t>
            </a:r>
          </a:p>
          <a:p xmlns:a="http://schemas.openxmlformats.org/drawingml/2006/main">
            <a:r>
              <a:t>Explica que estas cifras proceden del ensayo del 11 de octubre, no de la sesión que acabamos de ejecutar. Los dos trabajos recorrieron imagen, audio, herramienta del curso, búsqueda, lectura y voz. El segundo completó sus 18 operaciones y mantuvo un informe parcial porque faltaba evidencia sobre la configuración concreta. Reproduce el MP3 guardado y señala el texto de la voz. La recarga recuperó informe y audio, y se comprobó que no creó operaciones pagadas adicionales. No presentes las reservas de presupuesto como una factura ni uses dos ejemplos para afirmar una precisión general. El documento de despliegue contiene la identidad y los límites de esa evidencia histórica.</a:t>
            </a:r>
          </a:p>
          <a:p xmlns:a="http://schemas.openxmlformats.org/drawingml/2006/main">
            <a:r>
              <a:t/>
            </a:r>
          </a:p>
          <a:p xmlns:a="http://schemas.openxmlformats.org/drawingml/2006/main">
            <a:r>
              <a:t>ACCIÓN</a:t>
            </a:r>
          </a:p>
          <a:p xmlns:a="http://schemas.openxmlformats.org/drawingml/2006/main">
            <a:r>
              <a:t>Abre respaldo/informe-parcial-ensayo-20261011.png y reproduce respaldo/voz-ensayo-20261011.mp3. Si no puedes compartir sonido, lee el texto de la captura.</a:t>
            </a:r>
          </a:p>
          <a:p xmlns:a="http://schemas.openxmlformats.org/drawingml/2006/main">
            <a:r>
              <a:t/>
            </a:r>
          </a:p>
          <a:p xmlns:a="http://schemas.openxmlformats.org/drawingml/2006/main">
            <a:r>
              <a:t>PREGUNTA AL GRUPO</a:t>
            </a:r>
          </a:p>
          <a:p xmlns:a="http://schemas.openxmlformats.org/drawingml/2006/main">
            <a:r>
              <a:t>¿Cómo puede haber 8 afirmaciones verificadas y seguir faltando una respuesta completa?</a:t>
            </a:r>
          </a:p>
          <a:p xmlns:a="http://schemas.openxmlformats.org/drawingml/2006/main">
            <a:r>
              <a:t/>
            </a:r>
          </a:p>
          <a:p xmlns:a="http://schemas.openxmlformats.org/drawingml/2006/main">
            <a:r>
              <a:t>RESPUESTA ESPERADA</a:t>
            </a:r>
          </a:p>
          <a:p xmlns:a="http://schemas.openxmlformats.org/drawingml/2006/main">
            <a:r>
              <a:t>Las frases comprobadas no necesariamente cubren todas las subpreguntas del usuario.</a:t>
            </a:r>
          </a:p>
          <a:p xmlns:a="http://schemas.openxmlformats.org/drawingml/2006/main">
            <a:r>
              <a:t/>
            </a:r>
          </a:p>
          <a:p xmlns:a="http://schemas.openxmlformats.org/drawingml/2006/main">
            <a:r>
              <a:t>TRANSICIÓN</a:t>
            </a:r>
          </a:p>
          <a:p xmlns:a="http://schemas.openxmlformats.org/drawingml/2006/main">
            <a:r>
              <a:t>Terminamos traduciendo lo aprendido a una entrega pequeña y comprobable.</a:t>
            </a:r>
          </a:p>
          <a:p xmlns:a="http://schemas.openxmlformats.org/drawingml/2006/main">
            <a:r>
              <a:t/>
            </a:r>
          </a:p>
          <a:p xmlns:a="http://schemas.openxmlformats.org/drawingml/2006/main">
            <a:r>
              <a:t>FUENTES</a:t>
            </a:r>
          </a:p>
          <a:p xmlns:a="http://schemas.openxmlformats.org/drawingml/2006/main">
            <a:r>
              <a:t>docs/s12-cloud-deployment.md#ensayo-real-de-extremo-a-extremo</a:t>
            </a:r>
          </a:p>
          <a:p xmlns:a="http://schemas.openxmlformats.org/drawingml/2006/main">
            <a:r>
              <a:t>material/S12/respaldo/informe-parcial-ensayo-20261011.png</a:t>
            </a:r>
          </a:p>
          <a:p xmlns:a="http://schemas.openxmlformats.org/drawingml/2006/main">
            <a:r>
              <a:t>material/S12/respaldo/voz-ensayo-20261011.mp3</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 Ejercicio y preguntas finales</a:t>
            </a:r>
          </a:p>
          <a:p xmlns:a="http://schemas.openxmlformats.org/drawingml/2006/main">
            <a:r>
              <a:t>19:54–20:00 (6 min, Europe/Madrid)</a:t>
            </a:r>
          </a:p>
          <a:p xmlns:a="http://schemas.openxmlformats.org/drawingml/2006/main">
            <a:r>
              <a:t/>
            </a:r>
          </a:p>
          <a:p xmlns:a="http://schemas.openxmlformats.org/drawingml/2006/main">
            <a:r>
              <a:t>EXPLICACIÓN</a:t>
            </a:r>
          </a:p>
          <a:p xmlns:a="http://schemas.openxmlformats.org/drawingml/2006/main">
            <a:r>
              <a:t>Recuerda que el ejercicio enviado propone Gemini para la entrada multimodal y el TTS, y Gemini Deep Research mediante Interactions API. Los identificadores se configuran y se comprueba su disponibilidad antes de gastar. Reutilizar el patrón de nuestra app ayuda a entender el diseño, pero no sustituye automáticamente esos requisitos. Pide un caso ficticio, una herramienta validada, dos conversaciones aisladas y una investigación real guardada con su ID y fuentes. El ejercicio permite terminal o notebook. No exige una web nueva, varios agentes ni voz en tiempo real. La dedicación orientativa ya comunicada es de 6 a 9 horas sin la espera remota. Reserva los últimos minutos para dudas y comprueba que distinguen una transcripción, una evidencia y una conclusión.</a:t>
            </a:r>
          </a:p>
          <a:p xmlns:a="http://schemas.openxmlformats.org/drawingml/2006/main">
            <a:r>
              <a:t/>
            </a:r>
          </a:p>
          <a:p xmlns:a="http://schemas.openxmlformats.org/drawingml/2006/main">
            <a:r>
              <a:t>ACCIÓN</a:t>
            </a:r>
          </a:p>
          <a:p xmlns:a="http://schemas.openxmlformats.org/drawingml/2006/main">
            <a:r>
              <a:t>Dedica dos minutos a la entrega y cuatro a preguntas. Cierra a las 20:00. Utiliza el enunciado ya publicado como autoridad para la evaluación.</a:t>
            </a:r>
          </a:p>
          <a:p xmlns:a="http://schemas.openxmlformats.org/drawingml/2006/main">
            <a:r>
              <a:t/>
            </a:r>
          </a:p>
          <a:p xmlns:a="http://schemas.openxmlformats.org/drawingml/2006/main">
            <a:r>
              <a:t>PREGUNTA AL GRUPO</a:t>
            </a:r>
          </a:p>
          <a:p xmlns:a="http://schemas.openxmlformats.org/drawingml/2006/main">
            <a:r>
              <a:t>¿Qué entregarías para demostrar que no creaste otra investigación al volver a consultar?</a:t>
            </a:r>
          </a:p>
          <a:p xmlns:a="http://schemas.openxmlformats.org/drawingml/2006/main">
            <a:r>
              <a:t/>
            </a:r>
          </a:p>
          <a:p xmlns:a="http://schemas.openxmlformats.org/drawingml/2006/main">
            <a:r>
              <a:t>RESPUESTA ESPERADA</a:t>
            </a:r>
          </a:p>
          <a:p xmlns:a="http://schemas.openxmlformats.org/drawingml/2006/main">
            <a:r>
              <a:t>El mismo identificador, el registro de consultas y el resultado guardado, distinguiendo creación y seguimiento.</a:t>
            </a:r>
          </a:p>
          <a:p xmlns:a="http://schemas.openxmlformats.org/drawingml/2006/main">
            <a:r>
              <a:t/>
            </a:r>
          </a:p>
          <a:p xmlns:a="http://schemas.openxmlformats.org/drawingml/2006/main">
            <a:r>
              <a:t>TRANSICIÓN</a:t>
            </a:r>
          </a:p>
          <a:p xmlns:a="http://schemas.openxmlformats.org/drawingml/2006/main">
            <a:r>
              <a:t>Cierre de S12. Conservar las dudas del grupo para el siguiente directo.</a:t>
            </a:r>
          </a:p>
          <a:p xmlns:a="http://schemas.openxmlformats.org/drawingml/2006/main">
            <a:r>
              <a:t/>
            </a:r>
          </a:p>
          <a:p xmlns:a="http://schemas.openxmlformats.org/drawingml/2006/main">
            <a:r>
              <a:t>FUENTES</a:t>
            </a:r>
          </a:p>
          <a:p xmlns:a="http://schemas.openxmlformats.org/drawingml/2006/main">
            <a:r>
              <a:t>../GUIA-DE-CLASES-2026.md#ai-s12</a:t>
            </a:r>
          </a:p>
          <a:p xmlns:a="http://schemas.openxmlformats.org/drawingml/2006/main">
            <a:r>
              <a:t>corpus/sources/program/s12-deep-research.md</a:t>
            </a:r>
          </a:p>
          <a:p xmlns:a="http://schemas.openxmlformats.org/drawingml/2006/main">
            <a:r>
              <a:t>https://github.com/googleapis/python-genai/blob/main/README.md</a:t>
            </a:r>
          </a:p>
          <a:p xmlns:a="http://schemas.openxmlformats.org/drawingml/2006/main">
            <a:r>
              <a:t>Documentación externa consultada: 18/10/2026. Los ensayos de producción citados son del 11/10/2026.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118c8e94aa47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76e262eb904e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32d28eb54141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84979568e8416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0088ff25ec42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7183cf276d44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EDE101-9B78-4474-B835-CBE9070A1D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86503D-CE51-4332-9BE3-E5C2C35F41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0A81B8-CEA2-4A3E-80B3-3B00124B7F3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D8A4D9-FD85-4EF8-8BDC-A41BB55963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70F62E-26EA-4441-B475-D8B0D5696B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553668-04E3-43A3-BC72-476C945D75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0F2EBD-BAD4-42E3-9FF1-1E2E334D11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D83E5D1-0CD0-4299-B6C6-C7B4AF30CB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4AC355-5C63-4B9D-BE10-39EE76C264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201E2F-33E0-444A-8466-6FD2779A02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308cc359d1455f" /><Relationship Type="http://schemas.openxmlformats.org/officeDocument/2006/relationships/slideLayout" Target="/ppt/slideLayouts/slideLayout1.xml" Id="R9ba695d9ceab4f37" /><Relationship Type="http://schemas.openxmlformats.org/officeDocument/2006/relationships/slideLayout" Target="/ppt/slideLayouts/slideLayout2.xml" Id="R49aec968aaad41a3" /><Relationship Type="http://schemas.openxmlformats.org/officeDocument/2006/relationships/slideLayout" Target="/ppt/slideLayouts/slideLayout3.xml" Id="R3fed342ad88f4e72" /><Relationship Type="http://schemas.openxmlformats.org/officeDocument/2006/relationships/slideLayout" Target="/ppt/slideLayouts/slideLayout4.xml" Id="R9ff9bd48fd7842c1" /><Relationship Type="http://schemas.openxmlformats.org/officeDocument/2006/relationships/slideLayout" Target="/ppt/slideLayouts/slideLayout5.xml" Id="R513be38baf874ba4" /><Relationship Type="http://schemas.openxmlformats.org/officeDocument/2006/relationships/slideLayout" Target="/ppt/slideLayouts/slideLayout6.xml" Id="Ra28ff7cbfefe4c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a695d9ceab4f37"/>
    <p:sldLayoutId xmlns:r="http://schemas.openxmlformats.org/officeDocument/2006/relationships" id="2147483650" r:id="R49aec968aaad41a3"/>
    <p:sldLayoutId xmlns:r="http://schemas.openxmlformats.org/officeDocument/2006/relationships" id="2147483651" r:id="R3fed342ad88f4e72"/>
    <p:sldLayoutId xmlns:r="http://schemas.openxmlformats.org/officeDocument/2006/relationships" id="2147483652" r:id="R9ff9bd48fd7842c1"/>
    <p:sldLayoutId xmlns:r="http://schemas.openxmlformats.org/officeDocument/2006/relationships" id="2147483653" r:id="R513be38baf874ba4"/>
    <p:sldLayoutId xmlns:r="http://schemas.openxmlformats.org/officeDocument/2006/relationships" id="2147483654" r:id="Ra28ff7cbfefe4c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d0847aabcab4912" /><Relationship Type="http://schemas.openxmlformats.org/officeDocument/2006/relationships/image" Target="/ppt/media/image.png" Id="Rdc8dbb6a8b9d4a99" /><Relationship Type="http://schemas.openxmlformats.org/officeDocument/2006/relationships/image" Target="/ppt/media/image2.png" Id="R40f7ed6ab72f4f3f" /><Relationship Type="http://schemas.openxmlformats.org/officeDocument/2006/relationships/notesSlide" Target="/ppt/notesSlides/notesSlide1.xml" Id="Rcf8b7579213943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01578973ec41fa" /><Relationship Type="http://schemas.openxmlformats.org/officeDocument/2006/relationships/image" Target="/ppt/media/image3.png" Id="R1e1889e9f2d64152" /><Relationship Type="http://schemas.openxmlformats.org/officeDocument/2006/relationships/image" Target="/ppt/media/image.jpeg" Id="Rdf4fdd9e84d04121" /><Relationship Type="http://schemas.openxmlformats.org/officeDocument/2006/relationships/notesSlide" Target="/ppt/notesSlides/notesSlide2.xml" Id="R5e7863fa207445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db277059b84670" /><Relationship Type="http://schemas.openxmlformats.org/officeDocument/2006/relationships/image" Target="/ppt/media/image4.png" Id="Rd15ca319f91b44d3" /><Relationship Type="http://schemas.openxmlformats.org/officeDocument/2006/relationships/notesSlide" Target="/ppt/notesSlides/notesSlide3.xml" Id="R640b2949db1b43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87dcfa60334743" /><Relationship Type="http://schemas.openxmlformats.org/officeDocument/2006/relationships/image" Target="/ppt/media/image5.png" Id="R536b871956ef485d" /><Relationship Type="http://schemas.openxmlformats.org/officeDocument/2006/relationships/notesSlide" Target="/ppt/notesSlides/notesSlide4.xml" Id="R587f70f0620b48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ef6e468eec94bfa" /><Relationship Type="http://schemas.openxmlformats.org/officeDocument/2006/relationships/image" Target="/ppt/media/image6.png" Id="R21a98f4c30394108" /><Relationship Type="http://schemas.openxmlformats.org/officeDocument/2006/relationships/notesSlide" Target="/ppt/notesSlides/notesSlide5.xml" Id="R1516fe931aeb44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da7506c1224c83" /><Relationship Type="http://schemas.openxmlformats.org/officeDocument/2006/relationships/image" Target="/ppt/media/image7.png" Id="R5da36cfb55b9497d" /><Relationship Type="http://schemas.openxmlformats.org/officeDocument/2006/relationships/image" Target="/ppt/media/image8.png" Id="R8c05e33e2b6c47dc" /><Relationship Type="http://schemas.openxmlformats.org/officeDocument/2006/relationships/notesSlide" Target="/ppt/notesSlides/notesSlide6.xml" Id="Ra8ff5d1c588344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0ddb49a4c74295" /><Relationship Type="http://schemas.openxmlformats.org/officeDocument/2006/relationships/image" Target="/ppt/media/image9.png" Id="R77acfed787b34aad" /><Relationship Type="http://schemas.openxmlformats.org/officeDocument/2006/relationships/notesSlide" Target="/ppt/notesSlides/notesSlide7.xml" Id="R5ea35d3f425c45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55a326c72314bcf" /><Relationship Type="http://schemas.openxmlformats.org/officeDocument/2006/relationships/image" Target="/ppt/media/image10.png" Id="R284b1d6132824bd4" /><Relationship Type="http://schemas.openxmlformats.org/officeDocument/2006/relationships/notesSlide" Target="/ppt/notesSlides/notesSlide8.xml" Id="Rc901b7d7f69f47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f75fb9bb1a5488f" /><Relationship Type="http://schemas.openxmlformats.org/officeDocument/2006/relationships/image" Target="/ppt/media/image11.png" Id="R0e2d511125a540ba" /><Relationship Type="http://schemas.openxmlformats.org/officeDocument/2006/relationships/notesSlide" Target="/ppt/notesSlides/notesSlide9.xml" Id="R213831d976ca48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460059871424742" /><Relationship Type="http://schemas.openxmlformats.org/officeDocument/2006/relationships/image" Target="/ppt/media/image12.png" Id="R481add1a4fd14eee" /><Relationship Type="http://schemas.openxmlformats.org/officeDocument/2006/relationships/notesSlide" Target="/ppt/notesSlides/notesSlide10.xml" Id="R1528101ad03546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81e81c8c7614861" /><Relationship Type="http://schemas.openxmlformats.org/officeDocument/2006/relationships/image" Target="/ppt/media/image13.png" Id="Rb1f428ba01a0407f" /><Relationship Type="http://schemas.openxmlformats.org/officeDocument/2006/relationships/notesSlide" Target="/ppt/notesSlides/notesSlide11.xml" Id="Rbea059e582ee41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370bbdad2b94008" /><Relationship Type="http://schemas.openxmlformats.org/officeDocument/2006/relationships/image" Target="/ppt/media/image14.png" Id="R42d8d006aa234af7" /><Relationship Type="http://schemas.openxmlformats.org/officeDocument/2006/relationships/notesSlide" Target="/ppt/notesSlides/notesSlide12.xml" Id="Rb92c6defd9bf44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afff7e9973447b7" /><Relationship Type="http://schemas.openxmlformats.org/officeDocument/2006/relationships/image" Target="/ppt/media/image15.png" Id="Re915ad05f566433a" /><Relationship Type="http://schemas.openxmlformats.org/officeDocument/2006/relationships/notesSlide" Target="/ppt/notesSlides/notesSlide13.xml" Id="R78e77aa1779846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1b92f376703469c" /><Relationship Type="http://schemas.openxmlformats.org/officeDocument/2006/relationships/image" Target="/ppt/media/image16.png" Id="R2bbf37e304b04f49" /><Relationship Type="http://schemas.openxmlformats.org/officeDocument/2006/relationships/notesSlide" Target="/ppt/notesSlides/notesSlide14.xml" Id="R71b45c1939a046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7f96a82d83442bc" /><Relationship Type="http://schemas.openxmlformats.org/officeDocument/2006/relationships/image" Target="/ppt/media/image17.png" Id="R0a5bdd6ca016467d" /><Relationship Type="http://schemas.openxmlformats.org/officeDocument/2006/relationships/notesSlide" Target="/ppt/notesSlides/notesSlide15.xml" Id="Rb611ce378caa46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e80d4e9319545fa" /><Relationship Type="http://schemas.openxmlformats.org/officeDocument/2006/relationships/image" Target="/ppt/media/image18.png" Id="R19b3124d99844435" /><Relationship Type="http://schemas.openxmlformats.org/officeDocument/2006/relationships/notesSlide" Target="/ppt/notesSlides/notesSlide16.xml" Id="Ra41a32a09c8f444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88c6dce62284349" /><Relationship Type="http://schemas.openxmlformats.org/officeDocument/2006/relationships/image" Target="/ppt/media/image19.png" Id="Rc0f06dbb1f5941b8" /><Relationship Type="http://schemas.openxmlformats.org/officeDocument/2006/relationships/notesSlide" Target="/ppt/notesSlides/notesSlide17.xml" Id="R3264062083064d5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a711a3e4d714933" /><Relationship Type="http://schemas.openxmlformats.org/officeDocument/2006/relationships/image" Target="/ppt/media/image20.png" Id="R55e7006f14d84907" /><Relationship Type="http://schemas.openxmlformats.org/officeDocument/2006/relationships/notesSlide" Target="/ppt/notesSlides/notesSlide18.xml" Id="R4eea5dedc5b44b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1f274706a804f3a" /><Relationship Type="http://schemas.openxmlformats.org/officeDocument/2006/relationships/image" Target="/ppt/media/image21.png" Id="R9497480a6b9b4d9e" /><Relationship Type="http://schemas.openxmlformats.org/officeDocument/2006/relationships/notesSlide" Target="/ppt/notesSlides/notesSlide19.xml" Id="Rd31b4cb79b8f48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cdc8245293f420f" /><Relationship Type="http://schemas.openxmlformats.org/officeDocument/2006/relationships/image" Target="/ppt/media/image22.png" Id="R46a7ad08b9a74a9f" /><Relationship Type="http://schemas.openxmlformats.org/officeDocument/2006/relationships/notesSlide" Target="/ppt/notesSlides/notesSlide20.xml" Id="R03f06711e0c2473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d5c2fc6479d45d8" /><Relationship Type="http://schemas.openxmlformats.org/officeDocument/2006/relationships/image" Target="/ppt/media/image23.png" Id="R3e0b1c159dab408f" /><Relationship Type="http://schemas.openxmlformats.org/officeDocument/2006/relationships/notesSlide" Target="/ppt/notesSlides/notesSlide21.xml" Id="Rc92444a8e4d049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9dd2952ae874376" /><Relationship Type="http://schemas.openxmlformats.org/officeDocument/2006/relationships/image" Target="/ppt/media/image24.png" Id="Rca949173e83744a4" /><Relationship Type="http://schemas.openxmlformats.org/officeDocument/2006/relationships/notesSlide" Target="/ppt/notesSlides/notesSlide22.xml" Id="R7bf93f60fe82498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4267d13a3704548" /><Relationship Type="http://schemas.openxmlformats.org/officeDocument/2006/relationships/image" Target="/ppt/media/image25.png" Id="R7667e3923e664e31" /><Relationship Type="http://schemas.openxmlformats.org/officeDocument/2006/relationships/image" Target="/ppt/media/image2.jpeg" Id="R0ffda87057ce493b" /><Relationship Type="http://schemas.openxmlformats.org/officeDocument/2006/relationships/notesSlide" Target="/ppt/notesSlides/notesSlide23.xml" Id="R4d4f645bd8b24c5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4b08b2920ee4cc7" /><Relationship Type="http://schemas.openxmlformats.org/officeDocument/2006/relationships/image" Target="/ppt/media/image26.png" Id="R59e13e7e652e40b5" /><Relationship Type="http://schemas.openxmlformats.org/officeDocument/2006/relationships/notesSlide" Target="/ppt/notesSlides/notesSlide24.xml" Id="R147c933c61dc4ab8" /></Relationships>
</file>

<file path=ppt/slides/slide1.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AA07647-69F4-4FA1-B60D-B51BEB0D899D}"/>
              </a:ext>
            </a:extLst>
          </p:cNvPr>
          <p:cNvPicPr>
            <a:picLocks xmlns:a="http://schemas.openxmlformats.org/drawingml/2006/main" noChangeAspect="1"/>
          </p:cNvPicPr>
          <p:nvPr/>
        </p:nvPicPr>
        <p:blipFill>
          <a:blip xmlns:r="http://schemas.openxmlformats.org/officeDocument/2006/relationships" xmlns:a="http://schemas.openxmlformats.org/drawingml/2006/main" r:embed="Rdc8dbb6a8b9d4a9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33785E2-C255-444C-8A11-0C4BCD655D7A}"/>
              </a:ext>
            </a:extLst>
          </p:cNvPr>
          <p:cNvPicPr>
            <a:picLocks xmlns:a="http://schemas.openxmlformats.org/drawingml/2006/main" noChangeAspect="1"/>
          </p:cNvPicPr>
          <p:nvPr/>
        </p:nvPicPr>
        <p:blipFill>
          <a:blip xmlns:r="http://schemas.openxmlformats.org/officeDocument/2006/relationships" xmlns:a="http://schemas.openxmlformats.org/drawingml/2006/main" r:embed="R40f7ed6ab72f4f3f"/>
          <a:stretch xmlns:a="http://schemas.openxmlformats.org/drawingml/2006/main"/>
        </p:blipFill>
        <p:spPr>
          <a:xfrm xmlns:a="http://schemas.openxmlformats.org/drawingml/2006/main">
            <a:off x="609600" y="343937"/>
            <a:ext cx="1628775" cy="512276"/>
          </a:xfrm>
          <a:prstGeom xmlns:a="http://schemas.openxmlformats.org/drawingml/2006/main" prst="rect">
            <a:avLst/>
          </a:prstGeom>
        </p:spPr>
      </p:pic>
      <p:sp>
        <p:nvSpPr>
          <p:cNvPr id="3" name="S12 · AI ENGINEER">
            <a:extLst xmlns:a="http://schemas.openxmlformats.org/drawingml/2006/main">
              <a:ext uri="{FF2B5EF4-FFF2-40B4-BE49-F238E27FC236}">
                <a16:creationId xmlns:a16="http://schemas.microsoft.com/office/drawing/2014/main" id="{654C6C39-0614-4E30-9911-6E800670B6F2}"/>
              </a:ext>
            </a:extLst>
          </p:cNvPr>
          <p:cNvSpPr>
            <a:spLocks xmlns:a="http://schemas.openxmlformats.org/drawingml/2006/main" noGrp="1"/>
          </p:cNvSpPr>
          <p:nvPr/>
        </p:nvSpPr>
        <p:spPr>
          <a:xfrm xmlns:a="http://schemas.openxmlformats.org/drawingml/2006/main">
            <a:off x="609600" y="13525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53DFBC"/>
                </a:solidFill>
                <a:latin typeface="Arial"/>
                <a:ea typeface="Arial"/>
                <a:cs typeface="Arial"/>
              </a:defRPr>
            </a:defPPr>
            <a:lvl1pPr>
              <a:defRPr sz="1575" b="1">
                <a:solidFill>
                  <a:srgbClr val="53DFBC"/>
                </a:solidFill>
                <a:latin typeface="Arial"/>
                <a:ea typeface="Arial"/>
                <a:cs typeface="Arial"/>
              </a:defRPr>
            </a:lvl1pPr>
            <a:lvl2pPr>
              <a:defRPr sz="1575" b="1">
                <a:solidFill>
                  <a:srgbClr val="53DFBC"/>
                </a:solidFill>
                <a:latin typeface="Arial"/>
                <a:ea typeface="Arial"/>
                <a:cs typeface="Arial"/>
              </a:defRPr>
            </a:lvl2pPr>
            <a:lvl3pPr>
              <a:defRPr sz="1575" b="1">
                <a:solidFill>
                  <a:srgbClr val="53DFBC"/>
                </a:solidFill>
                <a:latin typeface="Arial"/>
                <a:ea typeface="Arial"/>
                <a:cs typeface="Arial"/>
              </a:defRPr>
            </a:lvl3pPr>
            <a:lvl4pPr>
              <a:defRPr sz="1575" b="1">
                <a:solidFill>
                  <a:srgbClr val="53DFBC"/>
                </a:solidFill>
                <a:latin typeface="Arial"/>
                <a:ea typeface="Arial"/>
                <a:cs typeface="Arial"/>
              </a:defRPr>
            </a:lvl4pPr>
            <a:lvl5pPr>
              <a:defRPr sz="1575" b="1">
                <a:solidFill>
                  <a:srgbClr val="53DFBC"/>
                </a:solidFill>
                <a:latin typeface="Arial"/>
                <a:ea typeface="Arial"/>
                <a:cs typeface="Arial"/>
              </a:defRPr>
            </a:lvl5pPr>
            <a:lvl6pPr>
              <a:defRPr sz="1575" b="1">
                <a:solidFill>
                  <a:srgbClr val="53DFBC"/>
                </a:solidFill>
                <a:latin typeface="Arial"/>
                <a:ea typeface="Arial"/>
                <a:cs typeface="Arial"/>
              </a:defRPr>
            </a:lvl6pPr>
            <a:lvl7pPr>
              <a:defRPr sz="1575" b="1">
                <a:solidFill>
                  <a:srgbClr val="53DFBC"/>
                </a:solidFill>
                <a:latin typeface="Arial"/>
                <a:ea typeface="Arial"/>
                <a:cs typeface="Arial"/>
              </a:defRPr>
            </a:lvl7pPr>
            <a:lvl8pPr>
              <a:defRPr sz="1575" b="1">
                <a:solidFill>
                  <a:srgbClr val="53DFBC"/>
                </a:solidFill>
                <a:latin typeface="Arial"/>
                <a:ea typeface="Arial"/>
                <a:cs typeface="Arial"/>
              </a:defRPr>
            </a:lvl8pPr>
            <a:lvl9pPr>
              <a:defRPr sz="1575" b="1">
                <a:solidFill>
                  <a:srgbClr val="53DFBC"/>
                </a:solidFill>
                <a:latin typeface="Arial"/>
                <a:ea typeface="Arial"/>
                <a:cs typeface="Arial"/>
              </a:defRPr>
            </a:lvl9pPr>
          </a:lstStyle>
          <a:p xmlns:a="http://schemas.openxmlformats.org/drawingml/2006/main">
            <a:pPr>
              <a:defRPr sz="1575" b="1">
                <a:solidFill>
                  <a:srgbClr val="53DFBC"/>
                </a:solidFill>
                <a:latin typeface="Arial"/>
                <a:ea typeface="Arial"/>
                <a:cs typeface="Arial"/>
              </a:defRPr>
            </a:pPr>
            <a:r>
              <a:rPr sz="1575" b="1">
                <a:solidFill>
                  <a:srgbClr val="53DFBC"/>
                </a:solidFill>
                <a:latin typeface="Arial"/>
                <a:ea typeface="Arial"/>
                <a:cs typeface="Arial"/>
              </a:rPr>
              <a:t>S12 · AI ENGINEER</a:t>
            </a:r>
          </a:p>
        </p:txBody>
      </p:sp>
      <p:sp>
        <p:nvSpPr>
          <p:cNvPr id="4" name="Deep Research y multimodal">
            <a:extLst xmlns:a="http://schemas.openxmlformats.org/drawingml/2006/main">
              <a:ext uri="{FF2B5EF4-FFF2-40B4-BE49-F238E27FC236}">
                <a16:creationId xmlns:a16="http://schemas.microsoft.com/office/drawing/2014/main" id="{00D46D25-60A2-4E0F-999D-70178F020411}"/>
              </a:ext>
            </a:extLst>
          </p:cNvPr>
          <p:cNvSpPr>
            <a:spLocks xmlns:a="http://schemas.openxmlformats.org/drawingml/2006/main" noGrp="1"/>
          </p:cNvSpPr>
          <p:nvPr/>
        </p:nvSpPr>
        <p:spPr>
          <a:xfrm xmlns:a="http://schemas.openxmlformats.org/drawingml/2006/main">
            <a:off x="609600" y="1943100"/>
            <a:ext cx="738187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025" b="1">
                <a:solidFill>
                  <a:srgbClr val="F4F7FA"/>
                </a:solidFill>
                <a:latin typeface="Arial"/>
                <a:ea typeface="Arial"/>
                <a:cs typeface="Arial"/>
              </a:defRPr>
            </a:defPPr>
            <a:lvl1pPr>
              <a:defRPr sz="5025" b="1">
                <a:solidFill>
                  <a:srgbClr val="F4F7FA"/>
                </a:solidFill>
                <a:latin typeface="Arial"/>
                <a:ea typeface="Arial"/>
                <a:cs typeface="Arial"/>
              </a:defRPr>
            </a:lvl1pPr>
            <a:lvl2pPr>
              <a:defRPr sz="5025" b="1">
                <a:solidFill>
                  <a:srgbClr val="F4F7FA"/>
                </a:solidFill>
                <a:latin typeface="Arial"/>
                <a:ea typeface="Arial"/>
                <a:cs typeface="Arial"/>
              </a:defRPr>
            </a:lvl2pPr>
            <a:lvl3pPr>
              <a:defRPr sz="5025" b="1">
                <a:solidFill>
                  <a:srgbClr val="F4F7FA"/>
                </a:solidFill>
                <a:latin typeface="Arial"/>
                <a:ea typeface="Arial"/>
                <a:cs typeface="Arial"/>
              </a:defRPr>
            </a:lvl3pPr>
            <a:lvl4pPr>
              <a:defRPr sz="5025" b="1">
                <a:solidFill>
                  <a:srgbClr val="F4F7FA"/>
                </a:solidFill>
                <a:latin typeface="Arial"/>
                <a:ea typeface="Arial"/>
                <a:cs typeface="Arial"/>
              </a:defRPr>
            </a:lvl4pPr>
            <a:lvl5pPr>
              <a:defRPr sz="5025" b="1">
                <a:solidFill>
                  <a:srgbClr val="F4F7FA"/>
                </a:solidFill>
                <a:latin typeface="Arial"/>
                <a:ea typeface="Arial"/>
                <a:cs typeface="Arial"/>
              </a:defRPr>
            </a:lvl5pPr>
            <a:lvl6pPr>
              <a:defRPr sz="5025" b="1">
                <a:solidFill>
                  <a:srgbClr val="F4F7FA"/>
                </a:solidFill>
                <a:latin typeface="Arial"/>
                <a:ea typeface="Arial"/>
                <a:cs typeface="Arial"/>
              </a:defRPr>
            </a:lvl6pPr>
            <a:lvl7pPr>
              <a:defRPr sz="5025" b="1">
                <a:solidFill>
                  <a:srgbClr val="F4F7FA"/>
                </a:solidFill>
                <a:latin typeface="Arial"/>
                <a:ea typeface="Arial"/>
                <a:cs typeface="Arial"/>
              </a:defRPr>
            </a:lvl7pPr>
            <a:lvl8pPr>
              <a:defRPr sz="5025" b="1">
                <a:solidFill>
                  <a:srgbClr val="F4F7FA"/>
                </a:solidFill>
                <a:latin typeface="Arial"/>
                <a:ea typeface="Arial"/>
                <a:cs typeface="Arial"/>
              </a:defRPr>
            </a:lvl8pPr>
            <a:lvl9pPr>
              <a:defRPr sz="5025" b="1">
                <a:solidFill>
                  <a:srgbClr val="F4F7FA"/>
                </a:solidFill>
                <a:latin typeface="Arial"/>
                <a:ea typeface="Arial"/>
                <a:cs typeface="Arial"/>
              </a:defRPr>
            </a:lvl9pPr>
          </a:lstStyle>
          <a:p xmlns:a="http://schemas.openxmlformats.org/drawingml/2006/main">
            <a:pPr>
              <a:defRPr sz="5025" b="1">
                <a:solidFill>
                  <a:srgbClr val="F4F7FA"/>
                </a:solidFill>
                <a:latin typeface="Arial"/>
                <a:ea typeface="Arial"/>
                <a:cs typeface="Arial"/>
              </a:defRPr>
            </a:pPr>
            <a:r>
              <a:rPr sz="5025" b="1">
                <a:solidFill>
                  <a:srgbClr val="F4F7FA"/>
                </a:solidFill>
                <a:latin typeface="Arial"/>
                <a:ea typeface="Arial"/>
                <a:cs typeface="Arial"/>
              </a:rPr>
              <a:t>Deep Research</a:t>
            </a:r>
          </a:p>
          <a:p xmlns:a="http://schemas.openxmlformats.org/drawingml/2006/main">
            <a:pPr>
              <a:defRPr sz="5025" b="1">
                <a:solidFill>
                  <a:srgbClr val="F4F7FA"/>
                </a:solidFill>
                <a:latin typeface="Arial"/>
                <a:ea typeface="Arial"/>
                <a:cs typeface="Arial"/>
              </a:defRPr>
            </a:pPr>
            <a:r>
              <a:rPr sz="5025" b="1">
                <a:solidFill>
                  <a:srgbClr val="F4F7FA"/>
                </a:solidFill>
                <a:latin typeface="Arial"/>
                <a:ea typeface="Arial"/>
                <a:cs typeface="Arial"/>
              </a:rPr>
              <a:t>y multimodal</a:t>
            </a:r>
          </a:p>
        </p:txBody>
      </p:sp>
      <p:sp>
        <p:nvSpPr>
          <p:cNvPr id="5" name="Imagen y audio en un agente que investiga con fuentes">
            <a:extLst xmlns:a="http://schemas.openxmlformats.org/drawingml/2006/main">
              <a:ext uri="{FF2B5EF4-FFF2-40B4-BE49-F238E27FC236}">
                <a16:creationId xmlns:a16="http://schemas.microsoft.com/office/drawing/2014/main" id="{87A3BEA5-B15D-4580-B532-42B1F247F849}"/>
              </a:ext>
            </a:extLst>
          </p:cNvPr>
          <p:cNvSpPr>
            <a:spLocks xmlns:a="http://schemas.openxmlformats.org/drawingml/2006/main" noGrp="1"/>
          </p:cNvSpPr>
          <p:nvPr/>
        </p:nvSpPr>
        <p:spPr>
          <a:xfrm xmlns:a="http://schemas.openxmlformats.org/drawingml/2006/main">
            <a:off x="609600" y="3933825"/>
            <a:ext cx="8572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B4C4CE"/>
                </a:solidFill>
                <a:latin typeface="Arial"/>
                <a:ea typeface="Arial"/>
                <a:cs typeface="Arial"/>
              </a:defRPr>
            </a:defPPr>
            <a:lvl1pPr>
              <a:defRPr sz="2325" b="0">
                <a:solidFill>
                  <a:srgbClr val="B4C4CE"/>
                </a:solidFill>
                <a:latin typeface="Arial"/>
                <a:ea typeface="Arial"/>
                <a:cs typeface="Arial"/>
              </a:defRPr>
            </a:lvl1pPr>
            <a:lvl2pPr>
              <a:defRPr sz="2325" b="0">
                <a:solidFill>
                  <a:srgbClr val="B4C4CE"/>
                </a:solidFill>
                <a:latin typeface="Arial"/>
                <a:ea typeface="Arial"/>
                <a:cs typeface="Arial"/>
              </a:defRPr>
            </a:lvl2pPr>
            <a:lvl3pPr>
              <a:defRPr sz="2325" b="0">
                <a:solidFill>
                  <a:srgbClr val="B4C4CE"/>
                </a:solidFill>
                <a:latin typeface="Arial"/>
                <a:ea typeface="Arial"/>
                <a:cs typeface="Arial"/>
              </a:defRPr>
            </a:lvl3pPr>
            <a:lvl4pPr>
              <a:defRPr sz="2325" b="0">
                <a:solidFill>
                  <a:srgbClr val="B4C4CE"/>
                </a:solidFill>
                <a:latin typeface="Arial"/>
                <a:ea typeface="Arial"/>
                <a:cs typeface="Arial"/>
              </a:defRPr>
            </a:lvl4pPr>
            <a:lvl5pPr>
              <a:defRPr sz="2325" b="0">
                <a:solidFill>
                  <a:srgbClr val="B4C4CE"/>
                </a:solidFill>
                <a:latin typeface="Arial"/>
                <a:ea typeface="Arial"/>
                <a:cs typeface="Arial"/>
              </a:defRPr>
            </a:lvl5pPr>
            <a:lvl6pPr>
              <a:defRPr sz="2325" b="0">
                <a:solidFill>
                  <a:srgbClr val="B4C4CE"/>
                </a:solidFill>
                <a:latin typeface="Arial"/>
                <a:ea typeface="Arial"/>
                <a:cs typeface="Arial"/>
              </a:defRPr>
            </a:lvl6pPr>
            <a:lvl7pPr>
              <a:defRPr sz="2325" b="0">
                <a:solidFill>
                  <a:srgbClr val="B4C4CE"/>
                </a:solidFill>
                <a:latin typeface="Arial"/>
                <a:ea typeface="Arial"/>
                <a:cs typeface="Arial"/>
              </a:defRPr>
            </a:lvl7pPr>
            <a:lvl8pPr>
              <a:defRPr sz="2325" b="0">
                <a:solidFill>
                  <a:srgbClr val="B4C4CE"/>
                </a:solidFill>
                <a:latin typeface="Arial"/>
                <a:ea typeface="Arial"/>
                <a:cs typeface="Arial"/>
              </a:defRPr>
            </a:lvl8pPr>
            <a:lvl9pPr>
              <a:defRPr sz="2325" b="0">
                <a:solidFill>
                  <a:srgbClr val="B4C4CE"/>
                </a:solidFill>
                <a:latin typeface="Arial"/>
                <a:ea typeface="Arial"/>
                <a:cs typeface="Arial"/>
              </a:defRPr>
            </a:lvl9pPr>
          </a:lstStyle>
          <a:p xmlns:a="http://schemas.openxmlformats.org/drawingml/2006/main">
            <a:pPr>
              <a:defRPr sz="2325" b="0">
                <a:solidFill>
                  <a:srgbClr val="B4C4CE"/>
                </a:solidFill>
                <a:latin typeface="Arial"/>
                <a:ea typeface="Arial"/>
                <a:cs typeface="Arial"/>
              </a:defRPr>
            </a:pPr>
            <a:r>
              <a:rPr sz="2325" b="0">
                <a:solidFill>
                  <a:srgbClr val="B4C4CE"/>
                </a:solidFill>
                <a:latin typeface="Arial"/>
                <a:ea typeface="Arial"/>
                <a:cs typeface="Arial"/>
              </a:rPr>
              <a:t>Imagen y audio en un agente que investiga con fuentes</a:t>
            </a:r>
          </a:p>
        </p:txBody>
      </p:sp>
      <p:sp>
        <p:nvSpPr>
          <p:cNvPr id="6" name="José Antonio Nuevo">
            <a:extLst xmlns:a="http://schemas.openxmlformats.org/drawingml/2006/main">
              <a:ext uri="{FF2B5EF4-FFF2-40B4-BE49-F238E27FC236}">
                <a16:creationId xmlns:a16="http://schemas.microsoft.com/office/drawing/2014/main" id="{88BABCBD-D4D9-42C0-9735-110DDDB9BBF1}"/>
              </a:ext>
            </a:extLst>
          </p:cNvPr>
          <p:cNvSpPr>
            <a:spLocks xmlns:a="http://schemas.openxmlformats.org/drawingml/2006/main" noGrp="1"/>
          </p:cNvSpPr>
          <p:nvPr/>
        </p:nvSpPr>
        <p:spPr>
          <a:xfrm xmlns:a="http://schemas.openxmlformats.org/drawingml/2006/main">
            <a:off x="609600" y="538162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F4F7FA"/>
                </a:solidFill>
                <a:latin typeface="Arial"/>
                <a:ea typeface="Arial"/>
                <a:cs typeface="Arial"/>
              </a:defRPr>
            </a:defPPr>
            <a:lvl1pPr>
              <a:defRPr sz="1800" b="1">
                <a:solidFill>
                  <a:srgbClr val="F4F7FA"/>
                </a:solidFill>
                <a:latin typeface="Arial"/>
                <a:ea typeface="Arial"/>
                <a:cs typeface="Arial"/>
              </a:defRPr>
            </a:lvl1pPr>
            <a:lvl2pPr>
              <a:defRPr sz="1800" b="1">
                <a:solidFill>
                  <a:srgbClr val="F4F7FA"/>
                </a:solidFill>
                <a:latin typeface="Arial"/>
                <a:ea typeface="Arial"/>
                <a:cs typeface="Arial"/>
              </a:defRPr>
            </a:lvl2pPr>
            <a:lvl3pPr>
              <a:defRPr sz="1800" b="1">
                <a:solidFill>
                  <a:srgbClr val="F4F7FA"/>
                </a:solidFill>
                <a:latin typeface="Arial"/>
                <a:ea typeface="Arial"/>
                <a:cs typeface="Arial"/>
              </a:defRPr>
            </a:lvl3pPr>
            <a:lvl4pPr>
              <a:defRPr sz="1800" b="1">
                <a:solidFill>
                  <a:srgbClr val="F4F7FA"/>
                </a:solidFill>
                <a:latin typeface="Arial"/>
                <a:ea typeface="Arial"/>
                <a:cs typeface="Arial"/>
              </a:defRPr>
            </a:lvl4pPr>
            <a:lvl5pPr>
              <a:defRPr sz="1800" b="1">
                <a:solidFill>
                  <a:srgbClr val="F4F7FA"/>
                </a:solidFill>
                <a:latin typeface="Arial"/>
                <a:ea typeface="Arial"/>
                <a:cs typeface="Arial"/>
              </a:defRPr>
            </a:lvl5pPr>
            <a:lvl6pPr>
              <a:defRPr sz="1800" b="1">
                <a:solidFill>
                  <a:srgbClr val="F4F7FA"/>
                </a:solidFill>
                <a:latin typeface="Arial"/>
                <a:ea typeface="Arial"/>
                <a:cs typeface="Arial"/>
              </a:defRPr>
            </a:lvl6pPr>
            <a:lvl7pPr>
              <a:defRPr sz="1800" b="1">
                <a:solidFill>
                  <a:srgbClr val="F4F7FA"/>
                </a:solidFill>
                <a:latin typeface="Arial"/>
                <a:ea typeface="Arial"/>
                <a:cs typeface="Arial"/>
              </a:defRPr>
            </a:lvl7pPr>
            <a:lvl8pPr>
              <a:defRPr sz="1800" b="1">
                <a:solidFill>
                  <a:srgbClr val="F4F7FA"/>
                </a:solidFill>
                <a:latin typeface="Arial"/>
                <a:ea typeface="Arial"/>
                <a:cs typeface="Arial"/>
              </a:defRPr>
            </a:lvl8pPr>
            <a:lvl9pPr>
              <a:defRPr sz="1800" b="1">
                <a:solidFill>
                  <a:srgbClr val="F4F7FA"/>
                </a:solidFill>
                <a:latin typeface="Arial"/>
                <a:ea typeface="Arial"/>
                <a:cs typeface="Arial"/>
              </a:defRPr>
            </a:lvl9pPr>
          </a:lstStyle>
          <a:p xmlns:a="http://schemas.openxmlformats.org/drawingml/2006/main">
            <a:pPr>
              <a:defRPr sz="1800" b="1">
                <a:solidFill>
                  <a:srgbClr val="F4F7FA"/>
                </a:solidFill>
                <a:latin typeface="Arial"/>
                <a:ea typeface="Arial"/>
                <a:cs typeface="Arial"/>
              </a:defRPr>
            </a:pPr>
            <a:r>
              <a:rPr sz="1800" b="1">
                <a:solidFill>
                  <a:srgbClr val="F4F7FA"/>
                </a:solidFill>
                <a:latin typeface="Arial"/>
                <a:ea typeface="Arial"/>
                <a:cs typeface="Arial"/>
              </a:rPr>
              <a:t>José Antonio Nuevo</a:t>
            </a:r>
          </a:p>
        </p:txBody>
      </p:sp>
      <p:sp>
        <p:nvSpPr>
          <p:cNvPr id="7" name="Jueves 29 de octubre de 2026 · 18:30–20:00 · Madrid">
            <a:extLst xmlns:a="http://schemas.openxmlformats.org/drawingml/2006/main">
              <a:ext uri="{FF2B5EF4-FFF2-40B4-BE49-F238E27FC236}">
                <a16:creationId xmlns:a16="http://schemas.microsoft.com/office/drawing/2014/main" id="{8A4E8181-4535-421C-9ADB-CE08D66E10D6}"/>
              </a:ext>
            </a:extLst>
          </p:cNvPr>
          <p:cNvSpPr>
            <a:spLocks xmlns:a="http://schemas.openxmlformats.org/drawingml/2006/main" noGrp="1"/>
          </p:cNvSpPr>
          <p:nvPr/>
        </p:nvSpPr>
        <p:spPr>
          <a:xfrm xmlns:a="http://schemas.openxmlformats.org/drawingml/2006/main">
            <a:off x="609600" y="58102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B4C4CE"/>
                </a:solidFill>
                <a:latin typeface="Arial"/>
                <a:ea typeface="Arial"/>
                <a:cs typeface="Arial"/>
              </a:defRPr>
            </a:defPPr>
            <a:lvl1pPr>
              <a:defRPr sz="1725" b="0">
                <a:solidFill>
                  <a:srgbClr val="B4C4CE"/>
                </a:solidFill>
                <a:latin typeface="Arial"/>
                <a:ea typeface="Arial"/>
                <a:cs typeface="Arial"/>
              </a:defRPr>
            </a:lvl1pPr>
            <a:lvl2pPr>
              <a:defRPr sz="1725" b="0">
                <a:solidFill>
                  <a:srgbClr val="B4C4CE"/>
                </a:solidFill>
                <a:latin typeface="Arial"/>
                <a:ea typeface="Arial"/>
                <a:cs typeface="Arial"/>
              </a:defRPr>
            </a:lvl2pPr>
            <a:lvl3pPr>
              <a:defRPr sz="1725" b="0">
                <a:solidFill>
                  <a:srgbClr val="B4C4CE"/>
                </a:solidFill>
                <a:latin typeface="Arial"/>
                <a:ea typeface="Arial"/>
                <a:cs typeface="Arial"/>
              </a:defRPr>
            </a:lvl3pPr>
            <a:lvl4pPr>
              <a:defRPr sz="1725" b="0">
                <a:solidFill>
                  <a:srgbClr val="B4C4CE"/>
                </a:solidFill>
                <a:latin typeface="Arial"/>
                <a:ea typeface="Arial"/>
                <a:cs typeface="Arial"/>
              </a:defRPr>
            </a:lvl4pPr>
            <a:lvl5pPr>
              <a:defRPr sz="1725" b="0">
                <a:solidFill>
                  <a:srgbClr val="B4C4CE"/>
                </a:solidFill>
                <a:latin typeface="Arial"/>
                <a:ea typeface="Arial"/>
                <a:cs typeface="Arial"/>
              </a:defRPr>
            </a:lvl5pPr>
            <a:lvl6pPr>
              <a:defRPr sz="1725" b="0">
                <a:solidFill>
                  <a:srgbClr val="B4C4CE"/>
                </a:solidFill>
                <a:latin typeface="Arial"/>
                <a:ea typeface="Arial"/>
                <a:cs typeface="Arial"/>
              </a:defRPr>
            </a:lvl6pPr>
            <a:lvl7pPr>
              <a:defRPr sz="1725" b="0">
                <a:solidFill>
                  <a:srgbClr val="B4C4CE"/>
                </a:solidFill>
                <a:latin typeface="Arial"/>
                <a:ea typeface="Arial"/>
                <a:cs typeface="Arial"/>
              </a:defRPr>
            </a:lvl7pPr>
            <a:lvl8pPr>
              <a:defRPr sz="1725" b="0">
                <a:solidFill>
                  <a:srgbClr val="B4C4CE"/>
                </a:solidFill>
                <a:latin typeface="Arial"/>
                <a:ea typeface="Arial"/>
                <a:cs typeface="Arial"/>
              </a:defRPr>
            </a:lvl8pPr>
            <a:lvl9pPr>
              <a:defRPr sz="1725" b="0">
                <a:solidFill>
                  <a:srgbClr val="B4C4CE"/>
                </a:solidFill>
                <a:latin typeface="Arial"/>
                <a:ea typeface="Arial"/>
                <a:cs typeface="Arial"/>
              </a:defRPr>
            </a:lvl9pPr>
          </a:lstStyle>
          <a:p xmlns:a="http://schemas.openxmlformats.org/drawingml/2006/main">
            <a:pPr>
              <a:defRPr sz="1725" b="0">
                <a:solidFill>
                  <a:srgbClr val="B4C4CE"/>
                </a:solidFill>
                <a:latin typeface="Arial"/>
                <a:ea typeface="Arial"/>
                <a:cs typeface="Arial"/>
              </a:defRPr>
            </a:pPr>
            <a:r>
              <a:rPr sz="1725" b="0">
                <a:solidFill>
                  <a:srgbClr val="B4C4CE"/>
                </a:solidFill>
                <a:latin typeface="Arial"/>
                <a:ea typeface="Arial"/>
                <a:cs typeface="Arial"/>
              </a:rPr>
              <a:t>Jueves 29 de octubre de 2026 · 18:30–20:00 · Madrid</a:t>
            </a:r>
          </a:p>
        </p:txBody>
      </p:sp>
      <p:sp>
        <p:nvSpPr>
          <p:cNvPr id="8" name="Imagen + audio + memoria + herramientas + fuentes">
            <a:extLst xmlns:a="http://schemas.openxmlformats.org/drawingml/2006/main">
              <a:ext uri="{FF2B5EF4-FFF2-40B4-BE49-F238E27FC236}">
                <a16:creationId xmlns:a16="http://schemas.microsoft.com/office/drawing/2014/main" id="{3DFD4A9C-0EF5-4EB0-BD8C-F666CF3293BA}"/>
              </a:ext>
            </a:extLst>
          </p:cNvPr>
          <p:cNvSpPr>
            <a:spLocks xmlns:a="http://schemas.openxmlformats.org/drawingml/2006/main" noGrp="1"/>
          </p:cNvSpPr>
          <p:nvPr/>
        </p:nvSpPr>
        <p:spPr>
          <a:xfrm xmlns:a="http://schemas.openxmlformats.org/drawingml/2006/main">
            <a:off x="609600" y="62865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3DFBC"/>
                </a:solidFill>
                <a:latin typeface="Arial"/>
                <a:ea typeface="Arial"/>
                <a:cs typeface="Arial"/>
              </a:defRPr>
            </a:defPPr>
            <a:lvl1pPr>
              <a:defRPr sz="1425" b="0">
                <a:solidFill>
                  <a:srgbClr val="53DFBC"/>
                </a:solidFill>
                <a:latin typeface="Arial"/>
                <a:ea typeface="Arial"/>
                <a:cs typeface="Arial"/>
              </a:defRPr>
            </a:lvl1pPr>
            <a:lvl2pPr>
              <a:defRPr sz="1425" b="0">
                <a:solidFill>
                  <a:srgbClr val="53DFBC"/>
                </a:solidFill>
                <a:latin typeface="Arial"/>
                <a:ea typeface="Arial"/>
                <a:cs typeface="Arial"/>
              </a:defRPr>
            </a:lvl2pPr>
            <a:lvl3pPr>
              <a:defRPr sz="1425" b="0">
                <a:solidFill>
                  <a:srgbClr val="53DFBC"/>
                </a:solidFill>
                <a:latin typeface="Arial"/>
                <a:ea typeface="Arial"/>
                <a:cs typeface="Arial"/>
              </a:defRPr>
            </a:lvl3pPr>
            <a:lvl4pPr>
              <a:defRPr sz="1425" b="0">
                <a:solidFill>
                  <a:srgbClr val="53DFBC"/>
                </a:solidFill>
                <a:latin typeface="Arial"/>
                <a:ea typeface="Arial"/>
                <a:cs typeface="Arial"/>
              </a:defRPr>
            </a:lvl4pPr>
            <a:lvl5pPr>
              <a:defRPr sz="1425" b="0">
                <a:solidFill>
                  <a:srgbClr val="53DFBC"/>
                </a:solidFill>
                <a:latin typeface="Arial"/>
                <a:ea typeface="Arial"/>
                <a:cs typeface="Arial"/>
              </a:defRPr>
            </a:lvl5pPr>
            <a:lvl6pPr>
              <a:defRPr sz="1425" b="0">
                <a:solidFill>
                  <a:srgbClr val="53DFBC"/>
                </a:solidFill>
                <a:latin typeface="Arial"/>
                <a:ea typeface="Arial"/>
                <a:cs typeface="Arial"/>
              </a:defRPr>
            </a:lvl6pPr>
            <a:lvl7pPr>
              <a:defRPr sz="1425" b="0">
                <a:solidFill>
                  <a:srgbClr val="53DFBC"/>
                </a:solidFill>
                <a:latin typeface="Arial"/>
                <a:ea typeface="Arial"/>
                <a:cs typeface="Arial"/>
              </a:defRPr>
            </a:lvl7pPr>
            <a:lvl8pPr>
              <a:defRPr sz="1425" b="0">
                <a:solidFill>
                  <a:srgbClr val="53DFBC"/>
                </a:solidFill>
                <a:latin typeface="Arial"/>
                <a:ea typeface="Arial"/>
                <a:cs typeface="Arial"/>
              </a:defRPr>
            </a:lvl8pPr>
            <a:lvl9pPr>
              <a:defRPr sz="1425" b="0">
                <a:solidFill>
                  <a:srgbClr val="53DFBC"/>
                </a:solidFill>
                <a:latin typeface="Arial"/>
                <a:ea typeface="Arial"/>
                <a:cs typeface="Arial"/>
              </a:defRPr>
            </a:lvl9pPr>
          </a:lstStyle>
          <a:p xmlns:a="http://schemas.openxmlformats.org/drawingml/2006/main">
            <a:pPr>
              <a:defRPr sz="1425" b="0">
                <a:solidFill>
                  <a:srgbClr val="53DFBC"/>
                </a:solidFill>
                <a:latin typeface="Arial"/>
                <a:ea typeface="Arial"/>
                <a:cs typeface="Arial"/>
              </a:defRPr>
            </a:pPr>
            <a:r>
              <a:rPr sz="1425" b="0">
                <a:solidFill>
                  <a:srgbClr val="53DFBC"/>
                </a:solidFill>
                <a:latin typeface="Arial"/>
                <a:ea typeface="Arial"/>
                <a:cs typeface="Arial"/>
              </a:rPr>
              <a:t>Imagen + audio + memoria + herramientas + fuentes</a:t>
            </a:r>
          </a:p>
        </p:txBody>
      </p:sp>
    </p:spTree>
    <p:extLst>
      <p:ext uri="{BB962C8B-B14F-4D97-AF65-F5344CB8AC3E}">
        <p14:creationId xmlns:p14="http://schemas.microsoft.com/office/powerpoint/2010/main" val="280592082"/>
      </p:ext>
    </p:extLst>
  </p:cSld>
</p:sld>
</file>

<file path=ppt/slides/slide2.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1BDE645-4B3B-4F4F-9B7F-239897261A82}"/>
              </a:ext>
            </a:extLst>
          </p:cNvPr>
          <p:cNvPicPr>
            <a:picLocks xmlns:a="http://schemas.openxmlformats.org/drawingml/2006/main" noChangeAspect="1"/>
          </p:cNvPicPr>
          <p:nvPr/>
        </p:nvPicPr>
        <p:blipFill>
          <a:blip xmlns:r="http://schemas.openxmlformats.org/officeDocument/2006/relationships" xmlns:a="http://schemas.openxmlformats.org/drawingml/2006/main" r:embed="R1e1889e9f2d6415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Evaluación de la clase anterior">
            <a:extLst xmlns:a="http://schemas.openxmlformats.org/drawingml/2006/main">
              <a:ext uri="{FF2B5EF4-FFF2-40B4-BE49-F238E27FC236}">
                <a16:creationId xmlns:a16="http://schemas.microsoft.com/office/drawing/2014/main" id="{59118E17-D1BA-41D2-AAF1-FD2373D4DDFD}"/>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Evaluación de la clase anterior</a:t>
            </a:r>
          </a:p>
        </p:txBody>
      </p:sp>
      <p:sp>
        <p:nvSpPr>
          <p:cNvPr id="3" name="S11 · RAG avanzado y CRAG · martes 27 de octubre">
            <a:extLst xmlns:a="http://schemas.openxmlformats.org/drawingml/2006/main">
              <a:ext uri="{FF2B5EF4-FFF2-40B4-BE49-F238E27FC236}">
                <a16:creationId xmlns:a16="http://schemas.microsoft.com/office/drawing/2014/main" id="{C3B0373F-8FE7-4C5C-B60B-E3E1369159E8}"/>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S11 · RAG avanzado y CRAG · martes 27 de octubre</a:t>
            </a:r>
          </a:p>
        </p:txBody>
      </p:sp>
      <p:pic>
        <p:nvPicPr>
          <p:cNvPr id="4" name="">
            <a:extLst xmlns:a="http://schemas.openxmlformats.org/drawingml/2006/main">
              <a:ext uri="{FF2B5EF4-FFF2-40B4-BE49-F238E27FC236}">
                <a16:creationId xmlns:a16="http://schemas.microsoft.com/office/drawing/2014/main" id="{4A7BF025-366D-44EF-934D-C87D9D714927}"/>
              </a:ext>
            </a:extLst>
          </p:cNvPr>
          <p:cNvPicPr>
            <a:picLocks xmlns:a="http://schemas.openxmlformats.org/drawingml/2006/main" noChangeAspect="1"/>
          </p:cNvPicPr>
          <p:nvPr/>
        </p:nvPicPr>
        <p:blipFill>
          <a:blip xmlns:r="http://schemas.openxmlformats.org/officeDocument/2006/relationships" xmlns:a="http://schemas.openxmlformats.org/drawingml/2006/main" r:embed="Rdf4fdd9e84d04121"/>
          <a:stretch xmlns:a="http://schemas.openxmlformats.org/drawingml/2006/main"/>
        </p:blipFill>
        <p:spPr>
          <a:xfrm xmlns:a="http://schemas.openxmlformats.org/drawingml/2006/main">
            <a:off x="609600" y="2352675"/>
            <a:ext cx="3429000" cy="3429000"/>
          </a:xfrm>
          <a:prstGeom xmlns:a="http://schemas.openxmlformats.org/drawingml/2006/main" prst="rect">
            <a:avLst/>
          </a:prstGeom>
        </p:spPr>
      </p:pic>
      <p:sp>
        <p:nvSpPr>
          <p:cNvPr id="5" name="Encuesta AI Engineer">
            <a:extLst xmlns:a="http://schemas.openxmlformats.org/drawingml/2006/main">
              <a:ext uri="{FF2B5EF4-FFF2-40B4-BE49-F238E27FC236}">
                <a16:creationId xmlns:a16="http://schemas.microsoft.com/office/drawing/2014/main" id="{F0734E8A-ED5C-4363-9D2E-E14FE7CCB9A5}"/>
              </a:ext>
            </a:extLst>
          </p:cNvPr>
          <p:cNvSpPr>
            <a:spLocks xmlns:a="http://schemas.openxmlformats.org/drawingml/2006/main" noGrp="1"/>
          </p:cNvSpPr>
          <p:nvPr/>
        </p:nvSpPr>
        <p:spPr>
          <a:xfrm xmlns:a="http://schemas.openxmlformats.org/drawingml/2006/main">
            <a:off x="4572000" y="2428875"/>
            <a:ext cx="681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53DFBC"/>
                </a:solidFill>
                <a:latin typeface="Arial"/>
                <a:ea typeface="Arial"/>
                <a:cs typeface="Arial"/>
              </a:defRPr>
            </a:defPPr>
            <a:lvl1pPr>
              <a:defRPr sz="2250" b="1">
                <a:solidFill>
                  <a:srgbClr val="53DFBC"/>
                </a:solidFill>
                <a:latin typeface="Arial"/>
                <a:ea typeface="Arial"/>
                <a:cs typeface="Arial"/>
              </a:defRPr>
            </a:lvl1pPr>
            <a:lvl2pPr>
              <a:defRPr sz="2250" b="1">
                <a:solidFill>
                  <a:srgbClr val="53DFBC"/>
                </a:solidFill>
                <a:latin typeface="Arial"/>
                <a:ea typeface="Arial"/>
                <a:cs typeface="Arial"/>
              </a:defRPr>
            </a:lvl2pPr>
            <a:lvl3pPr>
              <a:defRPr sz="2250" b="1">
                <a:solidFill>
                  <a:srgbClr val="53DFBC"/>
                </a:solidFill>
                <a:latin typeface="Arial"/>
                <a:ea typeface="Arial"/>
                <a:cs typeface="Arial"/>
              </a:defRPr>
            </a:lvl3pPr>
            <a:lvl4pPr>
              <a:defRPr sz="2250" b="1">
                <a:solidFill>
                  <a:srgbClr val="53DFBC"/>
                </a:solidFill>
                <a:latin typeface="Arial"/>
                <a:ea typeface="Arial"/>
                <a:cs typeface="Arial"/>
              </a:defRPr>
            </a:lvl4pPr>
            <a:lvl5pPr>
              <a:defRPr sz="2250" b="1">
                <a:solidFill>
                  <a:srgbClr val="53DFBC"/>
                </a:solidFill>
                <a:latin typeface="Arial"/>
                <a:ea typeface="Arial"/>
                <a:cs typeface="Arial"/>
              </a:defRPr>
            </a:lvl5pPr>
            <a:lvl6pPr>
              <a:defRPr sz="2250" b="1">
                <a:solidFill>
                  <a:srgbClr val="53DFBC"/>
                </a:solidFill>
                <a:latin typeface="Arial"/>
                <a:ea typeface="Arial"/>
                <a:cs typeface="Arial"/>
              </a:defRPr>
            </a:lvl6pPr>
            <a:lvl7pPr>
              <a:defRPr sz="2250" b="1">
                <a:solidFill>
                  <a:srgbClr val="53DFBC"/>
                </a:solidFill>
                <a:latin typeface="Arial"/>
                <a:ea typeface="Arial"/>
                <a:cs typeface="Arial"/>
              </a:defRPr>
            </a:lvl7pPr>
            <a:lvl8pPr>
              <a:defRPr sz="2250" b="1">
                <a:solidFill>
                  <a:srgbClr val="53DFBC"/>
                </a:solidFill>
                <a:latin typeface="Arial"/>
                <a:ea typeface="Arial"/>
                <a:cs typeface="Arial"/>
              </a:defRPr>
            </a:lvl8pPr>
            <a:lvl9pPr>
              <a:defRPr sz="2250" b="1">
                <a:solidFill>
                  <a:srgbClr val="53DFBC"/>
                </a:solidFill>
                <a:latin typeface="Arial"/>
                <a:ea typeface="Arial"/>
                <a:cs typeface="Arial"/>
              </a:defRPr>
            </a:lvl9pPr>
          </a:lstStyle>
          <a:p xmlns:a="http://schemas.openxmlformats.org/drawingml/2006/main">
            <a:pPr>
              <a:defRPr sz="2250" b="1">
                <a:solidFill>
                  <a:srgbClr val="53DFBC"/>
                </a:solidFill>
                <a:latin typeface="Arial"/>
                <a:ea typeface="Arial"/>
                <a:cs typeface="Arial"/>
              </a:defRPr>
            </a:pPr>
            <a:r>
              <a:rPr sz="2250" b="1">
                <a:solidFill>
                  <a:srgbClr val="53DFBC"/>
                </a:solidFill>
                <a:latin typeface="Arial"/>
                <a:ea typeface="Arial"/>
                <a:cs typeface="Arial"/>
              </a:rPr>
              <a:t>Encuesta AI Engineer</a:t>
            </a:r>
          </a:p>
        </p:txBody>
      </p:sp>
      <p:sp>
        <p:nvSpPr>
          <p:cNvPr id="6" name="Escanea el QR y valora el ritmo, las explicaciones y la práctica">
            <a:extLst xmlns:a="http://schemas.openxmlformats.org/drawingml/2006/main">
              <a:ext uri="{FF2B5EF4-FFF2-40B4-BE49-F238E27FC236}">
                <a16:creationId xmlns:a16="http://schemas.microsoft.com/office/drawing/2014/main" id="{28C7C61B-6BDE-45E8-BCE8-E121D6B68E01}"/>
              </a:ext>
            </a:extLst>
          </p:cNvPr>
          <p:cNvSpPr>
            <a:spLocks xmlns:a="http://schemas.openxmlformats.org/drawingml/2006/main" noGrp="1"/>
          </p:cNvSpPr>
          <p:nvPr/>
        </p:nvSpPr>
        <p:spPr>
          <a:xfrm xmlns:a="http://schemas.openxmlformats.org/drawingml/2006/main">
            <a:off x="4572000" y="3000375"/>
            <a:ext cx="68199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Escanea el QR y valora el ritmo, las explicaciones y la práctica</a:t>
            </a:r>
          </a:p>
        </p:txBody>
      </p:sp>
      <p:sp>
        <p:nvSpPr>
          <p:cNvPr id="7" name="Mientras respondes">
            <a:extLst xmlns:a="http://schemas.openxmlformats.org/drawingml/2006/main">
              <a:ext uri="{FF2B5EF4-FFF2-40B4-BE49-F238E27FC236}">
                <a16:creationId xmlns:a16="http://schemas.microsoft.com/office/drawing/2014/main" id="{73C6AC49-FFA0-475E-8F1A-D9AAE6C55E13}"/>
              </a:ext>
            </a:extLst>
          </p:cNvPr>
          <p:cNvSpPr>
            <a:spLocks xmlns:a="http://schemas.openxmlformats.org/drawingml/2006/main" noGrp="1"/>
          </p:cNvSpPr>
          <p:nvPr/>
        </p:nvSpPr>
        <p:spPr>
          <a:xfrm xmlns:a="http://schemas.openxmlformats.org/drawingml/2006/main">
            <a:off x="4572000" y="4048125"/>
            <a:ext cx="681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53DFBC"/>
                </a:solidFill>
                <a:latin typeface="Arial"/>
                <a:ea typeface="Arial"/>
                <a:cs typeface="Arial"/>
              </a:defRPr>
            </a:defPPr>
            <a:lvl1pPr>
              <a:defRPr sz="2250" b="1">
                <a:solidFill>
                  <a:srgbClr val="53DFBC"/>
                </a:solidFill>
                <a:latin typeface="Arial"/>
                <a:ea typeface="Arial"/>
                <a:cs typeface="Arial"/>
              </a:defRPr>
            </a:lvl1pPr>
            <a:lvl2pPr>
              <a:defRPr sz="2250" b="1">
                <a:solidFill>
                  <a:srgbClr val="53DFBC"/>
                </a:solidFill>
                <a:latin typeface="Arial"/>
                <a:ea typeface="Arial"/>
                <a:cs typeface="Arial"/>
              </a:defRPr>
            </a:lvl2pPr>
            <a:lvl3pPr>
              <a:defRPr sz="2250" b="1">
                <a:solidFill>
                  <a:srgbClr val="53DFBC"/>
                </a:solidFill>
                <a:latin typeface="Arial"/>
                <a:ea typeface="Arial"/>
                <a:cs typeface="Arial"/>
              </a:defRPr>
            </a:lvl3pPr>
            <a:lvl4pPr>
              <a:defRPr sz="2250" b="1">
                <a:solidFill>
                  <a:srgbClr val="53DFBC"/>
                </a:solidFill>
                <a:latin typeface="Arial"/>
                <a:ea typeface="Arial"/>
                <a:cs typeface="Arial"/>
              </a:defRPr>
            </a:lvl4pPr>
            <a:lvl5pPr>
              <a:defRPr sz="2250" b="1">
                <a:solidFill>
                  <a:srgbClr val="53DFBC"/>
                </a:solidFill>
                <a:latin typeface="Arial"/>
                <a:ea typeface="Arial"/>
                <a:cs typeface="Arial"/>
              </a:defRPr>
            </a:lvl5pPr>
            <a:lvl6pPr>
              <a:defRPr sz="2250" b="1">
                <a:solidFill>
                  <a:srgbClr val="53DFBC"/>
                </a:solidFill>
                <a:latin typeface="Arial"/>
                <a:ea typeface="Arial"/>
                <a:cs typeface="Arial"/>
              </a:defRPr>
            </a:lvl6pPr>
            <a:lvl7pPr>
              <a:defRPr sz="2250" b="1">
                <a:solidFill>
                  <a:srgbClr val="53DFBC"/>
                </a:solidFill>
                <a:latin typeface="Arial"/>
                <a:ea typeface="Arial"/>
                <a:cs typeface="Arial"/>
              </a:defRPr>
            </a:lvl7pPr>
            <a:lvl8pPr>
              <a:defRPr sz="2250" b="1">
                <a:solidFill>
                  <a:srgbClr val="53DFBC"/>
                </a:solidFill>
                <a:latin typeface="Arial"/>
                <a:ea typeface="Arial"/>
                <a:cs typeface="Arial"/>
              </a:defRPr>
            </a:lvl8pPr>
            <a:lvl9pPr>
              <a:defRPr sz="2250" b="1">
                <a:solidFill>
                  <a:srgbClr val="53DFBC"/>
                </a:solidFill>
                <a:latin typeface="Arial"/>
                <a:ea typeface="Arial"/>
                <a:cs typeface="Arial"/>
              </a:defRPr>
            </a:lvl9pPr>
          </a:lstStyle>
          <a:p xmlns:a="http://schemas.openxmlformats.org/drawingml/2006/main">
            <a:pPr>
              <a:defRPr sz="2250" b="1">
                <a:solidFill>
                  <a:srgbClr val="53DFBC"/>
                </a:solidFill>
                <a:latin typeface="Arial"/>
                <a:ea typeface="Arial"/>
                <a:cs typeface="Arial"/>
              </a:defRPr>
            </a:pPr>
            <a:r>
              <a:rPr sz="2250" b="1">
                <a:solidFill>
                  <a:srgbClr val="53DFBC"/>
                </a:solidFill>
                <a:latin typeface="Arial"/>
                <a:ea typeface="Arial"/>
                <a:cs typeface="Arial"/>
              </a:rPr>
              <a:t>Mientras respondes</a:t>
            </a:r>
          </a:p>
        </p:txBody>
      </p:sp>
      <p:sp>
        <p:nvSpPr>
          <p:cNvPr id="8" name="Piensa en una pregunta que requiera información fuera del corpus">
            <a:extLst xmlns:a="http://schemas.openxmlformats.org/drawingml/2006/main">
              <a:ext uri="{FF2B5EF4-FFF2-40B4-BE49-F238E27FC236}">
                <a16:creationId xmlns:a16="http://schemas.microsoft.com/office/drawing/2014/main" id="{F8901D2E-C986-4617-95CC-7706AC18FF10}"/>
              </a:ext>
            </a:extLst>
          </p:cNvPr>
          <p:cNvSpPr>
            <a:spLocks xmlns:a="http://schemas.openxmlformats.org/drawingml/2006/main" noGrp="1"/>
          </p:cNvSpPr>
          <p:nvPr/>
        </p:nvSpPr>
        <p:spPr>
          <a:xfrm xmlns:a="http://schemas.openxmlformats.org/drawingml/2006/main">
            <a:off x="4572000" y="4619625"/>
            <a:ext cx="68199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Piensa en una pregunta que requiera información fuera del corpus</a:t>
            </a:r>
          </a:p>
        </p:txBody>
      </p:sp>
      <p:sp>
        <p:nvSpPr>
          <p:cNvPr id="9" name="thePower · AI Engineer · S12">
            <a:extLst xmlns:a="http://schemas.openxmlformats.org/drawingml/2006/main">
              <a:ext uri="{FF2B5EF4-FFF2-40B4-BE49-F238E27FC236}">
                <a16:creationId xmlns:a16="http://schemas.microsoft.com/office/drawing/2014/main" id="{129971AE-FAE5-45DC-A300-853210628C76}"/>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0" name="2">
            <a:extLst xmlns:a="http://schemas.openxmlformats.org/drawingml/2006/main">
              <a:ext uri="{FF2B5EF4-FFF2-40B4-BE49-F238E27FC236}">
                <a16:creationId xmlns:a16="http://schemas.microsoft.com/office/drawing/2014/main" id="{49180D6C-DA68-429D-B83C-ADEE23A04980}"/>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2</a:t>
            </a:r>
          </a:p>
        </p:txBody>
      </p:sp>
    </p:spTree>
    <p:extLst>
      <p:ext uri="{BB962C8B-B14F-4D97-AF65-F5344CB8AC3E}">
        <p14:creationId xmlns:p14="http://schemas.microsoft.com/office/powerpoint/2010/main" val="1442918648"/>
      </p:ext>
    </p:extLst>
  </p:cSld>
</p:sld>
</file>

<file path=ppt/slides/slide3.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EFD338A-E912-493F-9430-9FEA0190A7C5}"/>
              </a:ext>
            </a:extLst>
          </p:cNvPr>
          <p:cNvPicPr>
            <a:picLocks xmlns:a="http://schemas.openxmlformats.org/drawingml/2006/main" noChangeAspect="1"/>
          </p:cNvPicPr>
          <p:nvPr/>
        </p:nvPicPr>
        <p:blipFill>
          <a:blip xmlns:r="http://schemas.openxmlformats.org/officeDocument/2006/relationships" xmlns:a="http://schemas.openxmlformats.org/drawingml/2006/main" r:embed="Rd15ca319f91b44d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Objetivo de la sesión">
            <a:extLst xmlns:a="http://schemas.openxmlformats.org/drawingml/2006/main">
              <a:ext uri="{FF2B5EF4-FFF2-40B4-BE49-F238E27FC236}">
                <a16:creationId xmlns:a16="http://schemas.microsoft.com/office/drawing/2014/main" id="{725F7E8C-0642-44D4-9462-123DE52DC446}"/>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Objetivo de la sesión</a:t>
            </a:r>
          </a:p>
        </p:txBody>
      </p:sp>
      <p:sp>
        <p:nvSpPr>
          <p:cNvPr id="3" name="Un grafo de chatbot con memoria, herramientas e investigación">
            <a:extLst xmlns:a="http://schemas.openxmlformats.org/drawingml/2006/main">
              <a:ext uri="{FF2B5EF4-FFF2-40B4-BE49-F238E27FC236}">
                <a16:creationId xmlns:a16="http://schemas.microsoft.com/office/drawing/2014/main" id="{BF0EFA59-3426-4525-A124-E5B09F1E1E17}"/>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Un grafo de chatbot con memoria, herramientas e investigación</a:t>
            </a:r>
          </a:p>
        </p:txBody>
      </p:sp>
      <p:sp>
        <p:nvSpPr>
          <p:cNvPr id="4" name="Entrada">
            <a:extLst xmlns:a="http://schemas.openxmlformats.org/drawingml/2006/main">
              <a:ext uri="{FF2B5EF4-FFF2-40B4-BE49-F238E27FC236}">
                <a16:creationId xmlns:a16="http://schemas.microsoft.com/office/drawing/2014/main" id="{489C02DF-1955-4584-B5DC-4627F7110129}"/>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Entrada</a:t>
            </a:r>
          </a:p>
        </p:txBody>
      </p:sp>
      <p:sp>
        <p:nvSpPr>
          <p:cNvPr id="5" name="Una imagen y un audio aportan información complementaria">
            <a:extLst xmlns:a="http://schemas.openxmlformats.org/drawingml/2006/main">
              <a:ext uri="{FF2B5EF4-FFF2-40B4-BE49-F238E27FC236}">
                <a16:creationId xmlns:a16="http://schemas.microsoft.com/office/drawing/2014/main" id="{7BC08F84-DEDC-4E2A-A712-83C607A827B5}"/>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Una imagen y un audio aportan información complementaria</a:t>
            </a:r>
          </a:p>
        </p:txBody>
      </p:sp>
      <p:sp>
        <p:nvSpPr>
          <p:cNvPr id="6" name="Decisión">
            <a:extLst xmlns:a="http://schemas.openxmlformats.org/drawingml/2006/main">
              <a:ext uri="{FF2B5EF4-FFF2-40B4-BE49-F238E27FC236}">
                <a16:creationId xmlns:a16="http://schemas.microsoft.com/office/drawing/2014/main" id="{C7281733-2E21-4498-826C-4C78B2FAE32F}"/>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Decisión</a:t>
            </a:r>
          </a:p>
        </p:txBody>
      </p:sp>
      <p:sp>
        <p:nvSpPr>
          <p:cNvPr id="7" name="El agente elige respuesta directa, herramienta o investigación">
            <a:extLst xmlns:a="http://schemas.openxmlformats.org/drawingml/2006/main">
              <a:ext uri="{FF2B5EF4-FFF2-40B4-BE49-F238E27FC236}">
                <a16:creationId xmlns:a16="http://schemas.microsoft.com/office/drawing/2014/main" id="{F6A2A93E-1C00-45E5-B3A1-3B66A3FF01BE}"/>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El agente elige respuesta directa, herramienta o investigación</a:t>
            </a:r>
          </a:p>
        </p:txBody>
      </p:sp>
      <p:sp>
        <p:nvSpPr>
          <p:cNvPr id="8" name="Salida">
            <a:extLst xmlns:a="http://schemas.openxmlformats.org/drawingml/2006/main">
              <a:ext uri="{FF2B5EF4-FFF2-40B4-BE49-F238E27FC236}">
                <a16:creationId xmlns:a16="http://schemas.microsoft.com/office/drawing/2014/main" id="{E9882942-1796-44C4-9AD7-9AA5A6A6E8E2}"/>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Salida</a:t>
            </a:r>
          </a:p>
        </p:txBody>
      </p:sp>
      <p:sp>
        <p:nvSpPr>
          <p:cNvPr id="9" name="Un informe distingue lo comprobado de lo que falta">
            <a:extLst xmlns:a="http://schemas.openxmlformats.org/drawingml/2006/main">
              <a:ext uri="{FF2B5EF4-FFF2-40B4-BE49-F238E27FC236}">
                <a16:creationId xmlns:a16="http://schemas.microsoft.com/office/drawing/2014/main" id="{447F72CD-7300-4BE0-A6D7-F6F40B2903BD}"/>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Un informe distingue lo comprobado de lo que falta</a:t>
            </a:r>
          </a:p>
        </p:txBody>
      </p:sp>
      <p:sp>
        <p:nvSpPr>
          <p:cNvPr id="10" name="Continuidad">
            <a:extLst xmlns:a="http://schemas.openxmlformats.org/drawingml/2006/main">
              <a:ext uri="{FF2B5EF4-FFF2-40B4-BE49-F238E27FC236}">
                <a16:creationId xmlns:a16="http://schemas.microsoft.com/office/drawing/2014/main" id="{15491EF2-B033-4731-992F-70A4AB9756F6}"/>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Continuidad</a:t>
            </a:r>
          </a:p>
        </p:txBody>
      </p:sp>
      <p:sp>
        <p:nvSpPr>
          <p:cNvPr id="11" name="La conversación conserva contexto y puede producir voz">
            <a:extLst xmlns:a="http://schemas.openxmlformats.org/drawingml/2006/main">
              <a:ext uri="{FF2B5EF4-FFF2-40B4-BE49-F238E27FC236}">
                <a16:creationId xmlns:a16="http://schemas.microsoft.com/office/drawing/2014/main" id="{66444912-D279-4243-874E-B9FB4B5970D0}"/>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La conversación conserva contexto y puede producir voz</a:t>
            </a:r>
          </a:p>
        </p:txBody>
      </p:sp>
      <p:sp>
        <p:nvSpPr>
          <p:cNvPr id="12" name="60 minutos de conceptos y 30 de aplicación, evidencia y ejercicio">
            <a:extLst xmlns:a="http://schemas.openxmlformats.org/drawingml/2006/main">
              <a:ext uri="{FF2B5EF4-FFF2-40B4-BE49-F238E27FC236}">
                <a16:creationId xmlns:a16="http://schemas.microsoft.com/office/drawing/2014/main" id="{18100DD3-D8C6-434D-91C7-DA795EB52915}"/>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60 minutos de conceptos y 30 de aplicación, evidencia y ejercicio</a:t>
            </a:r>
          </a:p>
        </p:txBody>
      </p:sp>
      <p:sp>
        <p:nvSpPr>
          <p:cNvPr id="13" name="thePower · AI Engineer · S12">
            <a:extLst xmlns:a="http://schemas.openxmlformats.org/drawingml/2006/main">
              <a:ext uri="{FF2B5EF4-FFF2-40B4-BE49-F238E27FC236}">
                <a16:creationId xmlns:a16="http://schemas.microsoft.com/office/drawing/2014/main" id="{992B43A3-B693-43F8-894C-AAC4FE427836}"/>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3">
            <a:extLst xmlns:a="http://schemas.openxmlformats.org/drawingml/2006/main">
              <a:ext uri="{FF2B5EF4-FFF2-40B4-BE49-F238E27FC236}">
                <a16:creationId xmlns:a16="http://schemas.microsoft.com/office/drawing/2014/main" id="{B0BC035D-B15A-4450-89DF-AA6AADA49012}"/>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3</a:t>
            </a:r>
          </a:p>
        </p:txBody>
      </p:sp>
    </p:spTree>
    <p:extLst>
      <p:ext uri="{BB962C8B-B14F-4D97-AF65-F5344CB8AC3E}">
        <p14:creationId xmlns:p14="http://schemas.microsoft.com/office/powerpoint/2010/main" val="1711207237"/>
      </p:ext>
    </p:extLst>
  </p:cSld>
</p:sld>
</file>

<file path=ppt/slides/slide4.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7F65A50-0509-412D-BB32-41DFB9B27072}"/>
              </a:ext>
            </a:extLst>
          </p:cNvPr>
          <p:cNvPicPr>
            <a:picLocks xmlns:a="http://schemas.openxmlformats.org/drawingml/2006/main" noChangeAspect="1"/>
          </p:cNvPicPr>
          <p:nvPr/>
        </p:nvPicPr>
        <p:blipFill>
          <a:blip xmlns:r="http://schemas.openxmlformats.org/officeDocument/2006/relationships" xmlns:a="http://schemas.openxmlformats.org/drawingml/2006/main" r:embed="R536b871956ef485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Respuesta directa, RAG, CRAG e investigación">
            <a:extLst xmlns:a="http://schemas.openxmlformats.org/drawingml/2006/main">
              <a:ext uri="{FF2B5EF4-FFF2-40B4-BE49-F238E27FC236}">
                <a16:creationId xmlns:a16="http://schemas.microsoft.com/office/drawing/2014/main" id="{3D5801D2-EA03-48EE-A747-9DE26CF08F63}"/>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Respuesta directa, RAG, CRAG e investigación</a:t>
            </a:r>
          </a:p>
        </p:txBody>
      </p:sp>
      <p:graphicFrame>
        <p:nvGraphicFramePr>
          <p:cNvPr id="3" name="">
            <a:extLst xmlns:a="http://schemas.openxmlformats.org/drawingml/2006/main">
              <a:ext uri="{FF2B5EF4-FFF2-40B4-BE49-F238E27FC236}">
                <a16:creationId xmlns:a16="http://schemas.microsoft.com/office/drawing/2014/main" id="{2909DC68-851B-4566-B075-5DE2C768F3B0}"/>
              </a:ext>
            </a:extLst>
          </p:cNvPr>
          <p:cNvGraphicFramePr/>
          <p:nvPr/>
        </p:nvGraphicFramePr>
        <p:xfrm>
          <a:off xmlns:a="http://schemas.openxmlformats.org/drawingml/2006/main" x="609600" y="1752600"/>
          <a:ext xmlns:a="http://schemas.openxmlformats.org/drawingml/2006/main" cx="10972800" cy="3943350"/>
        </p:xfrm>
        <a:graphic xmlns:a="http://schemas.openxmlformats.org/drawingml/2006/main">
          <a:graphicData uri="http://schemas.openxmlformats.org/drawingml/2006/table">
            <a:tbl>
              <a:tblPr/>
              <a:tblGrid>
                <a:gridCol w="2667000"/>
                <a:gridCol w="4095750"/>
                <a:gridCol w="4210050"/>
              </a:tblGrid>
              <a:tr h="788670">
                <a:tc>
                  <a:txBody>
                    <a:bodyPr lIns="133350" tIns="123825" rIns="152400" bIns="76200">
                      <a:noAutofit/>
                    </a:bodyPr>
                    <a:lstStyle/>
                    <a:p>
                      <a:r>
                        <a:rPr sz="1725" b="1">
                          <a:solidFill>
                            <a:srgbClr val="53DFBC"/>
                          </a:solidFill>
                          <a:latin typeface="Arial"/>
                          <a:ea typeface="Arial"/>
                          <a:cs typeface="Arial"/>
                        </a:rPr>
                        <a:t>Recorrido</a:t>
                      </a:r>
                    </a:p>
                  </a:txBody>
                  <a:tcPr marL="91440" marR="91440" marT="45720" marB="45720" anchor="ctr">
                    <a:lnL w="0">
                      <a:noFill/>
                    </a:lnL>
                    <a:lnR w="0">
                      <a:noFill/>
                    </a:lnR>
                    <a:lnT w="0">
                      <a:noFill/>
                    </a:lnT>
                    <a:lnB w="0">
                      <a:noFill/>
                    </a:lnB>
                    <a:solidFill>
                      <a:srgbClr val="17333E"/>
                    </a:solidFill>
                  </a:tcPr>
                </a:tc>
                <a:tc>
                  <a:txBody>
                    <a:bodyPr lIns="133350" tIns="123825" rIns="152400" bIns="76200">
                      <a:noAutofit/>
                    </a:bodyPr>
                    <a:lstStyle/>
                    <a:p>
                      <a:r>
                        <a:rPr sz="1725" b="1">
                          <a:solidFill>
                            <a:srgbClr val="53DFBC"/>
                          </a:solidFill>
                          <a:latin typeface="Arial"/>
                          <a:ea typeface="Arial"/>
                          <a:cs typeface="Arial"/>
                        </a:rPr>
                        <a:t>Información que utiliza</a:t>
                      </a:r>
                    </a:p>
                  </a:txBody>
                  <a:tcPr marL="91440" marR="91440" marT="45720" marB="45720" anchor="ctr">
                    <a:lnR w="0">
                      <a:noFill/>
                    </a:lnR>
                    <a:lnT w="0">
                      <a:noFill/>
                    </a:lnT>
                    <a:lnB w="0">
                      <a:noFill/>
                    </a:lnB>
                    <a:solidFill>
                      <a:srgbClr val="17333E"/>
                    </a:solidFill>
                  </a:tcPr>
                </a:tc>
                <a:tc>
                  <a:txBody>
                    <a:bodyPr lIns="133350" tIns="123825" rIns="152400" bIns="76200">
                      <a:noAutofit/>
                    </a:bodyPr>
                    <a:lstStyle/>
                    <a:p>
                      <a:r>
                        <a:rPr sz="1725" b="1">
                          <a:solidFill>
                            <a:srgbClr val="53DFBC"/>
                          </a:solidFill>
                          <a:latin typeface="Arial"/>
                          <a:ea typeface="Arial"/>
                          <a:cs typeface="Arial"/>
                        </a:rPr>
                        <a:t>Cuándo encaja</a:t>
                      </a:r>
                    </a:p>
                  </a:txBody>
                  <a:tcPr marL="91440" marR="91440" marT="45720" marB="45720" anchor="ctr">
                    <a:lnR w="0">
                      <a:noFill/>
                    </a:lnR>
                    <a:lnT w="0">
                      <a:noFill/>
                    </a:lnT>
                    <a:lnB w="0">
                      <a:noFill/>
                    </a:lnB>
                    <a:solidFill>
                      <a:srgbClr val="17333E"/>
                    </a:solidFill>
                  </a:tcPr>
                </a:tc>
              </a:tr>
              <a:tr h="788670">
                <a:tc>
                  <a:txBody>
                    <a:bodyPr lIns="133350" tIns="123825" rIns="152400" bIns="76200">
                      <a:noAutofit/>
                    </a:bodyPr>
                    <a:lstStyle/>
                    <a:p>
                      <a:r>
                        <a:rPr sz="1875" b="1">
                          <a:solidFill>
                            <a:srgbClr val="53DFBC"/>
                          </a:solidFill>
                          <a:latin typeface="Arial"/>
                          <a:ea typeface="Arial"/>
                          <a:cs typeface="Arial"/>
                        </a:rPr>
                        <a:t>Respuesta directa</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La petición y el contexto disponible</a:t>
                      </a:r>
                    </a:p>
                  </a:txBody>
                  <a:tcPr marL="91440" marR="91440" marT="45720" marB="45720" anchor="ctr">
                    <a:lnR w="0">
                      <a:noFill/>
                    </a:lnR>
                    <a:lnB w="0">
                      <a:noFill/>
                    </a:lnB>
                    <a:noFill/>
                  </a:tcPr>
                </a:tc>
                <a:tc>
                  <a:txBody>
                    <a:bodyPr lIns="133350" tIns="123825" rIns="152400" bIns="76200">
                      <a:noAutofit/>
                    </a:bodyPr>
                    <a:lstStyle/>
                    <a:p>
                      <a:r>
                        <a:rPr sz="1875" b="0">
                          <a:solidFill>
                            <a:srgbClr val="F4F7FA"/>
                          </a:solidFill>
                          <a:latin typeface="Arial"/>
                          <a:ea typeface="Arial"/>
                          <a:cs typeface="Arial"/>
                        </a:rPr>
                        <a:t>La tarea no necesita nuevas fuentes</a:t>
                      </a:r>
                    </a:p>
                  </a:txBody>
                  <a:tcPr marL="91440" marR="91440" marT="45720" marB="45720" anchor="ctr">
                    <a:lnR w="0">
                      <a:noFill/>
                    </a:lnR>
                    <a:lnB w="0">
                      <a:noFill/>
                    </a:lnB>
                    <a:noFill/>
                  </a:tcPr>
                </a:tc>
              </a:tr>
              <a:tr h="788670">
                <a:tc>
                  <a:txBody>
                    <a:bodyPr lIns="133350" tIns="123825" rIns="152400" bIns="76200">
                      <a:noAutofit/>
                    </a:bodyPr>
                    <a:lstStyle/>
                    <a:p>
                      <a:r>
                        <a:rPr sz="1875" b="1">
                          <a:solidFill>
                            <a:srgbClr val="53DFBC"/>
                          </a:solidFill>
                          <a:latin typeface="Arial"/>
                          <a:ea typeface="Arial"/>
                          <a:cs typeface="Arial"/>
                        </a:rPr>
                        <a:t>RAG</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Documentos de un corpus</a:t>
                      </a:r>
                    </a:p>
                  </a:txBody>
                  <a:tcPr marL="91440" marR="91440" marT="45720" marB="45720" anchor="ctr">
                    <a:lnR w="0">
                      <a:noFill/>
                    </a:lnR>
                    <a:lnB w="0">
                      <a:noFill/>
                    </a:lnB>
                    <a:noFill/>
                  </a:tcPr>
                </a:tc>
                <a:tc>
                  <a:txBody>
                    <a:bodyPr lIns="133350" tIns="123825" rIns="152400" bIns="76200">
                      <a:noAutofit/>
                    </a:bodyPr>
                    <a:lstStyle/>
                    <a:p>
                      <a:r>
                        <a:rPr sz="1875" b="0">
                          <a:solidFill>
                            <a:srgbClr val="F4F7FA"/>
                          </a:solidFill>
                          <a:latin typeface="Arial"/>
                          <a:ea typeface="Arial"/>
                          <a:cs typeface="Arial"/>
                        </a:rPr>
                        <a:t>La respuesta está en la documentación propia</a:t>
                      </a:r>
                    </a:p>
                  </a:txBody>
                  <a:tcPr marL="91440" marR="91440" marT="45720" marB="45720" anchor="ctr">
                    <a:lnR w="0">
                      <a:noFill/>
                    </a:lnR>
                    <a:lnB w="0">
                      <a:noFill/>
                    </a:lnB>
                    <a:noFill/>
                  </a:tcPr>
                </a:tc>
              </a:tr>
              <a:tr h="788670">
                <a:tc>
                  <a:txBody>
                    <a:bodyPr lIns="133350" tIns="123825" rIns="152400" bIns="76200">
                      <a:noAutofit/>
                    </a:bodyPr>
                    <a:lstStyle/>
                    <a:p>
                      <a:r>
                        <a:rPr sz="1875" b="1">
                          <a:solidFill>
                            <a:srgbClr val="53DFBC"/>
                          </a:solidFill>
                          <a:latin typeface="Arial"/>
                          <a:ea typeface="Arial"/>
                          <a:cs typeface="Arial"/>
                        </a:rPr>
                        <a:t>CRAG</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Corpus y evaluación de lo recuperado</a:t>
                      </a:r>
                    </a:p>
                  </a:txBody>
                  <a:tcPr marL="91440" marR="91440" marT="45720" marB="45720" anchor="ctr">
                    <a:lnR w="0">
                      <a:noFill/>
                    </a:lnR>
                    <a:lnB w="0">
                      <a:noFill/>
                    </a:lnB>
                    <a:noFill/>
                  </a:tcPr>
                </a:tc>
                <a:tc>
                  <a:txBody>
                    <a:bodyPr lIns="133350" tIns="123825" rIns="152400" bIns="76200">
                      <a:noAutofit/>
                    </a:bodyPr>
                    <a:lstStyle/>
                    <a:p>
                      <a:r>
                        <a:rPr sz="1875" b="0">
                          <a:solidFill>
                            <a:srgbClr val="F4F7FA"/>
                          </a:solidFill>
                          <a:latin typeface="Arial"/>
                          <a:ea typeface="Arial"/>
                          <a:cs typeface="Arial"/>
                        </a:rPr>
                        <a:t>La primera recuperación es insuficiente</a:t>
                      </a:r>
                    </a:p>
                  </a:txBody>
                  <a:tcPr marL="91440" marR="91440" marT="45720" marB="45720" anchor="ctr">
                    <a:lnR w="0">
                      <a:noFill/>
                    </a:lnR>
                    <a:lnB w="0">
                      <a:noFill/>
                    </a:lnB>
                    <a:noFill/>
                  </a:tcPr>
                </a:tc>
              </a:tr>
              <a:tr h="788670">
                <a:tc>
                  <a:txBody>
                    <a:bodyPr lIns="133350" tIns="123825" rIns="152400" bIns="76200">
                      <a:noAutofit/>
                    </a:bodyPr>
                    <a:lstStyle/>
                    <a:p>
                      <a:r>
                        <a:rPr sz="1875" b="1">
                          <a:solidFill>
                            <a:srgbClr val="53DFBC"/>
                          </a:solidFill>
                          <a:latin typeface="Arial"/>
                          <a:ea typeface="Arial"/>
                          <a:cs typeface="Arial"/>
                        </a:rPr>
                        <a:t>Investigación</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Subpreguntas y fuentes que se consultan</a:t>
                      </a:r>
                    </a:p>
                  </a:txBody>
                  <a:tcPr marL="91440" marR="91440" marT="45720" marB="45720" anchor="ctr">
                    <a:lnR w="0">
                      <a:noFill/>
                    </a:lnR>
                    <a:lnB w="0">
                      <a:noFill/>
                    </a:lnB>
                    <a:noFill/>
                  </a:tcPr>
                </a:tc>
                <a:tc>
                  <a:txBody>
                    <a:bodyPr lIns="133350" tIns="123825" rIns="152400" bIns="76200">
                      <a:noAutofit/>
                    </a:bodyPr>
                    <a:lstStyle/>
                    <a:p>
                      <a:r>
                        <a:rPr sz="1875" b="0">
                          <a:solidFill>
                            <a:srgbClr val="F4F7FA"/>
                          </a:solidFill>
                          <a:latin typeface="Arial"/>
                          <a:ea typeface="Arial"/>
                          <a:cs typeface="Arial"/>
                        </a:rPr>
                        <a:t>Hay que reunir información que falta</a:t>
                      </a:r>
                    </a:p>
                  </a:txBody>
                  <a:tcPr marL="91440" marR="91440" marT="45720" marB="45720" anchor="ctr">
                    <a:lnR w="0">
                      <a:noFill/>
                    </a:lnR>
                    <a:lnB w="0">
                      <a:noFill/>
                    </a:lnB>
                    <a:noFill/>
                  </a:tcPr>
                </a:tc>
              </a:tr>
            </a:tbl>
          </a:graphicData>
        </a:graphic>
      </p:graphicFrame>
      <p:sp>
        <p:nvSpPr>
          <p:cNvPr id="4" name="La política de búsqueda y sus límites forman parte del diseño">
            <a:extLst xmlns:a="http://schemas.openxmlformats.org/drawingml/2006/main">
              <a:ext uri="{FF2B5EF4-FFF2-40B4-BE49-F238E27FC236}">
                <a16:creationId xmlns:a16="http://schemas.microsoft.com/office/drawing/2014/main" id="{B316EA87-38D1-44C0-8997-E94D84937279}"/>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La política de búsqueda y sus límites forman parte del diseño</a:t>
            </a:r>
          </a:p>
        </p:txBody>
      </p:sp>
      <p:sp>
        <p:nvSpPr>
          <p:cNvPr id="5" name="thePower · AI Engineer · S12">
            <a:extLst xmlns:a="http://schemas.openxmlformats.org/drawingml/2006/main">
              <a:ext uri="{FF2B5EF4-FFF2-40B4-BE49-F238E27FC236}">
                <a16:creationId xmlns:a16="http://schemas.microsoft.com/office/drawing/2014/main" id="{EC55C487-5709-4850-A59F-D9BDFC22F9DF}"/>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6" name="4">
            <a:extLst xmlns:a="http://schemas.openxmlformats.org/drawingml/2006/main">
              <a:ext uri="{FF2B5EF4-FFF2-40B4-BE49-F238E27FC236}">
                <a16:creationId xmlns:a16="http://schemas.microsoft.com/office/drawing/2014/main" id="{8DD4C2A4-D61F-44A9-9708-48A5A976E3D3}"/>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4</a:t>
            </a:r>
          </a:p>
        </p:txBody>
      </p:sp>
    </p:spTree>
    <p:extLst>
      <p:ext uri="{BB962C8B-B14F-4D97-AF65-F5344CB8AC3E}">
        <p14:creationId xmlns:p14="http://schemas.microsoft.com/office/powerpoint/2010/main" val="330869312"/>
      </p:ext>
    </p:extLst>
  </p:cSld>
</p:sld>
</file>

<file path=ppt/slides/slide5.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CE199DF-DBB5-4E68-9EE4-49145DA95C1B}"/>
              </a:ext>
            </a:extLst>
          </p:cNvPr>
          <p:cNvPicPr>
            <a:picLocks xmlns:a="http://schemas.openxmlformats.org/drawingml/2006/main" noChangeAspect="1"/>
          </p:cNvPicPr>
          <p:nvPr/>
        </p:nvPicPr>
        <p:blipFill>
          <a:blip xmlns:r="http://schemas.openxmlformats.org/officeDocument/2006/relationships" xmlns:a="http://schemas.openxmlformats.org/drawingml/2006/main" r:embed="R21a98f4c3039410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Multimodalidad">
            <a:extLst xmlns:a="http://schemas.openxmlformats.org/drawingml/2006/main">
              <a:ext uri="{FF2B5EF4-FFF2-40B4-BE49-F238E27FC236}">
                <a16:creationId xmlns:a16="http://schemas.microsoft.com/office/drawing/2014/main" id="{E2BC03DC-CDA4-45F8-9E81-C49513A405FF}"/>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Multimodalidad</a:t>
            </a:r>
          </a:p>
        </p:txBody>
      </p:sp>
      <p:sp>
        <p:nvSpPr>
          <p:cNvPr id="3" name="El sistema trabaja con más de un tipo de información">
            <a:extLst xmlns:a="http://schemas.openxmlformats.org/drawingml/2006/main">
              <a:ext uri="{FF2B5EF4-FFF2-40B4-BE49-F238E27FC236}">
                <a16:creationId xmlns:a16="http://schemas.microsoft.com/office/drawing/2014/main" id="{FC059CB0-8754-4AD2-99E2-8302E4478340}"/>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El sistema trabaja con más de un tipo de información</a:t>
            </a:r>
          </a:p>
        </p:txBody>
      </p:sp>
      <p:sp>
        <p:nvSpPr>
          <p:cNvPr id="4" name="Texto">
            <a:extLst xmlns:a="http://schemas.openxmlformats.org/drawingml/2006/main">
              <a:ext uri="{FF2B5EF4-FFF2-40B4-BE49-F238E27FC236}">
                <a16:creationId xmlns:a16="http://schemas.microsoft.com/office/drawing/2014/main" id="{B3F401B9-A5E4-4306-A665-A05584D45D89}"/>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Texto</a:t>
            </a:r>
          </a:p>
        </p:txBody>
      </p:sp>
      <p:sp>
        <p:nvSpPr>
          <p:cNvPr id="5" name="Pregunta, instrucciones y contexto de la conversación">
            <a:extLst xmlns:a="http://schemas.openxmlformats.org/drawingml/2006/main">
              <a:ext uri="{FF2B5EF4-FFF2-40B4-BE49-F238E27FC236}">
                <a16:creationId xmlns:a16="http://schemas.microsoft.com/office/drawing/2014/main" id="{FC5E324A-2201-4DAA-B213-B67D2670D60F}"/>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Pregunta, instrucciones y contexto de la conversación</a:t>
            </a:r>
          </a:p>
        </p:txBody>
      </p:sp>
      <p:sp>
        <p:nvSpPr>
          <p:cNvPr id="6" name="Imagen">
            <a:extLst xmlns:a="http://schemas.openxmlformats.org/drawingml/2006/main">
              <a:ext uri="{FF2B5EF4-FFF2-40B4-BE49-F238E27FC236}">
                <a16:creationId xmlns:a16="http://schemas.microsoft.com/office/drawing/2014/main" id="{12C02904-161C-46C8-A32B-70EDCFD3D4F0}"/>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Imagen</a:t>
            </a:r>
          </a:p>
        </p:txBody>
      </p:sp>
      <p:sp>
        <p:nvSpPr>
          <p:cNvPr id="7" name="Contenido visual, texto visible y relaciones espaciales">
            <a:extLst xmlns:a="http://schemas.openxmlformats.org/drawingml/2006/main">
              <a:ext uri="{FF2B5EF4-FFF2-40B4-BE49-F238E27FC236}">
                <a16:creationId xmlns:a16="http://schemas.microsoft.com/office/drawing/2014/main" id="{41C3FD93-1C2B-43A2-AE27-58EB8C278DDC}"/>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Contenido visual, texto visible y relaciones espaciales</a:t>
            </a:r>
          </a:p>
        </p:txBody>
      </p:sp>
      <p:sp>
        <p:nvSpPr>
          <p:cNvPr id="8" name="Audio">
            <a:extLst xmlns:a="http://schemas.openxmlformats.org/drawingml/2006/main">
              <a:ext uri="{FF2B5EF4-FFF2-40B4-BE49-F238E27FC236}">
                <a16:creationId xmlns:a16="http://schemas.microsoft.com/office/drawing/2014/main" id="{9649D189-D007-4D92-A137-2A879AAF83AB}"/>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Audio</a:t>
            </a:r>
          </a:p>
        </p:txBody>
      </p:sp>
      <p:sp>
        <p:nvSpPr>
          <p:cNvPr id="9" name="Petición hablada que podemos transcribir">
            <a:extLst xmlns:a="http://schemas.openxmlformats.org/drawingml/2006/main">
              <a:ext uri="{FF2B5EF4-FFF2-40B4-BE49-F238E27FC236}">
                <a16:creationId xmlns:a16="http://schemas.microsoft.com/office/drawing/2014/main" id="{D9B0F18C-2C95-4725-8D34-B16EF3542104}"/>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Petición hablada que podemos transcribir</a:t>
            </a:r>
          </a:p>
        </p:txBody>
      </p:sp>
      <p:sp>
        <p:nvSpPr>
          <p:cNvPr id="10" name="Voz de salida">
            <a:extLst xmlns:a="http://schemas.openxmlformats.org/drawingml/2006/main">
              <a:ext uri="{FF2B5EF4-FFF2-40B4-BE49-F238E27FC236}">
                <a16:creationId xmlns:a16="http://schemas.microsoft.com/office/drawing/2014/main" id="{AA5AF1BD-F55E-4F04-9626-0B1A4C0ED630}"/>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Voz de salida</a:t>
            </a:r>
          </a:p>
        </p:txBody>
      </p:sp>
      <p:sp>
        <p:nvSpPr>
          <p:cNvPr id="11" name="Lectura de una respuesta seleccionada">
            <a:extLst xmlns:a="http://schemas.openxmlformats.org/drawingml/2006/main">
              <a:ext uri="{FF2B5EF4-FFF2-40B4-BE49-F238E27FC236}">
                <a16:creationId xmlns:a16="http://schemas.microsoft.com/office/drawing/2014/main" id="{A7792DE5-C2B7-453E-86D0-10092DFA7551}"/>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Lectura de una respuesta seleccionada</a:t>
            </a:r>
          </a:p>
        </p:txBody>
      </p:sp>
      <p:sp>
        <p:nvSpPr>
          <p:cNvPr id="12" name="Cada modalidad conserva su origen y sus límites">
            <a:extLst xmlns:a="http://schemas.openxmlformats.org/drawingml/2006/main">
              <a:ext uri="{FF2B5EF4-FFF2-40B4-BE49-F238E27FC236}">
                <a16:creationId xmlns:a16="http://schemas.microsoft.com/office/drawing/2014/main" id="{C49E7CAF-60B9-441D-B442-CFDD43D159CA}"/>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Cada modalidad conserva su origen y sus límites</a:t>
            </a:r>
          </a:p>
        </p:txBody>
      </p:sp>
      <p:sp>
        <p:nvSpPr>
          <p:cNvPr id="13" name="thePower · AI Engineer · S12">
            <a:extLst xmlns:a="http://schemas.openxmlformats.org/drawingml/2006/main">
              <a:ext uri="{FF2B5EF4-FFF2-40B4-BE49-F238E27FC236}">
                <a16:creationId xmlns:a16="http://schemas.microsoft.com/office/drawing/2014/main" id="{9A679846-6B72-4412-9144-80AB6586D67A}"/>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5">
            <a:extLst xmlns:a="http://schemas.openxmlformats.org/drawingml/2006/main">
              <a:ext uri="{FF2B5EF4-FFF2-40B4-BE49-F238E27FC236}">
                <a16:creationId xmlns:a16="http://schemas.microsoft.com/office/drawing/2014/main" id="{757E0EC1-07AA-46A1-9A09-2B726A2C2C13}"/>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5</a:t>
            </a:r>
          </a:p>
        </p:txBody>
      </p:sp>
    </p:spTree>
    <p:extLst>
      <p:ext uri="{BB962C8B-B14F-4D97-AF65-F5344CB8AC3E}">
        <p14:creationId xmlns:p14="http://schemas.microsoft.com/office/powerpoint/2010/main" val="1744761122"/>
      </p:ext>
    </p:extLst>
  </p:cSld>
</p:sld>
</file>

<file path=ppt/slides/slide6.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182D4D3-C234-4115-BC4E-94D5AF4BEE27}"/>
              </a:ext>
            </a:extLst>
          </p:cNvPr>
          <p:cNvPicPr>
            <a:picLocks xmlns:a="http://schemas.openxmlformats.org/drawingml/2006/main" noChangeAspect="1"/>
          </p:cNvPicPr>
          <p:nvPr/>
        </p:nvPicPr>
        <p:blipFill>
          <a:blip xmlns:r="http://schemas.openxmlformats.org/officeDocument/2006/relationships" xmlns:a="http://schemas.openxmlformats.org/drawingml/2006/main" r:embed="R5da36cfb55b9497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Lectura de imagen y OCR">
            <a:extLst xmlns:a="http://schemas.openxmlformats.org/drawingml/2006/main">
              <a:ext uri="{FF2B5EF4-FFF2-40B4-BE49-F238E27FC236}">
                <a16:creationId xmlns:a16="http://schemas.microsoft.com/office/drawing/2014/main" id="{A746B087-D6EB-4F97-889C-428E910C30B7}"/>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Lectura de imagen y OCR</a:t>
            </a:r>
          </a:p>
        </p:txBody>
      </p:sp>
      <p:sp>
        <p:nvSpPr>
          <p:cNvPr id="3" name="La foto aporta una observación que todavía debemos interpretar">
            <a:extLst xmlns:a="http://schemas.openxmlformats.org/drawingml/2006/main">
              <a:ext uri="{FF2B5EF4-FFF2-40B4-BE49-F238E27FC236}">
                <a16:creationId xmlns:a16="http://schemas.microsoft.com/office/drawing/2014/main" id="{D94D1D65-B7D1-4241-BDB5-C611D6ED533C}"/>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La foto aporta una observación que todavía debemos interpretar</a:t>
            </a:r>
          </a:p>
        </p:txBody>
      </p:sp>
      <p:pic>
        <p:nvPicPr>
          <p:cNvPr id="4" name="">
            <a:extLst xmlns:a="http://schemas.openxmlformats.org/drawingml/2006/main">
              <a:ext uri="{FF2B5EF4-FFF2-40B4-BE49-F238E27FC236}">
                <a16:creationId xmlns:a16="http://schemas.microsoft.com/office/drawing/2014/main" id="{2A8B2E3E-6F76-4EA6-8C90-FE0BB8B1A114}"/>
              </a:ext>
            </a:extLst>
          </p:cNvPr>
          <p:cNvPicPr>
            <a:picLocks xmlns:a="http://schemas.openxmlformats.org/drawingml/2006/main" noChangeAspect="1"/>
          </p:cNvPicPr>
          <p:nvPr/>
        </p:nvPicPr>
        <p:blipFill>
          <a:blip xmlns:r="http://schemas.openxmlformats.org/officeDocument/2006/relationships" xmlns:a="http://schemas.openxmlformats.org/drawingml/2006/main" r:embed="R8c05e33e2b6c47dc"/>
          <a:stretch xmlns:a="http://schemas.openxmlformats.org/drawingml/2006/main"/>
        </p:blipFill>
        <p:spPr>
          <a:xfrm xmlns:a="http://schemas.openxmlformats.org/drawingml/2006/main">
            <a:off x="1558396" y="2143125"/>
            <a:ext cx="9075208" cy="1666875"/>
          </a:xfrm>
          <a:prstGeom xmlns:a="http://schemas.openxmlformats.org/drawingml/2006/main" prst="rect">
            <a:avLst/>
          </a:prstGeom>
        </p:spPr>
      </p:pic>
      <p:sp>
        <p:nvSpPr>
          <p:cNvPr id="5" name="Texto observado">
            <a:extLst xmlns:a="http://schemas.openxmlformats.org/drawingml/2006/main">
              <a:ext uri="{FF2B5EF4-FFF2-40B4-BE49-F238E27FC236}">
                <a16:creationId xmlns:a16="http://schemas.microsoft.com/office/drawing/2014/main" id="{21552705-860B-4527-824C-9B5C0745A8F4}"/>
              </a:ext>
            </a:extLst>
          </p:cNvPr>
          <p:cNvSpPr>
            <a:spLocks xmlns:a="http://schemas.openxmlformats.org/drawingml/2006/main" noGrp="1"/>
          </p:cNvSpPr>
          <p:nvPr/>
        </p:nvSpPr>
        <p:spPr>
          <a:xfrm xmlns:a="http://schemas.openxmlformats.org/drawingml/2006/main">
            <a:off x="609600" y="4057650"/>
            <a:ext cx="2324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3DFBC"/>
                </a:solidFill>
                <a:latin typeface="Arial"/>
                <a:ea typeface="Arial"/>
                <a:cs typeface="Arial"/>
              </a:defRPr>
            </a:defPPr>
            <a:lvl1pPr>
              <a:defRPr sz="1875" b="1">
                <a:solidFill>
                  <a:srgbClr val="53DFBC"/>
                </a:solidFill>
                <a:latin typeface="Arial"/>
                <a:ea typeface="Arial"/>
                <a:cs typeface="Arial"/>
              </a:defRPr>
            </a:lvl1pPr>
            <a:lvl2pPr>
              <a:defRPr sz="1875" b="1">
                <a:solidFill>
                  <a:srgbClr val="53DFBC"/>
                </a:solidFill>
                <a:latin typeface="Arial"/>
                <a:ea typeface="Arial"/>
                <a:cs typeface="Arial"/>
              </a:defRPr>
            </a:lvl2pPr>
            <a:lvl3pPr>
              <a:defRPr sz="1875" b="1">
                <a:solidFill>
                  <a:srgbClr val="53DFBC"/>
                </a:solidFill>
                <a:latin typeface="Arial"/>
                <a:ea typeface="Arial"/>
                <a:cs typeface="Arial"/>
              </a:defRPr>
            </a:lvl3pPr>
            <a:lvl4pPr>
              <a:defRPr sz="1875" b="1">
                <a:solidFill>
                  <a:srgbClr val="53DFBC"/>
                </a:solidFill>
                <a:latin typeface="Arial"/>
                <a:ea typeface="Arial"/>
                <a:cs typeface="Arial"/>
              </a:defRPr>
            </a:lvl4pPr>
            <a:lvl5pPr>
              <a:defRPr sz="1875" b="1">
                <a:solidFill>
                  <a:srgbClr val="53DFBC"/>
                </a:solidFill>
                <a:latin typeface="Arial"/>
                <a:ea typeface="Arial"/>
                <a:cs typeface="Arial"/>
              </a:defRPr>
            </a:lvl5pPr>
            <a:lvl6pPr>
              <a:defRPr sz="1875" b="1">
                <a:solidFill>
                  <a:srgbClr val="53DFBC"/>
                </a:solidFill>
                <a:latin typeface="Arial"/>
                <a:ea typeface="Arial"/>
                <a:cs typeface="Arial"/>
              </a:defRPr>
            </a:lvl6pPr>
            <a:lvl7pPr>
              <a:defRPr sz="1875" b="1">
                <a:solidFill>
                  <a:srgbClr val="53DFBC"/>
                </a:solidFill>
                <a:latin typeface="Arial"/>
                <a:ea typeface="Arial"/>
                <a:cs typeface="Arial"/>
              </a:defRPr>
            </a:lvl7pPr>
            <a:lvl8pPr>
              <a:defRPr sz="1875" b="1">
                <a:solidFill>
                  <a:srgbClr val="53DFBC"/>
                </a:solidFill>
                <a:latin typeface="Arial"/>
                <a:ea typeface="Arial"/>
                <a:cs typeface="Arial"/>
              </a:defRPr>
            </a:lvl8pPr>
            <a:lvl9pPr>
              <a:defRPr sz="1875" b="1">
                <a:solidFill>
                  <a:srgbClr val="53DFBC"/>
                </a:solidFill>
                <a:latin typeface="Arial"/>
                <a:ea typeface="Arial"/>
                <a:cs typeface="Arial"/>
              </a:defRPr>
            </a:lvl9pPr>
          </a:lstStyle>
          <a:p xmlns:a="http://schemas.openxmlformats.org/drawingml/2006/main">
            <a:pPr>
              <a:defRPr sz="1875" b="1">
                <a:solidFill>
                  <a:srgbClr val="53DFBC"/>
                </a:solidFill>
                <a:latin typeface="Arial"/>
                <a:ea typeface="Arial"/>
                <a:cs typeface="Arial"/>
              </a:defRPr>
            </a:pPr>
            <a:r>
              <a:rPr sz="1875" b="1">
                <a:solidFill>
                  <a:srgbClr val="53DFBC"/>
                </a:solidFill>
                <a:latin typeface="Arial"/>
                <a:ea typeface="Arial"/>
                <a:cs typeface="Arial"/>
              </a:rPr>
              <a:t>Texto observado</a:t>
            </a:r>
          </a:p>
        </p:txBody>
      </p:sp>
      <p:sp>
        <p:nvSpPr>
          <p:cNvPr id="6" name="Pedido TPS-20481: auriculares, Bizum, entregado el 20/10">
            <a:extLst xmlns:a="http://schemas.openxmlformats.org/drawingml/2006/main">
              <a:ext uri="{FF2B5EF4-FFF2-40B4-BE49-F238E27FC236}">
                <a16:creationId xmlns:a16="http://schemas.microsoft.com/office/drawing/2014/main" id="{5992F548-D18B-45B6-89AF-571FCEAE6B8D}"/>
              </a:ext>
            </a:extLst>
          </p:cNvPr>
          <p:cNvSpPr>
            <a:spLocks xmlns:a="http://schemas.openxmlformats.org/drawingml/2006/main" noGrp="1"/>
          </p:cNvSpPr>
          <p:nvPr/>
        </p:nvSpPr>
        <p:spPr>
          <a:xfrm xmlns:a="http://schemas.openxmlformats.org/drawingml/2006/main">
            <a:off x="3143250" y="4057650"/>
            <a:ext cx="8439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4F7FA"/>
                </a:solidFill>
                <a:latin typeface="Arial"/>
                <a:ea typeface="Arial"/>
                <a:cs typeface="Arial"/>
              </a:defRPr>
            </a:defPPr>
            <a:lvl1pPr>
              <a:defRPr sz="1875" b="0">
                <a:solidFill>
                  <a:srgbClr val="F4F7FA"/>
                </a:solidFill>
                <a:latin typeface="Arial"/>
                <a:ea typeface="Arial"/>
                <a:cs typeface="Arial"/>
              </a:defRPr>
            </a:lvl1pPr>
            <a:lvl2pPr>
              <a:defRPr sz="1875" b="0">
                <a:solidFill>
                  <a:srgbClr val="F4F7FA"/>
                </a:solidFill>
                <a:latin typeface="Arial"/>
                <a:ea typeface="Arial"/>
                <a:cs typeface="Arial"/>
              </a:defRPr>
            </a:lvl2pPr>
            <a:lvl3pPr>
              <a:defRPr sz="1875" b="0">
                <a:solidFill>
                  <a:srgbClr val="F4F7FA"/>
                </a:solidFill>
                <a:latin typeface="Arial"/>
                <a:ea typeface="Arial"/>
                <a:cs typeface="Arial"/>
              </a:defRPr>
            </a:lvl3pPr>
            <a:lvl4pPr>
              <a:defRPr sz="1875" b="0">
                <a:solidFill>
                  <a:srgbClr val="F4F7FA"/>
                </a:solidFill>
                <a:latin typeface="Arial"/>
                <a:ea typeface="Arial"/>
                <a:cs typeface="Arial"/>
              </a:defRPr>
            </a:lvl4pPr>
            <a:lvl5pPr>
              <a:defRPr sz="1875" b="0">
                <a:solidFill>
                  <a:srgbClr val="F4F7FA"/>
                </a:solidFill>
                <a:latin typeface="Arial"/>
                <a:ea typeface="Arial"/>
                <a:cs typeface="Arial"/>
              </a:defRPr>
            </a:lvl5pPr>
            <a:lvl6pPr>
              <a:defRPr sz="1875" b="0">
                <a:solidFill>
                  <a:srgbClr val="F4F7FA"/>
                </a:solidFill>
                <a:latin typeface="Arial"/>
                <a:ea typeface="Arial"/>
                <a:cs typeface="Arial"/>
              </a:defRPr>
            </a:lvl6pPr>
            <a:lvl7pPr>
              <a:defRPr sz="1875" b="0">
                <a:solidFill>
                  <a:srgbClr val="F4F7FA"/>
                </a:solidFill>
                <a:latin typeface="Arial"/>
                <a:ea typeface="Arial"/>
                <a:cs typeface="Arial"/>
              </a:defRPr>
            </a:lvl7pPr>
            <a:lvl8pPr>
              <a:defRPr sz="1875" b="0">
                <a:solidFill>
                  <a:srgbClr val="F4F7FA"/>
                </a:solidFill>
                <a:latin typeface="Arial"/>
                <a:ea typeface="Arial"/>
                <a:cs typeface="Arial"/>
              </a:defRPr>
            </a:lvl8pPr>
            <a:lvl9pPr>
              <a:defRPr sz="1875" b="0">
                <a:solidFill>
                  <a:srgbClr val="F4F7FA"/>
                </a:solidFill>
                <a:latin typeface="Arial"/>
                <a:ea typeface="Arial"/>
                <a:cs typeface="Arial"/>
              </a:defRPr>
            </a:lvl9pPr>
          </a:lstStyle>
          <a:p xmlns:a="http://schemas.openxmlformats.org/drawingml/2006/main">
            <a:pPr>
              <a:defRPr sz="1875" b="0">
                <a:solidFill>
                  <a:srgbClr val="F4F7FA"/>
                </a:solidFill>
                <a:latin typeface="Arial"/>
                <a:ea typeface="Arial"/>
                <a:cs typeface="Arial"/>
              </a:defRPr>
            </a:pPr>
            <a:r>
              <a:rPr sz="1875" b="0">
                <a:solidFill>
                  <a:srgbClr val="F4F7FA"/>
                </a:solidFill>
                <a:latin typeface="Arial"/>
                <a:ea typeface="Arial"/>
                <a:cs typeface="Arial"/>
              </a:rPr>
              <a:t>Pedido TPS-20481: auriculares, Bizum, entregado el 20/10</a:t>
            </a:r>
          </a:p>
        </p:txBody>
      </p:sp>
      <p:sp>
        <p:nvSpPr>
          <p:cNvPr id="7" name="Pregunta abierta">
            <a:extLst xmlns:a="http://schemas.openxmlformats.org/drawingml/2006/main">
              <a:ext uri="{FF2B5EF4-FFF2-40B4-BE49-F238E27FC236}">
                <a16:creationId xmlns:a16="http://schemas.microsoft.com/office/drawing/2014/main" id="{19046F0E-E03D-4185-AAB9-6469EE34C5EB}"/>
              </a:ext>
            </a:extLst>
          </p:cNvPr>
          <p:cNvSpPr>
            <a:spLocks xmlns:a="http://schemas.openxmlformats.org/drawingml/2006/main" noGrp="1"/>
          </p:cNvSpPr>
          <p:nvPr/>
        </p:nvSpPr>
        <p:spPr>
          <a:xfrm xmlns:a="http://schemas.openxmlformats.org/drawingml/2006/main">
            <a:off x="609600" y="4648200"/>
            <a:ext cx="2324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3DFBC"/>
                </a:solidFill>
                <a:latin typeface="Arial"/>
                <a:ea typeface="Arial"/>
                <a:cs typeface="Arial"/>
              </a:defRPr>
            </a:defPPr>
            <a:lvl1pPr>
              <a:defRPr sz="1875" b="1">
                <a:solidFill>
                  <a:srgbClr val="53DFBC"/>
                </a:solidFill>
                <a:latin typeface="Arial"/>
                <a:ea typeface="Arial"/>
                <a:cs typeface="Arial"/>
              </a:defRPr>
            </a:lvl1pPr>
            <a:lvl2pPr>
              <a:defRPr sz="1875" b="1">
                <a:solidFill>
                  <a:srgbClr val="53DFBC"/>
                </a:solidFill>
                <a:latin typeface="Arial"/>
                <a:ea typeface="Arial"/>
                <a:cs typeface="Arial"/>
              </a:defRPr>
            </a:lvl2pPr>
            <a:lvl3pPr>
              <a:defRPr sz="1875" b="1">
                <a:solidFill>
                  <a:srgbClr val="53DFBC"/>
                </a:solidFill>
                <a:latin typeface="Arial"/>
                <a:ea typeface="Arial"/>
                <a:cs typeface="Arial"/>
              </a:defRPr>
            </a:lvl3pPr>
            <a:lvl4pPr>
              <a:defRPr sz="1875" b="1">
                <a:solidFill>
                  <a:srgbClr val="53DFBC"/>
                </a:solidFill>
                <a:latin typeface="Arial"/>
                <a:ea typeface="Arial"/>
                <a:cs typeface="Arial"/>
              </a:defRPr>
            </a:lvl4pPr>
            <a:lvl5pPr>
              <a:defRPr sz="1875" b="1">
                <a:solidFill>
                  <a:srgbClr val="53DFBC"/>
                </a:solidFill>
                <a:latin typeface="Arial"/>
                <a:ea typeface="Arial"/>
                <a:cs typeface="Arial"/>
              </a:defRPr>
            </a:lvl5pPr>
            <a:lvl6pPr>
              <a:defRPr sz="1875" b="1">
                <a:solidFill>
                  <a:srgbClr val="53DFBC"/>
                </a:solidFill>
                <a:latin typeface="Arial"/>
                <a:ea typeface="Arial"/>
                <a:cs typeface="Arial"/>
              </a:defRPr>
            </a:lvl6pPr>
            <a:lvl7pPr>
              <a:defRPr sz="1875" b="1">
                <a:solidFill>
                  <a:srgbClr val="53DFBC"/>
                </a:solidFill>
                <a:latin typeface="Arial"/>
                <a:ea typeface="Arial"/>
                <a:cs typeface="Arial"/>
              </a:defRPr>
            </a:lvl7pPr>
            <a:lvl8pPr>
              <a:defRPr sz="1875" b="1">
                <a:solidFill>
                  <a:srgbClr val="53DFBC"/>
                </a:solidFill>
                <a:latin typeface="Arial"/>
                <a:ea typeface="Arial"/>
                <a:cs typeface="Arial"/>
              </a:defRPr>
            </a:lvl8pPr>
            <a:lvl9pPr>
              <a:defRPr sz="1875" b="1">
                <a:solidFill>
                  <a:srgbClr val="53DFBC"/>
                </a:solidFill>
                <a:latin typeface="Arial"/>
                <a:ea typeface="Arial"/>
                <a:cs typeface="Arial"/>
              </a:defRPr>
            </a:lvl9pPr>
          </a:lstStyle>
          <a:p xmlns:a="http://schemas.openxmlformats.org/drawingml/2006/main">
            <a:pPr>
              <a:defRPr sz="1875" b="1">
                <a:solidFill>
                  <a:srgbClr val="53DFBC"/>
                </a:solidFill>
                <a:latin typeface="Arial"/>
                <a:ea typeface="Arial"/>
                <a:cs typeface="Arial"/>
              </a:defRPr>
            </a:pPr>
            <a:r>
              <a:rPr sz="1875" b="1">
                <a:solidFill>
                  <a:srgbClr val="53DFBC"/>
                </a:solidFill>
                <a:latin typeface="Arial"/>
                <a:ea typeface="Arial"/>
                <a:cs typeface="Arial"/>
              </a:rPr>
              <a:t>Pregunta abierta</a:t>
            </a:r>
          </a:p>
        </p:txBody>
      </p:sp>
      <p:sp>
        <p:nvSpPr>
          <p:cNvPr id="8" name="¿Qué le pasa al pedido y qué quiere el cliente?">
            <a:extLst xmlns:a="http://schemas.openxmlformats.org/drawingml/2006/main">
              <a:ext uri="{FF2B5EF4-FFF2-40B4-BE49-F238E27FC236}">
                <a16:creationId xmlns:a16="http://schemas.microsoft.com/office/drawing/2014/main" id="{CC73CA6F-3809-4D74-8BC4-8D48F0C50D3E}"/>
              </a:ext>
            </a:extLst>
          </p:cNvPr>
          <p:cNvSpPr>
            <a:spLocks xmlns:a="http://schemas.openxmlformats.org/drawingml/2006/main" noGrp="1"/>
          </p:cNvSpPr>
          <p:nvPr/>
        </p:nvSpPr>
        <p:spPr>
          <a:xfrm xmlns:a="http://schemas.openxmlformats.org/drawingml/2006/main">
            <a:off x="3143250" y="4648200"/>
            <a:ext cx="8439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4F7FA"/>
                </a:solidFill>
                <a:latin typeface="Arial"/>
                <a:ea typeface="Arial"/>
                <a:cs typeface="Arial"/>
              </a:defRPr>
            </a:defPPr>
            <a:lvl1pPr>
              <a:defRPr sz="1875" b="0">
                <a:solidFill>
                  <a:srgbClr val="F4F7FA"/>
                </a:solidFill>
                <a:latin typeface="Arial"/>
                <a:ea typeface="Arial"/>
                <a:cs typeface="Arial"/>
              </a:defRPr>
            </a:lvl1pPr>
            <a:lvl2pPr>
              <a:defRPr sz="1875" b="0">
                <a:solidFill>
                  <a:srgbClr val="F4F7FA"/>
                </a:solidFill>
                <a:latin typeface="Arial"/>
                <a:ea typeface="Arial"/>
                <a:cs typeface="Arial"/>
              </a:defRPr>
            </a:lvl2pPr>
            <a:lvl3pPr>
              <a:defRPr sz="1875" b="0">
                <a:solidFill>
                  <a:srgbClr val="F4F7FA"/>
                </a:solidFill>
                <a:latin typeface="Arial"/>
                <a:ea typeface="Arial"/>
                <a:cs typeface="Arial"/>
              </a:defRPr>
            </a:lvl3pPr>
            <a:lvl4pPr>
              <a:defRPr sz="1875" b="0">
                <a:solidFill>
                  <a:srgbClr val="F4F7FA"/>
                </a:solidFill>
                <a:latin typeface="Arial"/>
                <a:ea typeface="Arial"/>
                <a:cs typeface="Arial"/>
              </a:defRPr>
            </a:lvl4pPr>
            <a:lvl5pPr>
              <a:defRPr sz="1875" b="0">
                <a:solidFill>
                  <a:srgbClr val="F4F7FA"/>
                </a:solidFill>
                <a:latin typeface="Arial"/>
                <a:ea typeface="Arial"/>
                <a:cs typeface="Arial"/>
              </a:defRPr>
            </a:lvl5pPr>
            <a:lvl6pPr>
              <a:defRPr sz="1875" b="0">
                <a:solidFill>
                  <a:srgbClr val="F4F7FA"/>
                </a:solidFill>
                <a:latin typeface="Arial"/>
                <a:ea typeface="Arial"/>
                <a:cs typeface="Arial"/>
              </a:defRPr>
            </a:lvl6pPr>
            <a:lvl7pPr>
              <a:defRPr sz="1875" b="0">
                <a:solidFill>
                  <a:srgbClr val="F4F7FA"/>
                </a:solidFill>
                <a:latin typeface="Arial"/>
                <a:ea typeface="Arial"/>
                <a:cs typeface="Arial"/>
              </a:defRPr>
            </a:lvl7pPr>
            <a:lvl8pPr>
              <a:defRPr sz="1875" b="0">
                <a:solidFill>
                  <a:srgbClr val="F4F7FA"/>
                </a:solidFill>
                <a:latin typeface="Arial"/>
                <a:ea typeface="Arial"/>
                <a:cs typeface="Arial"/>
              </a:defRPr>
            </a:lvl8pPr>
            <a:lvl9pPr>
              <a:defRPr sz="1875" b="0">
                <a:solidFill>
                  <a:srgbClr val="F4F7FA"/>
                </a:solidFill>
                <a:latin typeface="Arial"/>
                <a:ea typeface="Arial"/>
                <a:cs typeface="Arial"/>
              </a:defRPr>
            </a:lvl9pPr>
          </a:lstStyle>
          <a:p xmlns:a="http://schemas.openxmlformats.org/drawingml/2006/main">
            <a:pPr>
              <a:defRPr sz="1875" b="0">
                <a:solidFill>
                  <a:srgbClr val="F4F7FA"/>
                </a:solidFill>
                <a:latin typeface="Arial"/>
                <a:ea typeface="Arial"/>
                <a:cs typeface="Arial"/>
              </a:defRPr>
            </a:pPr>
            <a:r>
              <a:rPr sz="1875" b="0">
                <a:solidFill>
                  <a:srgbClr val="F4F7FA"/>
                </a:solidFill>
                <a:latin typeface="Arial"/>
                <a:ea typeface="Arial"/>
                <a:cs typeface="Arial"/>
              </a:rPr>
              <a:t>¿Qué le pasa al pedido y qué quiere el cliente?</a:t>
            </a:r>
          </a:p>
        </p:txBody>
      </p:sp>
      <p:sp>
        <p:nvSpPr>
          <p:cNvPr id="9" name="Comprobación">
            <a:extLst xmlns:a="http://schemas.openxmlformats.org/drawingml/2006/main">
              <a:ext uri="{FF2B5EF4-FFF2-40B4-BE49-F238E27FC236}">
                <a16:creationId xmlns:a16="http://schemas.microsoft.com/office/drawing/2014/main" id="{04B0BAEF-183E-464D-81E7-D6F8D178E55E}"/>
              </a:ext>
            </a:extLst>
          </p:cNvPr>
          <p:cNvSpPr>
            <a:spLocks xmlns:a="http://schemas.openxmlformats.org/drawingml/2006/main" noGrp="1"/>
          </p:cNvSpPr>
          <p:nvPr/>
        </p:nvSpPr>
        <p:spPr>
          <a:xfrm xmlns:a="http://schemas.openxmlformats.org/drawingml/2006/main">
            <a:off x="609600" y="5238750"/>
            <a:ext cx="2324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53DFBC"/>
                </a:solidFill>
                <a:latin typeface="Arial"/>
                <a:ea typeface="Arial"/>
                <a:cs typeface="Arial"/>
              </a:defRPr>
            </a:defPPr>
            <a:lvl1pPr>
              <a:defRPr sz="1875" b="1">
                <a:solidFill>
                  <a:srgbClr val="53DFBC"/>
                </a:solidFill>
                <a:latin typeface="Arial"/>
                <a:ea typeface="Arial"/>
                <a:cs typeface="Arial"/>
              </a:defRPr>
            </a:lvl1pPr>
            <a:lvl2pPr>
              <a:defRPr sz="1875" b="1">
                <a:solidFill>
                  <a:srgbClr val="53DFBC"/>
                </a:solidFill>
                <a:latin typeface="Arial"/>
                <a:ea typeface="Arial"/>
                <a:cs typeface="Arial"/>
              </a:defRPr>
            </a:lvl2pPr>
            <a:lvl3pPr>
              <a:defRPr sz="1875" b="1">
                <a:solidFill>
                  <a:srgbClr val="53DFBC"/>
                </a:solidFill>
                <a:latin typeface="Arial"/>
                <a:ea typeface="Arial"/>
                <a:cs typeface="Arial"/>
              </a:defRPr>
            </a:lvl3pPr>
            <a:lvl4pPr>
              <a:defRPr sz="1875" b="1">
                <a:solidFill>
                  <a:srgbClr val="53DFBC"/>
                </a:solidFill>
                <a:latin typeface="Arial"/>
                <a:ea typeface="Arial"/>
                <a:cs typeface="Arial"/>
              </a:defRPr>
            </a:lvl4pPr>
            <a:lvl5pPr>
              <a:defRPr sz="1875" b="1">
                <a:solidFill>
                  <a:srgbClr val="53DFBC"/>
                </a:solidFill>
                <a:latin typeface="Arial"/>
                <a:ea typeface="Arial"/>
                <a:cs typeface="Arial"/>
              </a:defRPr>
            </a:lvl5pPr>
            <a:lvl6pPr>
              <a:defRPr sz="1875" b="1">
                <a:solidFill>
                  <a:srgbClr val="53DFBC"/>
                </a:solidFill>
                <a:latin typeface="Arial"/>
                <a:ea typeface="Arial"/>
                <a:cs typeface="Arial"/>
              </a:defRPr>
            </a:lvl6pPr>
            <a:lvl7pPr>
              <a:defRPr sz="1875" b="1">
                <a:solidFill>
                  <a:srgbClr val="53DFBC"/>
                </a:solidFill>
                <a:latin typeface="Arial"/>
                <a:ea typeface="Arial"/>
                <a:cs typeface="Arial"/>
              </a:defRPr>
            </a:lvl7pPr>
            <a:lvl8pPr>
              <a:defRPr sz="1875" b="1">
                <a:solidFill>
                  <a:srgbClr val="53DFBC"/>
                </a:solidFill>
                <a:latin typeface="Arial"/>
                <a:ea typeface="Arial"/>
                <a:cs typeface="Arial"/>
              </a:defRPr>
            </a:lvl8pPr>
            <a:lvl9pPr>
              <a:defRPr sz="1875" b="1">
                <a:solidFill>
                  <a:srgbClr val="53DFBC"/>
                </a:solidFill>
                <a:latin typeface="Arial"/>
                <a:ea typeface="Arial"/>
                <a:cs typeface="Arial"/>
              </a:defRPr>
            </a:lvl9pPr>
          </a:lstStyle>
          <a:p xmlns:a="http://schemas.openxmlformats.org/drawingml/2006/main">
            <a:pPr>
              <a:defRPr sz="1875" b="1">
                <a:solidFill>
                  <a:srgbClr val="53DFBC"/>
                </a:solidFill>
                <a:latin typeface="Arial"/>
                <a:ea typeface="Arial"/>
                <a:cs typeface="Arial"/>
              </a:defRPr>
            </a:pPr>
            <a:r>
              <a:rPr sz="1875" b="1">
                <a:solidFill>
                  <a:srgbClr val="53DFBC"/>
                </a:solidFill>
                <a:latin typeface="Arial"/>
                <a:ea typeface="Arial"/>
                <a:cs typeface="Arial"/>
              </a:rPr>
              <a:t>Comprobación</a:t>
            </a:r>
          </a:p>
        </p:txBody>
      </p:sp>
      <p:sp>
        <p:nvSpPr>
          <p:cNvPr id="10" name="Confirmar el pedido con la herramienta antes de responder">
            <a:extLst xmlns:a="http://schemas.openxmlformats.org/drawingml/2006/main">
              <a:ext uri="{FF2B5EF4-FFF2-40B4-BE49-F238E27FC236}">
                <a16:creationId xmlns:a16="http://schemas.microsoft.com/office/drawing/2014/main" id="{9E9C9BAA-849F-4E85-9035-8363D494AEC1}"/>
              </a:ext>
            </a:extLst>
          </p:cNvPr>
          <p:cNvSpPr>
            <a:spLocks xmlns:a="http://schemas.openxmlformats.org/drawingml/2006/main" noGrp="1"/>
          </p:cNvSpPr>
          <p:nvPr/>
        </p:nvSpPr>
        <p:spPr>
          <a:xfrm xmlns:a="http://schemas.openxmlformats.org/drawingml/2006/main">
            <a:off x="3143250" y="5238750"/>
            <a:ext cx="8439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4F7FA"/>
                </a:solidFill>
                <a:latin typeface="Arial"/>
                <a:ea typeface="Arial"/>
                <a:cs typeface="Arial"/>
              </a:defRPr>
            </a:defPPr>
            <a:lvl1pPr>
              <a:defRPr sz="1875" b="0">
                <a:solidFill>
                  <a:srgbClr val="F4F7FA"/>
                </a:solidFill>
                <a:latin typeface="Arial"/>
                <a:ea typeface="Arial"/>
                <a:cs typeface="Arial"/>
              </a:defRPr>
            </a:lvl1pPr>
            <a:lvl2pPr>
              <a:defRPr sz="1875" b="0">
                <a:solidFill>
                  <a:srgbClr val="F4F7FA"/>
                </a:solidFill>
                <a:latin typeface="Arial"/>
                <a:ea typeface="Arial"/>
                <a:cs typeface="Arial"/>
              </a:defRPr>
            </a:lvl2pPr>
            <a:lvl3pPr>
              <a:defRPr sz="1875" b="0">
                <a:solidFill>
                  <a:srgbClr val="F4F7FA"/>
                </a:solidFill>
                <a:latin typeface="Arial"/>
                <a:ea typeface="Arial"/>
                <a:cs typeface="Arial"/>
              </a:defRPr>
            </a:lvl3pPr>
            <a:lvl4pPr>
              <a:defRPr sz="1875" b="0">
                <a:solidFill>
                  <a:srgbClr val="F4F7FA"/>
                </a:solidFill>
                <a:latin typeface="Arial"/>
                <a:ea typeface="Arial"/>
                <a:cs typeface="Arial"/>
              </a:defRPr>
            </a:lvl4pPr>
            <a:lvl5pPr>
              <a:defRPr sz="1875" b="0">
                <a:solidFill>
                  <a:srgbClr val="F4F7FA"/>
                </a:solidFill>
                <a:latin typeface="Arial"/>
                <a:ea typeface="Arial"/>
                <a:cs typeface="Arial"/>
              </a:defRPr>
            </a:lvl5pPr>
            <a:lvl6pPr>
              <a:defRPr sz="1875" b="0">
                <a:solidFill>
                  <a:srgbClr val="F4F7FA"/>
                </a:solidFill>
                <a:latin typeface="Arial"/>
                <a:ea typeface="Arial"/>
                <a:cs typeface="Arial"/>
              </a:defRPr>
            </a:lvl6pPr>
            <a:lvl7pPr>
              <a:defRPr sz="1875" b="0">
                <a:solidFill>
                  <a:srgbClr val="F4F7FA"/>
                </a:solidFill>
                <a:latin typeface="Arial"/>
                <a:ea typeface="Arial"/>
                <a:cs typeface="Arial"/>
              </a:defRPr>
            </a:lvl7pPr>
            <a:lvl8pPr>
              <a:defRPr sz="1875" b="0">
                <a:solidFill>
                  <a:srgbClr val="F4F7FA"/>
                </a:solidFill>
                <a:latin typeface="Arial"/>
                <a:ea typeface="Arial"/>
                <a:cs typeface="Arial"/>
              </a:defRPr>
            </a:lvl8pPr>
            <a:lvl9pPr>
              <a:defRPr sz="1875" b="0">
                <a:solidFill>
                  <a:srgbClr val="F4F7FA"/>
                </a:solidFill>
                <a:latin typeface="Arial"/>
                <a:ea typeface="Arial"/>
                <a:cs typeface="Arial"/>
              </a:defRPr>
            </a:lvl9pPr>
          </a:lstStyle>
          <a:p xmlns:a="http://schemas.openxmlformats.org/drawingml/2006/main">
            <a:pPr>
              <a:defRPr sz="1875" b="0">
                <a:solidFill>
                  <a:srgbClr val="F4F7FA"/>
                </a:solidFill>
                <a:latin typeface="Arial"/>
                <a:ea typeface="Arial"/>
                <a:cs typeface="Arial"/>
              </a:defRPr>
            </a:pPr>
            <a:r>
              <a:rPr sz="1875" b="0">
                <a:solidFill>
                  <a:srgbClr val="F4F7FA"/>
                </a:solidFill>
                <a:latin typeface="Arial"/>
                <a:ea typeface="Arial"/>
                <a:cs typeface="Arial"/>
              </a:rPr>
              <a:t>Confirmar el pedido con la herramienta antes de responder</a:t>
            </a:r>
          </a:p>
        </p:txBody>
      </p:sp>
      <p:sp>
        <p:nvSpPr>
          <p:cNvPr id="11" name="Leer la foto no explica por sí sola el problema">
            <a:extLst xmlns:a="http://schemas.openxmlformats.org/drawingml/2006/main">
              <a:ext uri="{FF2B5EF4-FFF2-40B4-BE49-F238E27FC236}">
                <a16:creationId xmlns:a16="http://schemas.microsoft.com/office/drawing/2014/main" id="{D9A31418-3229-437E-B2E3-AC6D10E52A5D}"/>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Leer la foto no explica por sí sola el problema</a:t>
            </a:r>
          </a:p>
        </p:txBody>
      </p:sp>
      <p:sp>
        <p:nvSpPr>
          <p:cNvPr id="12" name="thePower · AI Engineer · S12">
            <a:extLst xmlns:a="http://schemas.openxmlformats.org/drawingml/2006/main">
              <a:ext uri="{FF2B5EF4-FFF2-40B4-BE49-F238E27FC236}">
                <a16:creationId xmlns:a16="http://schemas.microsoft.com/office/drawing/2014/main" id="{5CE645BC-165B-4899-AB58-847759C8FD0F}"/>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3" name="6">
            <a:extLst xmlns:a="http://schemas.openxmlformats.org/drawingml/2006/main">
              <a:ext uri="{FF2B5EF4-FFF2-40B4-BE49-F238E27FC236}">
                <a16:creationId xmlns:a16="http://schemas.microsoft.com/office/drawing/2014/main" id="{943704F0-318C-4188-BEA6-49C683EB4C06}"/>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6</a:t>
            </a:r>
          </a:p>
        </p:txBody>
      </p:sp>
    </p:spTree>
    <p:extLst>
      <p:ext uri="{BB962C8B-B14F-4D97-AF65-F5344CB8AC3E}">
        <p14:creationId xmlns:p14="http://schemas.microsoft.com/office/powerpoint/2010/main" val="1634544169"/>
      </p:ext>
    </p:extLst>
  </p:cSld>
</p:sld>
</file>

<file path=ppt/slides/slide7.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7F0DD18-673A-4773-A607-529E4EB62537}"/>
              </a:ext>
            </a:extLst>
          </p:cNvPr>
          <p:cNvPicPr>
            <a:picLocks xmlns:a="http://schemas.openxmlformats.org/drawingml/2006/main" noChangeAspect="1"/>
          </p:cNvPicPr>
          <p:nvPr/>
        </p:nvPicPr>
        <p:blipFill>
          <a:blip xmlns:r="http://schemas.openxmlformats.org/officeDocument/2006/relationships" xmlns:a="http://schemas.openxmlformats.org/drawingml/2006/main" r:embed="R77acfed787b34aa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Procesamiento de archivos">
            <a:extLst xmlns:a="http://schemas.openxmlformats.org/drawingml/2006/main">
              <a:ext uri="{FF2B5EF4-FFF2-40B4-BE49-F238E27FC236}">
                <a16:creationId xmlns:a16="http://schemas.microsoft.com/office/drawing/2014/main" id="{7BE274D0-B574-4FD9-80E8-FB92B1FC6DCE}"/>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Procesamiento de archivos</a:t>
            </a:r>
          </a:p>
        </p:txBody>
      </p:sp>
      <p:sp>
        <p:nvSpPr>
          <p:cNvPr id="3" name="La extensión del nombre no basta para aceptar una entrada">
            <a:extLst xmlns:a="http://schemas.openxmlformats.org/drawingml/2006/main">
              <a:ext uri="{FF2B5EF4-FFF2-40B4-BE49-F238E27FC236}">
                <a16:creationId xmlns:a16="http://schemas.microsoft.com/office/drawing/2014/main" id="{584A5D73-70D7-499A-8B1A-1E8FB113E840}"/>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La extensión del nombre no basta para aceptar una entrada</a:t>
            </a:r>
          </a:p>
        </p:txBody>
      </p:sp>
      <p:sp>
        <p:nvSpPr>
          <p:cNvPr id="4" name="Formato">
            <a:extLst xmlns:a="http://schemas.openxmlformats.org/drawingml/2006/main">
              <a:ext uri="{FF2B5EF4-FFF2-40B4-BE49-F238E27FC236}">
                <a16:creationId xmlns:a16="http://schemas.microsoft.com/office/drawing/2014/main" id="{A101554C-C25D-47D3-A37C-521AE2D8E165}"/>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Formato</a:t>
            </a:r>
          </a:p>
        </p:txBody>
      </p:sp>
      <p:sp>
        <p:nvSpPr>
          <p:cNvPr id="5" name="Comprobar el contenido y que se pueda decodificar">
            <a:extLst xmlns:a="http://schemas.openxmlformats.org/drawingml/2006/main">
              <a:ext uri="{FF2B5EF4-FFF2-40B4-BE49-F238E27FC236}">
                <a16:creationId xmlns:a16="http://schemas.microsoft.com/office/drawing/2014/main" id="{FD8FE992-63FA-4DDC-BAC7-5477F1B0197D}"/>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Comprobar el contenido y que se pueda decodificar</a:t>
            </a:r>
          </a:p>
        </p:txBody>
      </p:sp>
      <p:sp>
        <p:nvSpPr>
          <p:cNvPr id="6" name="Tamaño">
            <a:extLst xmlns:a="http://schemas.openxmlformats.org/drawingml/2006/main">
              <a:ext uri="{FF2B5EF4-FFF2-40B4-BE49-F238E27FC236}">
                <a16:creationId xmlns:a16="http://schemas.microsoft.com/office/drawing/2014/main" id="{ECABFC24-A831-464B-A9E0-9C48390E0280}"/>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Tamaño</a:t>
            </a:r>
          </a:p>
        </p:txBody>
      </p:sp>
      <p:sp>
        <p:nvSpPr>
          <p:cNvPr id="7" name="Limitar bytes, dimensiones y duración antes de procesar">
            <a:extLst xmlns:a="http://schemas.openxmlformats.org/drawingml/2006/main">
              <a:ext uri="{FF2B5EF4-FFF2-40B4-BE49-F238E27FC236}">
                <a16:creationId xmlns:a16="http://schemas.microsoft.com/office/drawing/2014/main" id="{AE9CFEFC-7EB7-43EE-84B6-71E345CB3EEC}"/>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Limitar bytes, dimensiones y duración antes de procesar</a:t>
            </a:r>
          </a:p>
        </p:txBody>
      </p:sp>
      <p:sp>
        <p:nvSpPr>
          <p:cNvPr id="8" name="Almacenamiento">
            <a:extLst xmlns:a="http://schemas.openxmlformats.org/drawingml/2006/main">
              <a:ext uri="{FF2B5EF4-FFF2-40B4-BE49-F238E27FC236}">
                <a16:creationId xmlns:a16="http://schemas.microsoft.com/office/drawing/2014/main" id="{1ABBE31F-62DF-4054-9A4B-BB073A3AF6F1}"/>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Almacenamiento</a:t>
            </a:r>
          </a:p>
        </p:txBody>
      </p:sp>
      <p:sp>
        <p:nvSpPr>
          <p:cNvPr id="9" name="Guardar el archivo por separado y conservar una referencia">
            <a:extLst xmlns:a="http://schemas.openxmlformats.org/drawingml/2006/main">
              <a:ext uri="{FF2B5EF4-FFF2-40B4-BE49-F238E27FC236}">
                <a16:creationId xmlns:a16="http://schemas.microsoft.com/office/drawing/2014/main" id="{C1077797-0931-4710-895C-F051A84B5CF7}"/>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Guardar el archivo por separado y conservar una referencia</a:t>
            </a:r>
          </a:p>
        </p:txBody>
      </p:sp>
      <p:sp>
        <p:nvSpPr>
          <p:cNvPr id="10" name="Error">
            <a:extLst xmlns:a="http://schemas.openxmlformats.org/drawingml/2006/main">
              <a:ext uri="{FF2B5EF4-FFF2-40B4-BE49-F238E27FC236}">
                <a16:creationId xmlns:a16="http://schemas.microsoft.com/office/drawing/2014/main" id="{619281C6-34E3-423A-B36F-73D3EC3C2CB1}"/>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Error</a:t>
            </a:r>
          </a:p>
        </p:txBody>
      </p:sp>
      <p:sp>
        <p:nvSpPr>
          <p:cNvPr id="11" name="Explicar el rechazo sin fingir una lectura correcta">
            <a:extLst xmlns:a="http://schemas.openxmlformats.org/drawingml/2006/main">
              <a:ext uri="{FF2B5EF4-FFF2-40B4-BE49-F238E27FC236}">
                <a16:creationId xmlns:a16="http://schemas.microsoft.com/office/drawing/2014/main" id="{49317D6B-E438-48CF-BE9F-DF18411F98AD}"/>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Explicar el rechazo sin fingir una lectura correcta</a:t>
            </a:r>
          </a:p>
        </p:txBody>
      </p:sp>
      <p:sp>
        <p:nvSpPr>
          <p:cNvPr id="12" name="En esta demo: PNG/JPEG y audio WAV de hasta 30 segundos">
            <a:extLst xmlns:a="http://schemas.openxmlformats.org/drawingml/2006/main">
              <a:ext uri="{FF2B5EF4-FFF2-40B4-BE49-F238E27FC236}">
                <a16:creationId xmlns:a16="http://schemas.microsoft.com/office/drawing/2014/main" id="{19C215EE-3869-4314-9664-6385B6A43AFC}"/>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En esta demo: PNG/JPEG y audio WAV de hasta 30 segundos</a:t>
            </a:r>
          </a:p>
        </p:txBody>
      </p:sp>
      <p:sp>
        <p:nvSpPr>
          <p:cNvPr id="13" name="thePower · AI Engineer · S12">
            <a:extLst xmlns:a="http://schemas.openxmlformats.org/drawingml/2006/main">
              <a:ext uri="{FF2B5EF4-FFF2-40B4-BE49-F238E27FC236}">
                <a16:creationId xmlns:a16="http://schemas.microsoft.com/office/drawing/2014/main" id="{BDBAE85C-9C0D-4047-A4E4-A0AD93F6EC60}"/>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7">
            <a:extLst xmlns:a="http://schemas.openxmlformats.org/drawingml/2006/main">
              <a:ext uri="{FF2B5EF4-FFF2-40B4-BE49-F238E27FC236}">
                <a16:creationId xmlns:a16="http://schemas.microsoft.com/office/drawing/2014/main" id="{B11DFA90-558D-407F-8E09-F829080D675C}"/>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7</a:t>
            </a:r>
          </a:p>
        </p:txBody>
      </p:sp>
    </p:spTree>
    <p:extLst>
      <p:ext uri="{BB962C8B-B14F-4D97-AF65-F5344CB8AC3E}">
        <p14:creationId xmlns:p14="http://schemas.microsoft.com/office/powerpoint/2010/main" val="578933575"/>
      </p:ext>
    </p:extLst>
  </p:cSld>
</p:sld>
</file>

<file path=ppt/slides/slide8.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D11EB2F-B134-49E4-AE37-CB435314D31E}"/>
              </a:ext>
            </a:extLst>
          </p:cNvPr>
          <p:cNvPicPr>
            <a:picLocks xmlns:a="http://schemas.openxmlformats.org/drawingml/2006/main" noChangeAspect="1"/>
          </p:cNvPicPr>
          <p:nvPr/>
        </p:nvPicPr>
        <p:blipFill>
          <a:blip xmlns:r="http://schemas.openxmlformats.org/officeDocument/2006/relationships" xmlns:a="http://schemas.openxmlformats.org/drawingml/2006/main" r:embed="R284b1d6132824bd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Audio a texto">
            <a:extLst xmlns:a="http://schemas.openxmlformats.org/drawingml/2006/main">
              <a:ext uri="{FF2B5EF4-FFF2-40B4-BE49-F238E27FC236}">
                <a16:creationId xmlns:a16="http://schemas.microsoft.com/office/drawing/2014/main" id="{23B9CAD8-9709-4A89-AE90-FC89E80773BB}"/>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Audio a texto</a:t>
            </a:r>
          </a:p>
        </p:txBody>
      </p:sp>
      <p:sp>
        <p:nvSpPr>
          <p:cNvPr id="3" name="La transcripción convierte el audio en una petición que podemos revisar">
            <a:extLst xmlns:a="http://schemas.openxmlformats.org/drawingml/2006/main">
              <a:ext uri="{FF2B5EF4-FFF2-40B4-BE49-F238E27FC236}">
                <a16:creationId xmlns:a16="http://schemas.microsoft.com/office/drawing/2014/main" id="{C45730D4-78D1-445D-A123-6C18091D0615}"/>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La transcripción convierte el audio en una petición que podemos revisar</a:t>
            </a:r>
          </a:p>
        </p:txBody>
      </p:sp>
      <p:sp>
        <p:nvSpPr>
          <p:cNvPr id="4" name="Entrada">
            <a:extLst xmlns:a="http://schemas.openxmlformats.org/drawingml/2006/main">
              <a:ext uri="{FF2B5EF4-FFF2-40B4-BE49-F238E27FC236}">
                <a16:creationId xmlns:a16="http://schemas.microsoft.com/office/drawing/2014/main" id="{786B00E0-3E3E-4B9B-B172-80332AC02BD2}"/>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Entrada</a:t>
            </a:r>
          </a:p>
        </p:txBody>
      </p:sp>
      <p:sp>
        <p:nvSpPr>
          <p:cNvPr id="5" name="Una nota de voz breve y comprensible">
            <a:extLst xmlns:a="http://schemas.openxmlformats.org/drawingml/2006/main">
              <a:ext uri="{FF2B5EF4-FFF2-40B4-BE49-F238E27FC236}">
                <a16:creationId xmlns:a16="http://schemas.microsoft.com/office/drawing/2014/main" id="{3F16BD2F-9C16-4F1B-8AD2-ABBE88208046}"/>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Una nota de voz breve y comprensible</a:t>
            </a:r>
          </a:p>
        </p:txBody>
      </p:sp>
      <p:sp>
        <p:nvSpPr>
          <p:cNvPr id="6" name="Transcripción">
            <a:extLst xmlns:a="http://schemas.openxmlformats.org/drawingml/2006/main">
              <a:ext uri="{FF2B5EF4-FFF2-40B4-BE49-F238E27FC236}">
                <a16:creationId xmlns:a16="http://schemas.microsoft.com/office/drawing/2014/main" id="{4965ECDD-AEEA-4DB2-A094-8919E8474316}"/>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Transcripción</a:t>
            </a:r>
          </a:p>
        </p:txBody>
      </p:sp>
      <p:sp>
        <p:nvSpPr>
          <p:cNvPr id="7" name="Texto con el que trabajará el agente">
            <a:extLst xmlns:a="http://schemas.openxmlformats.org/drawingml/2006/main">
              <a:ext uri="{FF2B5EF4-FFF2-40B4-BE49-F238E27FC236}">
                <a16:creationId xmlns:a16="http://schemas.microsoft.com/office/drawing/2014/main" id="{1533BD90-D71E-4317-AD7E-13A6F455F743}"/>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Texto con el que trabajará el agente</a:t>
            </a:r>
          </a:p>
        </p:txBody>
      </p:sp>
      <p:sp>
        <p:nvSpPr>
          <p:cNvPr id="8" name="Revisión">
            <a:extLst xmlns:a="http://schemas.openxmlformats.org/drawingml/2006/main">
              <a:ext uri="{FF2B5EF4-FFF2-40B4-BE49-F238E27FC236}">
                <a16:creationId xmlns:a16="http://schemas.microsoft.com/office/drawing/2014/main" id="{F03AA858-2274-42F6-B44E-E5BFE43523CB}"/>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Revisión</a:t>
            </a:r>
          </a:p>
        </p:txBody>
      </p:sp>
      <p:sp>
        <p:nvSpPr>
          <p:cNvPr id="9" name="Nombres, cifras y términos técnicos pueden fallar">
            <a:extLst xmlns:a="http://schemas.openxmlformats.org/drawingml/2006/main">
              <a:ext uri="{FF2B5EF4-FFF2-40B4-BE49-F238E27FC236}">
                <a16:creationId xmlns:a16="http://schemas.microsoft.com/office/drawing/2014/main" id="{C4C89DA8-75CA-4498-BB7E-5E1802BD0197}"/>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Nombres, cifras y términos técnicos pueden fallar</a:t>
            </a:r>
          </a:p>
        </p:txBody>
      </p:sp>
      <p:sp>
        <p:nvSpPr>
          <p:cNvPr id="10" name="Trazabilidad">
            <a:extLst xmlns:a="http://schemas.openxmlformats.org/drawingml/2006/main">
              <a:ext uri="{FF2B5EF4-FFF2-40B4-BE49-F238E27FC236}">
                <a16:creationId xmlns:a16="http://schemas.microsoft.com/office/drawing/2014/main" id="{FAD8340D-9FDB-48BE-8425-A5DCD396226E}"/>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Trazabilidad</a:t>
            </a:r>
          </a:p>
        </p:txBody>
      </p:sp>
      <p:sp>
        <p:nvSpPr>
          <p:cNvPr id="11" name="Conservar el original y la transcripción utilizada">
            <a:extLst xmlns:a="http://schemas.openxmlformats.org/drawingml/2006/main">
              <a:ext uri="{FF2B5EF4-FFF2-40B4-BE49-F238E27FC236}">
                <a16:creationId xmlns:a16="http://schemas.microsoft.com/office/drawing/2014/main" id="{B11DD332-E5B1-47A1-A8B3-1807A8DCBF6A}"/>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Conservar el original y la transcripción utilizada</a:t>
            </a:r>
          </a:p>
        </p:txBody>
      </p:sp>
      <p:sp>
        <p:nvSpPr>
          <p:cNvPr id="12" name="Un número o una marca mal transcritos cambian la pregunta">
            <a:extLst xmlns:a="http://schemas.openxmlformats.org/drawingml/2006/main">
              <a:ext uri="{FF2B5EF4-FFF2-40B4-BE49-F238E27FC236}">
                <a16:creationId xmlns:a16="http://schemas.microsoft.com/office/drawing/2014/main" id="{E8B5EB77-0278-4C77-B38C-C02167E7739A}"/>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Un número o una marca mal transcritos cambian la pregunta</a:t>
            </a:r>
          </a:p>
        </p:txBody>
      </p:sp>
      <p:sp>
        <p:nvSpPr>
          <p:cNvPr id="13" name="thePower · AI Engineer · S12">
            <a:extLst xmlns:a="http://schemas.openxmlformats.org/drawingml/2006/main">
              <a:ext uri="{FF2B5EF4-FFF2-40B4-BE49-F238E27FC236}">
                <a16:creationId xmlns:a16="http://schemas.microsoft.com/office/drawing/2014/main" id="{F40268AE-3700-4504-9F96-25667894DE1F}"/>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8">
            <a:extLst xmlns:a="http://schemas.openxmlformats.org/drawingml/2006/main">
              <a:ext uri="{FF2B5EF4-FFF2-40B4-BE49-F238E27FC236}">
                <a16:creationId xmlns:a16="http://schemas.microsoft.com/office/drawing/2014/main" id="{B3EF82B2-538C-4071-8557-A747E2E3793B}"/>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8</a:t>
            </a:r>
          </a:p>
        </p:txBody>
      </p:sp>
    </p:spTree>
    <p:extLst>
      <p:ext uri="{BB962C8B-B14F-4D97-AF65-F5344CB8AC3E}">
        <p14:creationId xmlns:p14="http://schemas.microsoft.com/office/powerpoint/2010/main" val="521127353"/>
      </p:ext>
    </p:extLst>
  </p:cSld>
</p:sld>
</file>

<file path=ppt/slides/slide9.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0E925A8-41F9-4144-BB21-FEB164B93EA9}"/>
              </a:ext>
            </a:extLst>
          </p:cNvPr>
          <p:cNvPicPr>
            <a:picLocks xmlns:a="http://schemas.openxmlformats.org/drawingml/2006/main" noChangeAspect="1"/>
          </p:cNvPicPr>
          <p:nvPr/>
        </p:nvPicPr>
        <p:blipFill>
          <a:blip xmlns:r="http://schemas.openxmlformats.org/officeDocument/2006/relationships" xmlns:a="http://schemas.openxmlformats.org/drawingml/2006/main" r:embed="R0e2d511125a540b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Fusión de entradas">
            <a:extLst xmlns:a="http://schemas.openxmlformats.org/drawingml/2006/main">
              <a:ext uri="{FF2B5EF4-FFF2-40B4-BE49-F238E27FC236}">
                <a16:creationId xmlns:a16="http://schemas.microsoft.com/office/drawing/2014/main" id="{CDCCC4A7-293C-42C9-B478-9229E7E93730}"/>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Fusión de entradas</a:t>
            </a:r>
          </a:p>
        </p:txBody>
      </p:sp>
      <p:sp>
        <p:nvSpPr>
          <p:cNvPr id="3" name="Cada entrada aporta una parte distinta de la pregunta">
            <a:extLst xmlns:a="http://schemas.openxmlformats.org/drawingml/2006/main">
              <a:ext uri="{FF2B5EF4-FFF2-40B4-BE49-F238E27FC236}">
                <a16:creationId xmlns:a16="http://schemas.microsoft.com/office/drawing/2014/main" id="{87AA7B4C-1477-4FD6-A9FD-7B282F77EED7}"/>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Cada entrada aporta una parte distinta de la pregunta</a:t>
            </a:r>
          </a:p>
        </p:txBody>
      </p:sp>
      <p:sp>
        <p:nvSpPr>
          <p:cNvPr id="4" name="La imagen">
            <a:extLst xmlns:a="http://schemas.openxmlformats.org/drawingml/2006/main">
              <a:ext uri="{FF2B5EF4-FFF2-40B4-BE49-F238E27FC236}">
                <a16:creationId xmlns:a16="http://schemas.microsoft.com/office/drawing/2014/main" id="{C02D24B0-5868-48B3-9077-3116973AFDD7}"/>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La imagen</a:t>
            </a:r>
          </a:p>
        </p:txBody>
      </p:sp>
      <p:sp>
        <p:nvSpPr>
          <p:cNvPr id="5" name="Pedido TPS-20481: auriculares pagados con Bizum">
            <a:extLst xmlns:a="http://schemas.openxmlformats.org/drawingml/2006/main">
              <a:ext uri="{FF2B5EF4-FFF2-40B4-BE49-F238E27FC236}">
                <a16:creationId xmlns:a16="http://schemas.microsoft.com/office/drawing/2014/main" id="{535A3642-E282-4C27-B8BC-E6CA91DCC661}"/>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Pedido TPS-20481: auriculares pagados con Bizum</a:t>
            </a:r>
          </a:p>
        </p:txBody>
      </p:sp>
      <p:sp>
        <p:nvSpPr>
          <p:cNvPr id="6" name="El audio">
            <a:extLst xmlns:a="http://schemas.openxmlformats.org/drawingml/2006/main">
              <a:ext uri="{FF2B5EF4-FFF2-40B4-BE49-F238E27FC236}">
                <a16:creationId xmlns:a16="http://schemas.microsoft.com/office/drawing/2014/main" id="{E4CD2672-B3E6-4784-9B47-19D35A70C187}"/>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El audio</a:t>
            </a:r>
          </a:p>
        </p:txBody>
      </p:sp>
      <p:sp>
        <p:nvSpPr>
          <p:cNvPr id="7" name="Los abrió y el auricular derecho no suena">
            <a:extLst xmlns:a="http://schemas.openxmlformats.org/drawingml/2006/main">
              <a:ext uri="{FF2B5EF4-FFF2-40B4-BE49-F238E27FC236}">
                <a16:creationId xmlns:a16="http://schemas.microsoft.com/office/drawing/2014/main" id="{56BCAFB8-6224-4DAC-8E09-120A1906546C}"/>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Los abrió y el auricular derecho no suena</a:t>
            </a:r>
          </a:p>
        </p:txBody>
      </p:sp>
      <p:sp>
        <p:nvSpPr>
          <p:cNvPr id="8" name="La intención">
            <a:extLst xmlns:a="http://schemas.openxmlformats.org/drawingml/2006/main">
              <a:ext uri="{FF2B5EF4-FFF2-40B4-BE49-F238E27FC236}">
                <a16:creationId xmlns:a16="http://schemas.microsoft.com/office/drawing/2014/main" id="{935FC080-8A3C-4902-A2F5-D46335D33A2C}"/>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La intención</a:t>
            </a:r>
          </a:p>
        </p:txBody>
      </p:sp>
      <p:sp>
        <p:nvSpPr>
          <p:cNvPr id="9" name="Saber si puede devolverlos y cuándo recibe el dinero">
            <a:extLst xmlns:a="http://schemas.openxmlformats.org/drawingml/2006/main">
              <a:ext uri="{FF2B5EF4-FFF2-40B4-BE49-F238E27FC236}">
                <a16:creationId xmlns:a16="http://schemas.microsoft.com/office/drawing/2014/main" id="{7B21CE16-F738-4D24-BE39-13E6084F6294}"/>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Saber si puede devolverlos y cuándo recibe el dinero</a:t>
            </a:r>
          </a:p>
        </p:txBody>
      </p:sp>
      <p:sp>
        <p:nvSpPr>
          <p:cNvPr id="10" name="La pregunta">
            <a:extLst xmlns:a="http://schemas.openxmlformats.org/drawingml/2006/main">
              <a:ext uri="{FF2B5EF4-FFF2-40B4-BE49-F238E27FC236}">
                <a16:creationId xmlns:a16="http://schemas.microsoft.com/office/drawing/2014/main" id="{30882E28-4E08-45B3-8EB3-53E83B2B1F27}"/>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La pregunta</a:t>
            </a:r>
          </a:p>
        </p:txBody>
      </p:sp>
      <p:sp>
        <p:nvSpPr>
          <p:cNvPr id="11" name="Qué dicen la política de la tienda y la normativa para este pedido">
            <a:extLst xmlns:a="http://schemas.openxmlformats.org/drawingml/2006/main">
              <a:ext uri="{FF2B5EF4-FFF2-40B4-BE49-F238E27FC236}">
                <a16:creationId xmlns:a16="http://schemas.microsoft.com/office/drawing/2014/main" id="{B1CB6375-2366-4BF7-9B5A-CD36201608E9}"/>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Qué dicen la política de la tienda y la normativa para este pedido</a:t>
            </a:r>
          </a:p>
        </p:txBody>
      </p:sp>
      <p:sp>
        <p:nvSpPr>
          <p:cNvPr id="12" name="Una contradicción o una entrada que no cabe exige aclaración">
            <a:extLst xmlns:a="http://schemas.openxmlformats.org/drawingml/2006/main">
              <a:ext uri="{FF2B5EF4-FFF2-40B4-BE49-F238E27FC236}">
                <a16:creationId xmlns:a16="http://schemas.microsoft.com/office/drawing/2014/main" id="{27A6804C-9A68-4D67-8ADB-2C5C24C72116}"/>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Una contradicción o una entrada que no cabe exige aclaración</a:t>
            </a:r>
          </a:p>
        </p:txBody>
      </p:sp>
      <p:sp>
        <p:nvSpPr>
          <p:cNvPr id="13" name="thePower · AI Engineer · S12">
            <a:extLst xmlns:a="http://schemas.openxmlformats.org/drawingml/2006/main">
              <a:ext uri="{FF2B5EF4-FFF2-40B4-BE49-F238E27FC236}">
                <a16:creationId xmlns:a16="http://schemas.microsoft.com/office/drawing/2014/main" id="{293F6D13-EFB4-4F02-B527-EAFD6A39B047}"/>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9">
            <a:extLst xmlns:a="http://schemas.openxmlformats.org/drawingml/2006/main">
              <a:ext uri="{FF2B5EF4-FFF2-40B4-BE49-F238E27FC236}">
                <a16:creationId xmlns:a16="http://schemas.microsoft.com/office/drawing/2014/main" id="{5B6DDBE3-4EA7-496E-BEC6-907F7C6ED22A}"/>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9</a:t>
            </a:r>
          </a:p>
        </p:txBody>
      </p:sp>
    </p:spTree>
    <p:extLst>
      <p:ext uri="{BB962C8B-B14F-4D97-AF65-F5344CB8AC3E}">
        <p14:creationId xmlns:p14="http://schemas.microsoft.com/office/powerpoint/2010/main" val="1088293626"/>
      </p:ext>
    </p:extLst>
  </p:cSld>
</p:sld>
</file>

<file path=ppt/slides/slide10.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E49C073-7077-486F-BC0F-84F5817F6CC4}"/>
              </a:ext>
            </a:extLst>
          </p:cNvPr>
          <p:cNvPicPr>
            <a:picLocks xmlns:a="http://schemas.openxmlformats.org/drawingml/2006/main" noChangeAspect="1"/>
          </p:cNvPicPr>
          <p:nvPr/>
        </p:nvPicPr>
        <p:blipFill>
          <a:blip xmlns:r="http://schemas.openxmlformats.org/officeDocument/2006/relationships" xmlns:a="http://schemas.openxmlformats.org/drawingml/2006/main" r:embed="R481add1a4fd14ee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Herramientas y elección de ruta">
            <a:extLst xmlns:a="http://schemas.openxmlformats.org/drawingml/2006/main">
              <a:ext uri="{FF2B5EF4-FFF2-40B4-BE49-F238E27FC236}">
                <a16:creationId xmlns:a16="http://schemas.microsoft.com/office/drawing/2014/main" id="{07093DDC-4CC1-47A5-B7C0-39A98AE96DEC}"/>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Herramientas y elección de ruta</a:t>
            </a:r>
          </a:p>
        </p:txBody>
      </p:sp>
      <p:sp>
        <p:nvSpPr>
          <p:cNvPr id="3" name="Una herramienta es una función con un contrato y un alcance">
            <a:extLst xmlns:a="http://schemas.openxmlformats.org/drawingml/2006/main">
              <a:ext uri="{FF2B5EF4-FFF2-40B4-BE49-F238E27FC236}">
                <a16:creationId xmlns:a16="http://schemas.microsoft.com/office/drawing/2014/main" id="{7F9B6C83-1B9A-4FF1-B285-F70830604909}"/>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Una herramienta es una función con un contrato y un alcance</a:t>
            </a:r>
          </a:p>
        </p:txBody>
      </p:sp>
      <p:sp>
        <p:nvSpPr>
          <p:cNvPr id="4" name="Consulta directa">
            <a:extLst xmlns:a="http://schemas.openxmlformats.org/drawingml/2006/main">
              <a:ext uri="{FF2B5EF4-FFF2-40B4-BE49-F238E27FC236}">
                <a16:creationId xmlns:a16="http://schemas.microsoft.com/office/drawing/2014/main" id="{61C386BA-4019-499A-A509-7007BB92AF6E}"/>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Consulta directa</a:t>
            </a:r>
          </a:p>
        </p:txBody>
      </p:sp>
      <p:sp>
        <p:nvSpPr>
          <p:cNvPr id="5" name="La respuesta necesita solo el contexto disponible">
            <a:extLst xmlns:a="http://schemas.openxmlformats.org/drawingml/2006/main">
              <a:ext uri="{FF2B5EF4-FFF2-40B4-BE49-F238E27FC236}">
                <a16:creationId xmlns:a16="http://schemas.microsoft.com/office/drawing/2014/main" id="{F21B40F1-F8F2-4510-9636-5BFE68B28C86}"/>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La respuesta necesita solo el contexto disponible</a:t>
            </a:r>
          </a:p>
        </p:txBody>
      </p:sp>
      <p:sp>
        <p:nvSpPr>
          <p:cNvPr id="6" name="Herramienta">
            <a:extLst xmlns:a="http://schemas.openxmlformats.org/drawingml/2006/main">
              <a:ext uri="{FF2B5EF4-FFF2-40B4-BE49-F238E27FC236}">
                <a16:creationId xmlns:a16="http://schemas.microsoft.com/office/drawing/2014/main" id="{9ABDD49E-43B7-4A38-8652-1215C96C31E8}"/>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Herramienta</a:t>
            </a:r>
          </a:p>
        </p:txBody>
      </p:sp>
      <p:sp>
        <p:nvSpPr>
          <p:cNvPr id="7" name="Leer un dato estructurado con argumentos validados">
            <a:extLst xmlns:a="http://schemas.openxmlformats.org/drawingml/2006/main">
              <a:ext uri="{FF2B5EF4-FFF2-40B4-BE49-F238E27FC236}">
                <a16:creationId xmlns:a16="http://schemas.microsoft.com/office/drawing/2014/main" id="{C726C78C-23FB-48C0-8C83-B46078ED7137}"/>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Leer un dato estructurado con argumentos validados</a:t>
            </a:r>
          </a:p>
        </p:txBody>
      </p:sp>
      <p:sp>
        <p:nvSpPr>
          <p:cNvPr id="8" name="Investigación">
            <a:extLst xmlns:a="http://schemas.openxmlformats.org/drawingml/2006/main">
              <a:ext uri="{FF2B5EF4-FFF2-40B4-BE49-F238E27FC236}">
                <a16:creationId xmlns:a16="http://schemas.microsoft.com/office/drawing/2014/main" id="{D711C75B-C7D4-4430-B245-8EBCAD5794EB}"/>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Investigación</a:t>
            </a:r>
          </a:p>
        </p:txBody>
      </p:sp>
      <p:sp>
        <p:nvSpPr>
          <p:cNvPr id="9" name="Buscar y leer fuentes para resolver una laguna">
            <a:extLst xmlns:a="http://schemas.openxmlformats.org/drawingml/2006/main">
              <a:ext uri="{FF2B5EF4-FFF2-40B4-BE49-F238E27FC236}">
                <a16:creationId xmlns:a16="http://schemas.microsoft.com/office/drawing/2014/main" id="{D9FC1F99-ED2B-4182-9E0B-CAF6FA1221A5}"/>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Buscar y leer fuentes para resolver una laguna</a:t>
            </a:r>
          </a:p>
        </p:txBody>
      </p:sp>
      <p:sp>
        <p:nvSpPr>
          <p:cNvPr id="10" name="Ejemplo de aula">
            <a:extLst xmlns:a="http://schemas.openxmlformats.org/drawingml/2006/main">
              <a:ext uri="{FF2B5EF4-FFF2-40B4-BE49-F238E27FC236}">
                <a16:creationId xmlns:a16="http://schemas.microsoft.com/office/drawing/2014/main" id="{74D79FD2-23FF-41BC-B97A-03EA8AC6F1C9}"/>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Ejemplo de aula</a:t>
            </a:r>
          </a:p>
        </p:txBody>
      </p:sp>
      <p:sp>
        <p:nvSpPr>
          <p:cNvPr id="11" name="get_order lee el pedido TPS-20481 de la cuenta de la conversación">
            <a:extLst xmlns:a="http://schemas.openxmlformats.org/drawingml/2006/main">
              <a:ext uri="{FF2B5EF4-FFF2-40B4-BE49-F238E27FC236}">
                <a16:creationId xmlns:a16="http://schemas.microsoft.com/office/drawing/2014/main" id="{4F665CDC-2E18-49F4-9D8E-83F13E7EE4E9}"/>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get_order lee el pedido TPS-20481 de la cuenta de la conversación</a:t>
            </a:r>
          </a:p>
        </p:txBody>
      </p:sp>
      <p:sp>
        <p:nvSpPr>
          <p:cNvPr id="12" name="El programa valida permisos y argumentos antes de ejecutar">
            <a:extLst xmlns:a="http://schemas.openxmlformats.org/drawingml/2006/main">
              <a:ext uri="{FF2B5EF4-FFF2-40B4-BE49-F238E27FC236}">
                <a16:creationId xmlns:a16="http://schemas.microsoft.com/office/drawing/2014/main" id="{7C9FA6B3-458F-4066-97AF-E7F29EDAC8D1}"/>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El programa valida permisos y argumentos antes de ejecutar</a:t>
            </a:r>
          </a:p>
        </p:txBody>
      </p:sp>
      <p:sp>
        <p:nvSpPr>
          <p:cNvPr id="13" name="thePower · AI Engineer · S12">
            <a:extLst xmlns:a="http://schemas.openxmlformats.org/drawingml/2006/main">
              <a:ext uri="{FF2B5EF4-FFF2-40B4-BE49-F238E27FC236}">
                <a16:creationId xmlns:a16="http://schemas.microsoft.com/office/drawing/2014/main" id="{E10BB723-A8BC-4A30-8A01-5BF22A439DA9}"/>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10">
            <a:extLst xmlns:a="http://schemas.openxmlformats.org/drawingml/2006/main">
              <a:ext uri="{FF2B5EF4-FFF2-40B4-BE49-F238E27FC236}">
                <a16:creationId xmlns:a16="http://schemas.microsoft.com/office/drawing/2014/main" id="{F6F42AC6-7C47-4DA7-B99D-03B03CF16215}"/>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10</a:t>
            </a:r>
          </a:p>
        </p:txBody>
      </p:sp>
    </p:spTree>
    <p:extLst>
      <p:ext uri="{BB962C8B-B14F-4D97-AF65-F5344CB8AC3E}">
        <p14:creationId xmlns:p14="http://schemas.microsoft.com/office/powerpoint/2010/main" val="787067106"/>
      </p:ext>
    </p:extLst>
  </p:cSld>
</p:sld>
</file>

<file path=ppt/slides/slide11.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ED32DC9-8369-429D-BD54-6178904990DE}"/>
              </a:ext>
            </a:extLst>
          </p:cNvPr>
          <p:cNvPicPr>
            <a:picLocks xmlns:a="http://schemas.openxmlformats.org/drawingml/2006/main" noChangeAspect="1"/>
          </p:cNvPicPr>
          <p:nvPr/>
        </p:nvPicPr>
        <p:blipFill>
          <a:blip xmlns:r="http://schemas.openxmlformats.org/officeDocument/2006/relationships" xmlns:a="http://schemas.openxmlformats.org/drawingml/2006/main" r:embed="Rb1f428ba01a0407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Memoria y conversaciones aisladas">
            <a:extLst xmlns:a="http://schemas.openxmlformats.org/drawingml/2006/main">
              <a:ext uri="{FF2B5EF4-FFF2-40B4-BE49-F238E27FC236}">
                <a16:creationId xmlns:a16="http://schemas.microsoft.com/office/drawing/2014/main" id="{B8B42C66-383E-4B21-9B79-C1DF9D1DBF2D}"/>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Memoria y conversaciones aisladas</a:t>
            </a:r>
          </a:p>
        </p:txBody>
      </p:sp>
      <p:sp>
        <p:nvSpPr>
          <p:cNvPr id="3" name="La memoria permite entender «ese pedido» en el siguiente turno">
            <a:extLst xmlns:a="http://schemas.openxmlformats.org/drawingml/2006/main">
              <a:ext uri="{FF2B5EF4-FFF2-40B4-BE49-F238E27FC236}">
                <a16:creationId xmlns:a16="http://schemas.microsoft.com/office/drawing/2014/main" id="{3DE59B68-8C51-469E-8A82-7FED424BE15A}"/>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La memoria permite entender «ese pedido» en el siguiente turno</a:t>
            </a:r>
          </a:p>
        </p:txBody>
      </p:sp>
      <p:sp>
        <p:nvSpPr>
          <p:cNvPr id="4" name="Conversación">
            <a:extLst xmlns:a="http://schemas.openxmlformats.org/drawingml/2006/main">
              <a:ext uri="{FF2B5EF4-FFF2-40B4-BE49-F238E27FC236}">
                <a16:creationId xmlns:a16="http://schemas.microsoft.com/office/drawing/2014/main" id="{FAFD1BCD-1EFD-407A-8450-88C00295E00E}"/>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Conversación</a:t>
            </a:r>
          </a:p>
        </p:txBody>
      </p:sp>
      <p:sp>
        <p:nvSpPr>
          <p:cNvPr id="5" name="Un identificador relaciona los turnos del mismo hilo">
            <a:extLst xmlns:a="http://schemas.openxmlformats.org/drawingml/2006/main">
              <a:ext uri="{FF2B5EF4-FFF2-40B4-BE49-F238E27FC236}">
                <a16:creationId xmlns:a16="http://schemas.microsoft.com/office/drawing/2014/main" id="{2C5E88FA-9606-4A8E-BD95-E00AB646FB11}"/>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Un identificador relaciona los turnos del mismo hilo</a:t>
            </a:r>
          </a:p>
        </p:txBody>
      </p:sp>
      <p:sp>
        <p:nvSpPr>
          <p:cNvPr id="6" name="Checkpoint">
            <a:extLst xmlns:a="http://schemas.openxmlformats.org/drawingml/2006/main">
              <a:ext uri="{FF2B5EF4-FFF2-40B4-BE49-F238E27FC236}">
                <a16:creationId xmlns:a16="http://schemas.microsoft.com/office/drawing/2014/main" id="{43CD23E1-3432-40A0-8E69-26533E11583F}"/>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Checkpoint</a:t>
            </a:r>
          </a:p>
        </p:txBody>
      </p:sp>
      <p:sp>
        <p:nvSpPr>
          <p:cNvPr id="7" name="Conserva el estado necesario para continuar el grafo">
            <a:extLst xmlns:a="http://schemas.openxmlformats.org/drawingml/2006/main">
              <a:ext uri="{FF2B5EF4-FFF2-40B4-BE49-F238E27FC236}">
                <a16:creationId xmlns:a16="http://schemas.microsoft.com/office/drawing/2014/main" id="{BC2D20AA-B5E7-4130-86AD-024F3B27FDCA}"/>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Conserva el estado necesario para continuar el grafo</a:t>
            </a:r>
          </a:p>
        </p:txBody>
      </p:sp>
      <p:sp>
        <p:nvSpPr>
          <p:cNvPr id="8" name="Archivos">
            <a:extLst xmlns:a="http://schemas.openxmlformats.org/drawingml/2006/main">
              <a:ext uri="{FF2B5EF4-FFF2-40B4-BE49-F238E27FC236}">
                <a16:creationId xmlns:a16="http://schemas.microsoft.com/office/drawing/2014/main" id="{4161E847-1153-404D-A1F2-E1BEC7FA2AD7}"/>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Archivos</a:t>
            </a:r>
          </a:p>
        </p:txBody>
      </p:sp>
      <p:sp>
        <p:nvSpPr>
          <p:cNvPr id="9" name="Referencias y observaciones, con los bytes fuera del estado">
            <a:extLst xmlns:a="http://schemas.openxmlformats.org/drawingml/2006/main">
              <a:ext uri="{FF2B5EF4-FFF2-40B4-BE49-F238E27FC236}">
                <a16:creationId xmlns:a16="http://schemas.microsoft.com/office/drawing/2014/main" id="{3EC8A952-D706-42D2-B68A-F5EAC2EAAC42}"/>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Referencias y observaciones, con los bytes fuera del estado</a:t>
            </a:r>
          </a:p>
        </p:txBody>
      </p:sp>
      <p:sp>
        <p:nvSpPr>
          <p:cNvPr id="10" name="Aislamiento">
            <a:extLst xmlns:a="http://schemas.openxmlformats.org/drawingml/2006/main">
              <a:ext uri="{FF2B5EF4-FFF2-40B4-BE49-F238E27FC236}">
                <a16:creationId xmlns:a16="http://schemas.microsoft.com/office/drawing/2014/main" id="{8EBE4882-DCC7-4D4C-B1AE-56F57AFE30C1}"/>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Aislamiento</a:t>
            </a:r>
          </a:p>
        </p:txBody>
      </p:sp>
      <p:sp>
        <p:nvSpPr>
          <p:cNvPr id="11" name="Otro hilo o propietario no hereda esos datos">
            <a:extLst xmlns:a="http://schemas.openxmlformats.org/drawingml/2006/main">
              <a:ext uri="{FF2B5EF4-FFF2-40B4-BE49-F238E27FC236}">
                <a16:creationId xmlns:a16="http://schemas.microsoft.com/office/drawing/2014/main" id="{88D3E399-B344-4715-8D9B-D93E62F2956D}"/>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Otro hilo o propietario no hereda esos datos</a:t>
            </a:r>
          </a:p>
        </p:txBody>
      </p:sp>
      <p:sp>
        <p:nvSpPr>
          <p:cNvPr id="12" name="La memoria aporta contexto y las fuentes aportan evidencia">
            <a:extLst xmlns:a="http://schemas.openxmlformats.org/drawingml/2006/main">
              <a:ext uri="{FF2B5EF4-FFF2-40B4-BE49-F238E27FC236}">
                <a16:creationId xmlns:a16="http://schemas.microsoft.com/office/drawing/2014/main" id="{5ED51496-3229-47E8-97C8-9AE0B4CA4F97}"/>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La memoria aporta contexto y las fuentes aportan evidencia</a:t>
            </a:r>
          </a:p>
        </p:txBody>
      </p:sp>
      <p:sp>
        <p:nvSpPr>
          <p:cNvPr id="13" name="thePower · AI Engineer · S12">
            <a:extLst xmlns:a="http://schemas.openxmlformats.org/drawingml/2006/main">
              <a:ext uri="{FF2B5EF4-FFF2-40B4-BE49-F238E27FC236}">
                <a16:creationId xmlns:a16="http://schemas.microsoft.com/office/drawing/2014/main" id="{149C59E8-EF1F-4A2F-BECE-711DD14523D6}"/>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11">
            <a:extLst xmlns:a="http://schemas.openxmlformats.org/drawingml/2006/main">
              <a:ext uri="{FF2B5EF4-FFF2-40B4-BE49-F238E27FC236}">
                <a16:creationId xmlns:a16="http://schemas.microsoft.com/office/drawing/2014/main" id="{B020EE30-0D68-4F0E-A835-53DA79B3D2A8}"/>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11</a:t>
            </a:r>
          </a:p>
        </p:txBody>
      </p:sp>
    </p:spTree>
    <p:extLst>
      <p:ext uri="{BB962C8B-B14F-4D97-AF65-F5344CB8AC3E}">
        <p14:creationId xmlns:p14="http://schemas.microsoft.com/office/powerpoint/2010/main" val="954551213"/>
      </p:ext>
    </p:extLst>
  </p:cSld>
</p:sld>
</file>

<file path=ppt/slides/slide12.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721FC5A-CF74-4020-AED4-5A75841536BD}"/>
              </a:ext>
            </a:extLst>
          </p:cNvPr>
          <p:cNvPicPr>
            <a:picLocks xmlns:a="http://schemas.openxmlformats.org/drawingml/2006/main" noChangeAspect="1"/>
          </p:cNvPicPr>
          <p:nvPr/>
        </p:nvPicPr>
        <p:blipFill>
          <a:blip xmlns:r="http://schemas.openxmlformats.org/officeDocument/2006/relationships" xmlns:a="http://schemas.openxmlformats.org/drawingml/2006/main" r:embed="R42d8d006aa234af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Deep Research">
            <a:extLst xmlns:a="http://schemas.openxmlformats.org/drawingml/2006/main">
              <a:ext uri="{FF2B5EF4-FFF2-40B4-BE49-F238E27FC236}">
                <a16:creationId xmlns:a16="http://schemas.microsoft.com/office/drawing/2014/main" id="{76D67C08-271D-4FB9-B5E6-1434BBEB627F}"/>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Deep Research</a:t>
            </a:r>
          </a:p>
        </p:txBody>
      </p:sp>
      <p:sp>
        <p:nvSpPr>
          <p:cNvPr id="3" name="Una investigación reúne y revisa evidencia antes de redactar">
            <a:extLst xmlns:a="http://schemas.openxmlformats.org/drawingml/2006/main">
              <a:ext uri="{FF2B5EF4-FFF2-40B4-BE49-F238E27FC236}">
                <a16:creationId xmlns:a16="http://schemas.microsoft.com/office/drawing/2014/main" id="{C17E05B9-6DED-4EA1-B985-9095F79D5082}"/>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Una investigación reúne y revisa evidencia antes de redactar</a:t>
            </a:r>
          </a:p>
        </p:txBody>
      </p:sp>
      <p:sp>
        <p:nvSpPr>
          <p:cNvPr id="4" name="Planificar">
            <a:extLst xmlns:a="http://schemas.openxmlformats.org/drawingml/2006/main">
              <a:ext uri="{FF2B5EF4-FFF2-40B4-BE49-F238E27FC236}">
                <a16:creationId xmlns:a16="http://schemas.microsoft.com/office/drawing/2014/main" id="{7E4C3DBD-3885-4962-8980-796A0863EBA5}"/>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Planificar</a:t>
            </a:r>
          </a:p>
        </p:txBody>
      </p:sp>
      <p:sp>
        <p:nvSpPr>
          <p:cNvPr id="5" name="Dividir la pregunta y decidir qué falta comprobar">
            <a:extLst xmlns:a="http://schemas.openxmlformats.org/drawingml/2006/main">
              <a:ext uri="{FF2B5EF4-FFF2-40B4-BE49-F238E27FC236}">
                <a16:creationId xmlns:a16="http://schemas.microsoft.com/office/drawing/2014/main" id="{0C386626-26BA-410F-BAC2-D2798E9E45F3}"/>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Dividir la pregunta y decidir qué falta comprobar</a:t>
            </a:r>
          </a:p>
        </p:txBody>
      </p:sp>
      <p:sp>
        <p:nvSpPr>
          <p:cNvPr id="6" name="Reunir">
            <a:extLst xmlns:a="http://schemas.openxmlformats.org/drawingml/2006/main">
              <a:ext uri="{FF2B5EF4-FFF2-40B4-BE49-F238E27FC236}">
                <a16:creationId xmlns:a16="http://schemas.microsoft.com/office/drawing/2014/main" id="{179151FD-75F2-4741-B775-25DC94B5CE50}"/>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Reunir</a:t>
            </a:r>
          </a:p>
        </p:txBody>
      </p:sp>
      <p:sp>
        <p:nvSpPr>
          <p:cNvPr id="7" name="Consultar corpus, herramientas y páginas relevantes">
            <a:extLst xmlns:a="http://schemas.openxmlformats.org/drawingml/2006/main">
              <a:ext uri="{FF2B5EF4-FFF2-40B4-BE49-F238E27FC236}">
                <a16:creationId xmlns:a16="http://schemas.microsoft.com/office/drawing/2014/main" id="{082F5D41-9E76-4F59-9331-60E66B0955FD}"/>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Consultar corpus, herramientas y páginas relevantes</a:t>
            </a:r>
          </a:p>
        </p:txBody>
      </p:sp>
      <p:sp>
        <p:nvSpPr>
          <p:cNvPr id="8" name="Evaluar">
            <a:extLst xmlns:a="http://schemas.openxmlformats.org/drawingml/2006/main">
              <a:ext uri="{FF2B5EF4-FFF2-40B4-BE49-F238E27FC236}">
                <a16:creationId xmlns:a16="http://schemas.microsoft.com/office/drawing/2014/main" id="{3EF15735-A348-45EE-ABCE-6FB54AABA000}"/>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Evaluar</a:t>
            </a:r>
          </a:p>
        </p:txBody>
      </p:sp>
      <p:sp>
        <p:nvSpPr>
          <p:cNvPr id="9" name="Comprobar qué subpreguntas siguen sin respuesta">
            <a:extLst xmlns:a="http://schemas.openxmlformats.org/drawingml/2006/main">
              <a:ext uri="{FF2B5EF4-FFF2-40B4-BE49-F238E27FC236}">
                <a16:creationId xmlns:a16="http://schemas.microsoft.com/office/drawing/2014/main" id="{DE867214-70B3-43AE-A997-8103140B5851}"/>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Comprobar qué subpreguntas siguen sin respuesta</a:t>
            </a:r>
          </a:p>
        </p:txBody>
      </p:sp>
      <p:sp>
        <p:nvSpPr>
          <p:cNvPr id="10" name="Cerrar">
            <a:extLst xmlns:a="http://schemas.openxmlformats.org/drawingml/2006/main">
              <a:ext uri="{FF2B5EF4-FFF2-40B4-BE49-F238E27FC236}">
                <a16:creationId xmlns:a16="http://schemas.microsoft.com/office/drawing/2014/main" id="{2913EFD6-D7D6-4BA1-8874-21BCB486C5D5}"/>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Cerrar</a:t>
            </a:r>
          </a:p>
        </p:txBody>
      </p:sp>
      <p:sp>
        <p:nvSpPr>
          <p:cNvPr id="11" name="Redactar con fuentes o explicar los límites">
            <a:extLst xmlns:a="http://schemas.openxmlformats.org/drawingml/2006/main">
              <a:ext uri="{FF2B5EF4-FFF2-40B4-BE49-F238E27FC236}">
                <a16:creationId xmlns:a16="http://schemas.microsoft.com/office/drawing/2014/main" id="{EA5DE99A-F440-474B-873F-82B65C544FF2}"/>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Redactar con fuentes o explicar los límites</a:t>
            </a:r>
          </a:p>
        </p:txBody>
      </p:sp>
      <p:sp>
        <p:nvSpPr>
          <p:cNvPr id="12" name="Otra ronda solo se justifica si puede resolver una laguna">
            <a:extLst xmlns:a="http://schemas.openxmlformats.org/drawingml/2006/main">
              <a:ext uri="{FF2B5EF4-FFF2-40B4-BE49-F238E27FC236}">
                <a16:creationId xmlns:a16="http://schemas.microsoft.com/office/drawing/2014/main" id="{0504D47B-BF81-414E-B0B3-F393A2ED2FA5}"/>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Otra ronda solo se justifica si puede resolver una laguna</a:t>
            </a:r>
          </a:p>
        </p:txBody>
      </p:sp>
      <p:sp>
        <p:nvSpPr>
          <p:cNvPr id="13" name="thePower · AI Engineer · S12">
            <a:extLst xmlns:a="http://schemas.openxmlformats.org/drawingml/2006/main">
              <a:ext uri="{FF2B5EF4-FFF2-40B4-BE49-F238E27FC236}">
                <a16:creationId xmlns:a16="http://schemas.microsoft.com/office/drawing/2014/main" id="{22951B8C-DF8E-45F9-82D3-A84E75A647F0}"/>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12">
            <a:extLst xmlns:a="http://schemas.openxmlformats.org/drawingml/2006/main">
              <a:ext uri="{FF2B5EF4-FFF2-40B4-BE49-F238E27FC236}">
                <a16:creationId xmlns:a16="http://schemas.microsoft.com/office/drawing/2014/main" id="{7C3464F0-D3A0-405C-A682-A8A7FCF97CEE}"/>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12</a:t>
            </a:r>
          </a:p>
        </p:txBody>
      </p:sp>
    </p:spTree>
    <p:extLst>
      <p:ext uri="{BB962C8B-B14F-4D97-AF65-F5344CB8AC3E}">
        <p14:creationId xmlns:p14="http://schemas.microsoft.com/office/powerpoint/2010/main" val="66805291"/>
      </p:ext>
    </p:extLst>
  </p:cSld>
</p:sld>
</file>

<file path=ppt/slides/slide13.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6DD799A-2E1A-45E5-8745-626DEE80F5A4}"/>
              </a:ext>
            </a:extLst>
          </p:cNvPr>
          <p:cNvPicPr>
            <a:picLocks xmlns:a="http://schemas.openxmlformats.org/drawingml/2006/main" noChangeAspect="1"/>
          </p:cNvPicPr>
          <p:nvPr/>
        </p:nvPicPr>
        <p:blipFill>
          <a:blip xmlns:r="http://schemas.openxmlformats.org/officeDocument/2006/relationships" xmlns:a="http://schemas.openxmlformats.org/drawingml/2006/main" r:embed="Re915ad05f566433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Búsqueda, lectura y evidencia">
            <a:extLst xmlns:a="http://schemas.openxmlformats.org/drawingml/2006/main">
              <a:ext uri="{FF2B5EF4-FFF2-40B4-BE49-F238E27FC236}">
                <a16:creationId xmlns:a16="http://schemas.microsoft.com/office/drawing/2014/main" id="{1ED9C16B-4968-4525-8BEF-67FFE3BACFA4}"/>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Búsqueda, lectura y evidencia</a:t>
            </a:r>
          </a:p>
        </p:txBody>
      </p:sp>
      <p:graphicFrame>
        <p:nvGraphicFramePr>
          <p:cNvPr id="3" name="">
            <a:extLst xmlns:a="http://schemas.openxmlformats.org/drawingml/2006/main">
              <a:ext uri="{FF2B5EF4-FFF2-40B4-BE49-F238E27FC236}">
                <a16:creationId xmlns:a16="http://schemas.microsoft.com/office/drawing/2014/main" id="{5F2F2F3B-9938-44EB-B2D1-CC2210AE1F2C}"/>
              </a:ext>
            </a:extLst>
          </p:cNvPr>
          <p:cNvGraphicFramePr/>
          <p:nvPr/>
        </p:nvGraphicFramePr>
        <p:xfrm>
          <a:off xmlns:a="http://schemas.openxmlformats.org/drawingml/2006/main" x="609600" y="1752600"/>
          <a:ext xmlns:a="http://schemas.openxmlformats.org/drawingml/2006/main" cx="10972800" cy="3943350"/>
        </p:xfrm>
        <a:graphic xmlns:a="http://schemas.openxmlformats.org/drawingml/2006/main">
          <a:graphicData uri="http://schemas.openxmlformats.org/drawingml/2006/table">
            <a:tbl>
              <a:tblPr/>
              <a:tblGrid>
                <a:gridCol w="2667000"/>
                <a:gridCol w="4095750"/>
                <a:gridCol w="4210050"/>
              </a:tblGrid>
              <a:tr h="788670">
                <a:tc>
                  <a:txBody>
                    <a:bodyPr lIns="133350" tIns="123825" rIns="152400" bIns="76200">
                      <a:noAutofit/>
                    </a:bodyPr>
                    <a:lstStyle/>
                    <a:p>
                      <a:r>
                        <a:rPr sz="1725" b="1">
                          <a:solidFill>
                            <a:srgbClr val="53DFBC"/>
                          </a:solidFill>
                          <a:latin typeface="Arial"/>
                          <a:ea typeface="Arial"/>
                          <a:cs typeface="Arial"/>
                        </a:rPr>
                        <a:t>Pieza</a:t>
                      </a:r>
                    </a:p>
                  </a:txBody>
                  <a:tcPr marL="91440" marR="91440" marT="45720" marB="45720" anchor="ctr">
                    <a:lnL w="0">
                      <a:noFill/>
                    </a:lnL>
                    <a:lnR w="0">
                      <a:noFill/>
                    </a:lnR>
                    <a:lnT w="0">
                      <a:noFill/>
                    </a:lnT>
                    <a:lnB w="0">
                      <a:noFill/>
                    </a:lnB>
                    <a:solidFill>
                      <a:srgbClr val="17333E"/>
                    </a:solidFill>
                  </a:tcPr>
                </a:tc>
                <a:tc>
                  <a:txBody>
                    <a:bodyPr lIns="133350" tIns="123825" rIns="152400" bIns="76200">
                      <a:noAutofit/>
                    </a:bodyPr>
                    <a:lstStyle/>
                    <a:p>
                      <a:r>
                        <a:rPr sz="1725" b="1">
                          <a:solidFill>
                            <a:srgbClr val="53DFBC"/>
                          </a:solidFill>
                          <a:latin typeface="Arial"/>
                          <a:ea typeface="Arial"/>
                          <a:cs typeface="Arial"/>
                        </a:rPr>
                        <a:t>Qué aporta</a:t>
                      </a:r>
                    </a:p>
                  </a:txBody>
                  <a:tcPr marL="91440" marR="91440" marT="45720" marB="45720" anchor="ctr">
                    <a:lnR w="0">
                      <a:noFill/>
                    </a:lnR>
                    <a:lnT w="0">
                      <a:noFill/>
                    </a:lnT>
                    <a:lnB w="0">
                      <a:noFill/>
                    </a:lnB>
                    <a:solidFill>
                      <a:srgbClr val="17333E"/>
                    </a:solidFill>
                  </a:tcPr>
                </a:tc>
                <a:tc>
                  <a:txBody>
                    <a:bodyPr lIns="133350" tIns="123825" rIns="152400" bIns="76200">
                      <a:noAutofit/>
                    </a:bodyPr>
                    <a:lstStyle/>
                    <a:p>
                      <a:r>
                        <a:rPr sz="1725" b="1">
                          <a:solidFill>
                            <a:srgbClr val="53DFBC"/>
                          </a:solidFill>
                          <a:latin typeface="Arial"/>
                          <a:ea typeface="Arial"/>
                          <a:cs typeface="Arial"/>
                        </a:rPr>
                        <a:t>Qué hay que comprobar</a:t>
                      </a:r>
                    </a:p>
                  </a:txBody>
                  <a:tcPr marL="91440" marR="91440" marT="45720" marB="45720" anchor="ctr">
                    <a:lnR w="0">
                      <a:noFill/>
                    </a:lnR>
                    <a:lnT w="0">
                      <a:noFill/>
                    </a:lnT>
                    <a:lnB w="0">
                      <a:noFill/>
                    </a:lnB>
                    <a:solidFill>
                      <a:srgbClr val="17333E"/>
                    </a:solidFill>
                  </a:tcPr>
                </a:tc>
              </a:tr>
              <a:tr h="788670">
                <a:tc>
                  <a:txBody>
                    <a:bodyPr lIns="133350" tIns="123825" rIns="152400" bIns="76200">
                      <a:noAutofit/>
                    </a:bodyPr>
                    <a:lstStyle/>
                    <a:p>
                      <a:r>
                        <a:rPr sz="1875" b="1">
                          <a:solidFill>
                            <a:srgbClr val="53DFBC"/>
                          </a:solidFill>
                          <a:latin typeface="Arial"/>
                          <a:ea typeface="Arial"/>
                          <a:cs typeface="Arial"/>
                        </a:rPr>
                        <a:t>Resultado del buscador</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Una página candidata</a:t>
                      </a:r>
                    </a:p>
                  </a:txBody>
                  <a:tcPr marL="91440" marR="91440" marT="45720" marB="45720" anchor="ctr">
                    <a:lnR w="0">
                      <a:noFill/>
                    </a:lnR>
                    <a:lnB w="0">
                      <a:noFill/>
                    </a:lnB>
                    <a:noFill/>
                  </a:tcPr>
                </a:tc>
                <a:tc>
                  <a:txBody>
                    <a:bodyPr lIns="133350" tIns="123825" rIns="152400" bIns="76200">
                      <a:noAutofit/>
                    </a:bodyPr>
                    <a:lstStyle/>
                    <a:p>
                      <a:r>
                        <a:rPr sz="1875" b="0">
                          <a:solidFill>
                            <a:srgbClr val="F4F7FA"/>
                          </a:solidFill>
                          <a:latin typeface="Arial"/>
                          <a:ea typeface="Arial"/>
                          <a:cs typeface="Arial"/>
                        </a:rPr>
                        <a:t>Dominio, tema y versión</a:t>
                      </a:r>
                    </a:p>
                  </a:txBody>
                  <a:tcPr marL="91440" marR="91440" marT="45720" marB="45720" anchor="ctr">
                    <a:lnR w="0">
                      <a:noFill/>
                    </a:lnR>
                    <a:lnB w="0">
                      <a:noFill/>
                    </a:lnB>
                    <a:noFill/>
                  </a:tcPr>
                </a:tc>
              </a:tr>
              <a:tr h="788670">
                <a:tc>
                  <a:txBody>
                    <a:bodyPr lIns="133350" tIns="123825" rIns="152400" bIns="76200">
                      <a:noAutofit/>
                    </a:bodyPr>
                    <a:lstStyle/>
                    <a:p>
                      <a:r>
                        <a:rPr sz="1875" b="1">
                          <a:solidFill>
                            <a:srgbClr val="53DFBC"/>
                          </a:solidFill>
                          <a:latin typeface="Arial"/>
                          <a:ea typeface="Arial"/>
                          <a:cs typeface="Arial"/>
                        </a:rPr>
                        <a:t>Página leída</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Contenido y contexto</a:t>
                      </a:r>
                    </a:p>
                  </a:txBody>
                  <a:tcPr marL="91440" marR="91440" marT="45720" marB="45720" anchor="ctr">
                    <a:lnR w="0">
                      <a:noFill/>
                    </a:lnR>
                    <a:lnB w="0">
                      <a:noFill/>
                    </a:lnB>
                    <a:noFill/>
                  </a:tcPr>
                </a:tc>
                <a:tc>
                  <a:txBody>
                    <a:bodyPr lIns="133350" tIns="123825" rIns="152400" bIns="76200">
                      <a:noAutofit/>
                    </a:bodyPr>
                    <a:lstStyle/>
                    <a:p>
                      <a:r>
                        <a:rPr sz="1875" b="0">
                          <a:solidFill>
                            <a:srgbClr val="F4F7FA"/>
                          </a:solidFill>
                          <a:latin typeface="Arial"/>
                          <a:ea typeface="Arial"/>
                          <a:cs typeface="Arial"/>
                        </a:rPr>
                        <a:t>Que responda a la pregunta</a:t>
                      </a:r>
                    </a:p>
                  </a:txBody>
                  <a:tcPr marL="91440" marR="91440" marT="45720" marB="45720" anchor="ctr">
                    <a:lnR w="0">
                      <a:noFill/>
                    </a:lnR>
                    <a:lnB w="0">
                      <a:noFill/>
                    </a:lnB>
                    <a:noFill/>
                  </a:tcPr>
                </a:tc>
              </a:tr>
              <a:tr h="788670">
                <a:tc>
                  <a:txBody>
                    <a:bodyPr lIns="133350" tIns="123825" rIns="152400" bIns="76200">
                      <a:noAutofit/>
                    </a:bodyPr>
                    <a:lstStyle/>
                    <a:p>
                      <a:r>
                        <a:rPr sz="1875" b="1">
                          <a:solidFill>
                            <a:srgbClr val="53DFBC"/>
                          </a:solidFill>
                          <a:latin typeface="Arial"/>
                          <a:ea typeface="Arial"/>
                          <a:cs typeface="Arial"/>
                        </a:rPr>
                        <a:t>Extracto</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Un tramo que respalda una afirmación</a:t>
                      </a:r>
                    </a:p>
                  </a:txBody>
                  <a:tcPr marL="91440" marR="91440" marT="45720" marB="45720" anchor="ctr">
                    <a:lnR w="0">
                      <a:noFill/>
                    </a:lnR>
                    <a:lnB w="0">
                      <a:noFill/>
                    </a:lnB>
                    <a:noFill/>
                  </a:tcPr>
                </a:tc>
                <a:tc>
                  <a:txBody>
                    <a:bodyPr lIns="133350" tIns="123825" rIns="152400" bIns="76200">
                      <a:noAutofit/>
                    </a:bodyPr>
                    <a:lstStyle/>
                    <a:p>
                      <a:r>
                        <a:rPr sz="1875" b="0">
                          <a:solidFill>
                            <a:srgbClr val="F4F7FA"/>
                          </a:solidFill>
                          <a:latin typeface="Arial"/>
                          <a:ea typeface="Arial"/>
                          <a:cs typeface="Arial"/>
                        </a:rPr>
                        <a:t>Texto, cifras y procedencia</a:t>
                      </a:r>
                    </a:p>
                  </a:txBody>
                  <a:tcPr marL="91440" marR="91440" marT="45720" marB="45720" anchor="ctr">
                    <a:lnR w="0">
                      <a:noFill/>
                    </a:lnR>
                    <a:lnB w="0">
                      <a:noFill/>
                    </a:lnB>
                    <a:noFill/>
                  </a:tcPr>
                </a:tc>
              </a:tr>
              <a:tr h="788670">
                <a:tc>
                  <a:txBody>
                    <a:bodyPr lIns="133350" tIns="123825" rIns="152400" bIns="76200">
                      <a:noAutofit/>
                    </a:bodyPr>
                    <a:lstStyle/>
                    <a:p>
                      <a:r>
                        <a:rPr sz="1875" b="1">
                          <a:solidFill>
                            <a:srgbClr val="53DFBC"/>
                          </a:solidFill>
                          <a:latin typeface="Arial"/>
                          <a:ea typeface="Arial"/>
                          <a:cs typeface="Arial"/>
                        </a:rPr>
                        <a:t>Adjunto del usuario</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Una observación del caso</a:t>
                      </a:r>
                    </a:p>
                  </a:txBody>
                  <a:tcPr marL="91440" marR="91440" marT="45720" marB="45720" anchor="ctr">
                    <a:lnR w="0">
                      <a:noFill/>
                    </a:lnR>
                    <a:lnB w="0">
                      <a:noFill/>
                    </a:lnB>
                    <a:noFill/>
                  </a:tcPr>
                </a:tc>
                <a:tc>
                  <a:txBody>
                    <a:bodyPr lIns="133350" tIns="123825" rIns="152400" bIns="76200">
                      <a:noAutofit/>
                    </a:bodyPr>
                    <a:lstStyle/>
                    <a:p>
                      <a:r>
                        <a:rPr sz="1875" b="0">
                          <a:solidFill>
                            <a:srgbClr val="F4F7FA"/>
                          </a:solidFill>
                          <a:latin typeface="Arial"/>
                          <a:ea typeface="Arial"/>
                          <a:cs typeface="Arial"/>
                        </a:rPr>
                        <a:t>Su origen y sus limitaciones</a:t>
                      </a:r>
                    </a:p>
                  </a:txBody>
                  <a:tcPr marL="91440" marR="91440" marT="45720" marB="45720" anchor="ctr">
                    <a:lnR w="0">
                      <a:noFill/>
                    </a:lnR>
                    <a:lnB w="0">
                      <a:noFill/>
                    </a:lnB>
                    <a:noFill/>
                  </a:tcPr>
                </a:tc>
              </a:tr>
            </a:tbl>
          </a:graphicData>
        </a:graphic>
      </p:graphicFrame>
      <p:sp>
        <p:nvSpPr>
          <p:cNvPr id="4" name="Una URL citada tiene que respaldar la afirmación concreta">
            <a:extLst xmlns:a="http://schemas.openxmlformats.org/drawingml/2006/main">
              <a:ext uri="{FF2B5EF4-FFF2-40B4-BE49-F238E27FC236}">
                <a16:creationId xmlns:a16="http://schemas.microsoft.com/office/drawing/2014/main" id="{813D49DB-F538-41BF-B095-0CA989965D19}"/>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Una URL citada tiene que respaldar la afirmación concreta</a:t>
            </a:r>
          </a:p>
        </p:txBody>
      </p:sp>
      <p:sp>
        <p:nvSpPr>
          <p:cNvPr id="5" name="thePower · AI Engineer · S12">
            <a:extLst xmlns:a="http://schemas.openxmlformats.org/drawingml/2006/main">
              <a:ext uri="{FF2B5EF4-FFF2-40B4-BE49-F238E27FC236}">
                <a16:creationId xmlns:a16="http://schemas.microsoft.com/office/drawing/2014/main" id="{AB318E2A-2DB7-4442-977A-6F0778A83BBE}"/>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6" name="13">
            <a:extLst xmlns:a="http://schemas.openxmlformats.org/drawingml/2006/main">
              <a:ext uri="{FF2B5EF4-FFF2-40B4-BE49-F238E27FC236}">
                <a16:creationId xmlns:a16="http://schemas.microsoft.com/office/drawing/2014/main" id="{5C52761D-6835-4560-A8F7-D39639BE4158}"/>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13</a:t>
            </a:r>
          </a:p>
        </p:txBody>
      </p:sp>
    </p:spTree>
    <p:extLst>
      <p:ext uri="{BB962C8B-B14F-4D97-AF65-F5344CB8AC3E}">
        <p14:creationId xmlns:p14="http://schemas.microsoft.com/office/powerpoint/2010/main" val="264358249"/>
      </p:ext>
    </p:extLst>
  </p:cSld>
</p:sld>
</file>

<file path=ppt/slides/slide14.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5793851-A904-49BF-A2EF-BCAC4DE1E32E}"/>
              </a:ext>
            </a:extLst>
          </p:cNvPr>
          <p:cNvPicPr>
            <a:picLocks xmlns:a="http://schemas.openxmlformats.org/drawingml/2006/main" noChangeAspect="1"/>
          </p:cNvPicPr>
          <p:nvPr/>
        </p:nvPicPr>
        <p:blipFill>
          <a:blip xmlns:r="http://schemas.openxmlformats.org/officeDocument/2006/relationships" xmlns:a="http://schemas.openxmlformats.org/drawingml/2006/main" r:embed="R2bbf37e304b04f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Verificación e informes parciales">
            <a:extLst xmlns:a="http://schemas.openxmlformats.org/drawingml/2006/main">
              <a:ext uri="{FF2B5EF4-FFF2-40B4-BE49-F238E27FC236}">
                <a16:creationId xmlns:a16="http://schemas.microsoft.com/office/drawing/2014/main" id="{E77D37AC-18EE-4081-98E3-4D361AED5230}"/>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Verificación e informes parciales</a:t>
            </a:r>
          </a:p>
        </p:txBody>
      </p:sp>
      <p:sp>
        <p:nvSpPr>
          <p:cNvPr id="3" name="Un trabajo puede terminar correctamente y dejar preguntas abiertas">
            <a:extLst xmlns:a="http://schemas.openxmlformats.org/drawingml/2006/main">
              <a:ext uri="{FF2B5EF4-FFF2-40B4-BE49-F238E27FC236}">
                <a16:creationId xmlns:a16="http://schemas.microsoft.com/office/drawing/2014/main" id="{5E8828CA-A1F8-481C-AF05-8634A0488CCE}"/>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Un trabajo puede terminar correctamente y dejar preguntas abiertas</a:t>
            </a:r>
          </a:p>
        </p:txBody>
      </p:sp>
      <p:sp>
        <p:nvSpPr>
          <p:cNvPr id="4" name="Cobertura">
            <a:extLst xmlns:a="http://schemas.openxmlformats.org/drawingml/2006/main">
              <a:ext uri="{FF2B5EF4-FFF2-40B4-BE49-F238E27FC236}">
                <a16:creationId xmlns:a16="http://schemas.microsoft.com/office/drawing/2014/main" id="{6B9CEAED-42A9-4E72-A494-93C25706093F}"/>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Cobertura</a:t>
            </a:r>
          </a:p>
        </p:txBody>
      </p:sp>
      <p:sp>
        <p:nvSpPr>
          <p:cNvPr id="5" name="Qué subpreguntas tienen evidencia suficiente">
            <a:extLst xmlns:a="http://schemas.openxmlformats.org/drawingml/2006/main">
              <a:ext uri="{FF2B5EF4-FFF2-40B4-BE49-F238E27FC236}">
                <a16:creationId xmlns:a16="http://schemas.microsoft.com/office/drawing/2014/main" id="{595390AA-117C-4735-BD6A-B9137BBAA5E3}"/>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Qué subpreguntas tienen evidencia suficiente</a:t>
            </a:r>
          </a:p>
        </p:txBody>
      </p:sp>
      <p:sp>
        <p:nvSpPr>
          <p:cNvPr id="6" name="Afirmaciones">
            <a:extLst xmlns:a="http://schemas.openxmlformats.org/drawingml/2006/main">
              <a:ext uri="{FF2B5EF4-FFF2-40B4-BE49-F238E27FC236}">
                <a16:creationId xmlns:a16="http://schemas.microsoft.com/office/drawing/2014/main" id="{A128890F-ED3F-4B63-AD95-7AE8988A89AF}"/>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Afirmaciones</a:t>
            </a:r>
          </a:p>
        </p:txBody>
      </p:sp>
      <p:sp>
        <p:nvSpPr>
          <p:cNvPr id="7" name="Qué fuente respalda cada frase factual">
            <a:extLst xmlns:a="http://schemas.openxmlformats.org/drawingml/2006/main">
              <a:ext uri="{FF2B5EF4-FFF2-40B4-BE49-F238E27FC236}">
                <a16:creationId xmlns:a16="http://schemas.microsoft.com/office/drawing/2014/main" id="{50E91EAD-8220-4363-80B6-B21AAE17F1A7}"/>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Qué fuente respalda cada frase factual</a:t>
            </a:r>
          </a:p>
        </p:txBody>
      </p:sp>
      <p:sp>
        <p:nvSpPr>
          <p:cNvPr id="8" name="Resultado parcial">
            <a:extLst xmlns:a="http://schemas.openxmlformats.org/drawingml/2006/main">
              <a:ext uri="{FF2B5EF4-FFF2-40B4-BE49-F238E27FC236}">
                <a16:creationId xmlns:a16="http://schemas.microsoft.com/office/drawing/2014/main" id="{11E3CED2-3CC8-4054-B4CC-639671250594}"/>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Resultado parcial</a:t>
            </a:r>
          </a:p>
        </p:txBody>
      </p:sp>
      <p:sp>
        <p:nvSpPr>
          <p:cNvPr id="9" name="Qué sabemos y qué falta comprobar">
            <a:extLst xmlns:a="http://schemas.openxmlformats.org/drawingml/2006/main">
              <a:ext uri="{FF2B5EF4-FFF2-40B4-BE49-F238E27FC236}">
                <a16:creationId xmlns:a16="http://schemas.microsoft.com/office/drawing/2014/main" id="{AC9C6D51-189A-451D-84BC-AA4DCA778A6D}"/>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Qué sabemos y qué falta comprobar</a:t>
            </a:r>
          </a:p>
        </p:txBody>
      </p:sp>
      <p:sp>
        <p:nvSpPr>
          <p:cNvPr id="10" name="Límite">
            <a:extLst xmlns:a="http://schemas.openxmlformats.org/drawingml/2006/main">
              <a:ext uri="{FF2B5EF4-FFF2-40B4-BE49-F238E27FC236}">
                <a16:creationId xmlns:a16="http://schemas.microsoft.com/office/drawing/2014/main" id="{694C43D4-F981-449D-A2F0-62592466D25B}"/>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Límite</a:t>
            </a:r>
          </a:p>
        </p:txBody>
      </p:sp>
      <p:sp>
        <p:nvSpPr>
          <p:cNvPr id="11" name="Una cita literal tampoco garantiza que la fuente sea correcta">
            <a:extLst xmlns:a="http://schemas.openxmlformats.org/drawingml/2006/main">
              <a:ext uri="{FF2B5EF4-FFF2-40B4-BE49-F238E27FC236}">
                <a16:creationId xmlns:a16="http://schemas.microsoft.com/office/drawing/2014/main" id="{37459003-A375-4ABF-99E7-58C52F84FF3C}"/>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Una cita literal tampoco garantiza que la fuente sea correcta</a:t>
            </a:r>
          </a:p>
        </p:txBody>
      </p:sp>
      <p:sp>
        <p:nvSpPr>
          <p:cNvPr id="12" name="Ejecución terminada e informe completo son estados distintos">
            <a:extLst xmlns:a="http://schemas.openxmlformats.org/drawingml/2006/main">
              <a:ext uri="{FF2B5EF4-FFF2-40B4-BE49-F238E27FC236}">
                <a16:creationId xmlns:a16="http://schemas.microsoft.com/office/drawing/2014/main" id="{0894A908-1584-492C-A442-985CFEE39A89}"/>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Ejecución terminada e informe completo son estados distintos</a:t>
            </a:r>
          </a:p>
        </p:txBody>
      </p:sp>
      <p:sp>
        <p:nvSpPr>
          <p:cNvPr id="13" name="thePower · AI Engineer · S12">
            <a:extLst xmlns:a="http://schemas.openxmlformats.org/drawingml/2006/main">
              <a:ext uri="{FF2B5EF4-FFF2-40B4-BE49-F238E27FC236}">
                <a16:creationId xmlns:a16="http://schemas.microsoft.com/office/drawing/2014/main" id="{73712BE5-F54E-4D9E-BD1A-3AB79D8D2876}"/>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14">
            <a:extLst xmlns:a="http://schemas.openxmlformats.org/drawingml/2006/main">
              <a:ext uri="{FF2B5EF4-FFF2-40B4-BE49-F238E27FC236}">
                <a16:creationId xmlns:a16="http://schemas.microsoft.com/office/drawing/2014/main" id="{F1486630-D075-4E99-9EA4-1814DACE1BF8}"/>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14</a:t>
            </a:r>
          </a:p>
        </p:txBody>
      </p:sp>
    </p:spTree>
    <p:extLst>
      <p:ext uri="{BB962C8B-B14F-4D97-AF65-F5344CB8AC3E}">
        <p14:creationId xmlns:p14="http://schemas.microsoft.com/office/powerpoint/2010/main" val="804220999"/>
      </p:ext>
    </p:extLst>
  </p:cSld>
</p:sld>
</file>

<file path=ppt/slides/slide15.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DAEC945-B6B0-4CBA-AAE3-1A771205D2FA}"/>
              </a:ext>
            </a:extLst>
          </p:cNvPr>
          <p:cNvPicPr>
            <a:picLocks xmlns:a="http://schemas.openxmlformats.org/drawingml/2006/main" noChangeAspect="1"/>
          </p:cNvPicPr>
          <p:nvPr/>
        </p:nvPicPr>
        <p:blipFill>
          <a:blip xmlns:r="http://schemas.openxmlformats.org/officeDocument/2006/relationships" xmlns:a="http://schemas.openxmlformats.org/drawingml/2006/main" r:embed="R0a5bdd6ca016467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Ejecución asíncrona">
            <a:extLst xmlns:a="http://schemas.openxmlformats.org/drawingml/2006/main">
              <a:ext uri="{FF2B5EF4-FFF2-40B4-BE49-F238E27FC236}">
                <a16:creationId xmlns:a16="http://schemas.microsoft.com/office/drawing/2014/main" id="{765BC42E-757A-4EDD-AD83-EC6EEE68C48F}"/>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Ejecución asíncrona</a:t>
            </a:r>
          </a:p>
        </p:txBody>
      </p:sp>
      <p:sp>
        <p:nvSpPr>
          <p:cNvPr id="3" name="El cliente inicia un trabajo y consulta su resultado después">
            <a:extLst xmlns:a="http://schemas.openxmlformats.org/drawingml/2006/main">
              <a:ext uri="{FF2B5EF4-FFF2-40B4-BE49-F238E27FC236}">
                <a16:creationId xmlns:a16="http://schemas.microsoft.com/office/drawing/2014/main" id="{4B306C27-6791-480D-8968-30BE8F0B8956}"/>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El cliente inicia un trabajo y consulta su resultado después</a:t>
            </a:r>
          </a:p>
        </p:txBody>
      </p:sp>
      <p:sp>
        <p:nvSpPr>
          <p:cNvPr id="4" name="Crear">
            <a:extLst xmlns:a="http://schemas.openxmlformats.org/drawingml/2006/main">
              <a:ext uri="{FF2B5EF4-FFF2-40B4-BE49-F238E27FC236}">
                <a16:creationId xmlns:a16="http://schemas.microsoft.com/office/drawing/2014/main" id="{C0E38C31-E7CA-4916-972F-57C43AEA8BBD}"/>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Crear</a:t>
            </a:r>
          </a:p>
        </p:txBody>
      </p:sp>
      <p:sp>
        <p:nvSpPr>
          <p:cNvPr id="5" name="Enviar la petición y obtener un identificador">
            <a:extLst xmlns:a="http://schemas.openxmlformats.org/drawingml/2006/main">
              <a:ext uri="{FF2B5EF4-FFF2-40B4-BE49-F238E27FC236}">
                <a16:creationId xmlns:a16="http://schemas.microsoft.com/office/drawing/2014/main" id="{362A8BDA-C655-44D1-B227-AAF8B87DDB7F}"/>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Enviar la petición y obtener un identificador</a:t>
            </a:r>
          </a:p>
        </p:txBody>
      </p:sp>
      <p:sp>
        <p:nvSpPr>
          <p:cNvPr id="6" name="Conservar">
            <a:extLst xmlns:a="http://schemas.openxmlformats.org/drawingml/2006/main">
              <a:ext uri="{FF2B5EF4-FFF2-40B4-BE49-F238E27FC236}">
                <a16:creationId xmlns:a16="http://schemas.microsoft.com/office/drawing/2014/main" id="{89AC216B-5AC7-46A5-9CE8-0EE7A3B37C30}"/>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Conservar</a:t>
            </a:r>
          </a:p>
        </p:txBody>
      </p:sp>
      <p:sp>
        <p:nvSpPr>
          <p:cNvPr id="7" name="Guardar ese identificador y el contexto autorizado">
            <a:extLst xmlns:a="http://schemas.openxmlformats.org/drawingml/2006/main">
              <a:ext uri="{FF2B5EF4-FFF2-40B4-BE49-F238E27FC236}">
                <a16:creationId xmlns:a16="http://schemas.microsoft.com/office/drawing/2014/main" id="{FF2FE176-0F97-4C97-9BAD-393F40278055}"/>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Guardar ese identificador y el contexto autorizado</a:t>
            </a:r>
          </a:p>
        </p:txBody>
      </p:sp>
      <p:sp>
        <p:nvSpPr>
          <p:cNvPr id="8" name="Consultar">
            <a:extLst xmlns:a="http://schemas.openxmlformats.org/drawingml/2006/main">
              <a:ext uri="{FF2B5EF4-FFF2-40B4-BE49-F238E27FC236}">
                <a16:creationId xmlns:a16="http://schemas.microsoft.com/office/drawing/2014/main" id="{480B9FE0-520D-402F-8373-1D1E8D940935}"/>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Consultar</a:t>
            </a:r>
          </a:p>
        </p:txBody>
      </p:sp>
      <p:sp>
        <p:nvSpPr>
          <p:cNvPr id="9" name="Leer el estado del mismo trabajo con una espera acotada">
            <a:extLst xmlns:a="http://schemas.openxmlformats.org/drawingml/2006/main">
              <a:ext uri="{FF2B5EF4-FFF2-40B4-BE49-F238E27FC236}">
                <a16:creationId xmlns:a16="http://schemas.microsoft.com/office/drawing/2014/main" id="{D5927A7E-3745-4485-A864-CAE2C8570F89}"/>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Leer el estado del mismo trabajo con una espera acotada</a:t>
            </a:r>
          </a:p>
        </p:txBody>
      </p:sp>
      <p:sp>
        <p:nvSpPr>
          <p:cNvPr id="10" name="Recuperar">
            <a:extLst xmlns:a="http://schemas.openxmlformats.org/drawingml/2006/main">
              <a:ext uri="{FF2B5EF4-FFF2-40B4-BE49-F238E27FC236}">
                <a16:creationId xmlns:a16="http://schemas.microsoft.com/office/drawing/2014/main" id="{CDCC445F-F1BD-46AD-A840-0BA92878FDAD}"/>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Recuperar</a:t>
            </a:r>
          </a:p>
        </p:txBody>
      </p:sp>
      <p:sp>
        <p:nvSpPr>
          <p:cNvPr id="11" name="Volver al resultado sin crear otra investigación">
            <a:extLst xmlns:a="http://schemas.openxmlformats.org/drawingml/2006/main">
              <a:ext uri="{FF2B5EF4-FFF2-40B4-BE49-F238E27FC236}">
                <a16:creationId xmlns:a16="http://schemas.microsoft.com/office/drawing/2014/main" id="{37C035B5-3F99-4F01-9577-CC902036CA71}"/>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Volver al resultado sin crear otra investigación</a:t>
            </a:r>
          </a:p>
        </p:txBody>
      </p:sp>
      <p:sp>
        <p:nvSpPr>
          <p:cNvPr id="12" name="Cerrar la pestaña no tiene por qué detener el trabajo">
            <a:extLst xmlns:a="http://schemas.openxmlformats.org/drawingml/2006/main">
              <a:ext uri="{FF2B5EF4-FFF2-40B4-BE49-F238E27FC236}">
                <a16:creationId xmlns:a16="http://schemas.microsoft.com/office/drawing/2014/main" id="{5974B2B1-C848-4E51-AC08-DDB7B74F8CED}"/>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Cerrar la pestaña no tiene por qué detener el trabajo</a:t>
            </a:r>
          </a:p>
        </p:txBody>
      </p:sp>
      <p:sp>
        <p:nvSpPr>
          <p:cNvPr id="13" name="thePower · AI Engineer · S12">
            <a:extLst xmlns:a="http://schemas.openxmlformats.org/drawingml/2006/main">
              <a:ext uri="{FF2B5EF4-FFF2-40B4-BE49-F238E27FC236}">
                <a16:creationId xmlns:a16="http://schemas.microsoft.com/office/drawing/2014/main" id="{5258F6EC-3E24-4D23-9762-BAC2EABA794A}"/>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15">
            <a:extLst xmlns:a="http://schemas.openxmlformats.org/drawingml/2006/main">
              <a:ext uri="{FF2B5EF4-FFF2-40B4-BE49-F238E27FC236}">
                <a16:creationId xmlns:a16="http://schemas.microsoft.com/office/drawing/2014/main" id="{C748D4B7-746B-479C-9033-636F931D63ED}"/>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15</a:t>
            </a:r>
          </a:p>
        </p:txBody>
      </p:sp>
    </p:spTree>
    <p:extLst>
      <p:ext uri="{BB962C8B-B14F-4D97-AF65-F5344CB8AC3E}">
        <p14:creationId xmlns:p14="http://schemas.microsoft.com/office/powerpoint/2010/main" val="1473186799"/>
      </p:ext>
    </p:extLst>
  </p:cSld>
</p:sld>
</file>

<file path=ppt/slides/slide16.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AB6C4C7-41A3-464B-9944-C21FE74F6870}"/>
              </a:ext>
            </a:extLst>
          </p:cNvPr>
          <p:cNvPicPr>
            <a:picLocks xmlns:a="http://schemas.openxmlformats.org/drawingml/2006/main" noChangeAspect="1"/>
          </p:cNvPicPr>
          <p:nvPr/>
        </p:nvPicPr>
        <p:blipFill>
          <a:blip xmlns:r="http://schemas.openxmlformats.org/officeDocument/2006/relationships" xmlns:a="http://schemas.openxmlformats.org/drawingml/2006/main" r:embed="R19b3124d9984443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Gemini Deep Research e Interactions API">
            <a:extLst xmlns:a="http://schemas.openxmlformats.org/drawingml/2006/main">
              <a:ext uri="{FF2B5EF4-FFF2-40B4-BE49-F238E27FC236}">
                <a16:creationId xmlns:a16="http://schemas.microsoft.com/office/drawing/2014/main" id="{7EBB5881-8E0D-466F-8ADF-CD4FABD94E60}"/>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Gemini Deep Research e Interactions API</a:t>
            </a:r>
          </a:p>
        </p:txBody>
      </p:sp>
      <p:sp>
        <p:nvSpPr>
          <p:cNvPr id="3" name="El enunciado propone un agente gestionado en segundo plano">
            <a:extLst xmlns:a="http://schemas.openxmlformats.org/drawingml/2006/main">
              <a:ext uri="{FF2B5EF4-FFF2-40B4-BE49-F238E27FC236}">
                <a16:creationId xmlns:a16="http://schemas.microsoft.com/office/drawing/2014/main" id="{A4CFA7EC-CFA6-477F-B3BE-2548F191B623}"/>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El enunciado propone un agente gestionado en segundo plano</a:t>
            </a:r>
          </a:p>
        </p:txBody>
      </p:sp>
      <p:sp>
        <p:nvSpPr>
          <p:cNvPr id="4" name="Inicio">
            <a:extLst xmlns:a="http://schemas.openxmlformats.org/drawingml/2006/main">
              <a:ext uri="{FF2B5EF4-FFF2-40B4-BE49-F238E27FC236}">
                <a16:creationId xmlns:a16="http://schemas.microsoft.com/office/drawing/2014/main" id="{7B8C7780-2634-4530-89E2-047423CE74C0}"/>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Inicio</a:t>
            </a:r>
          </a:p>
        </p:txBody>
      </p:sp>
      <p:sp>
        <p:nvSpPr>
          <p:cNvPr id="5" name="interactions.create con agent y background=True">
            <a:extLst xmlns:a="http://schemas.openxmlformats.org/drawingml/2006/main">
              <a:ext uri="{FF2B5EF4-FFF2-40B4-BE49-F238E27FC236}">
                <a16:creationId xmlns:a16="http://schemas.microsoft.com/office/drawing/2014/main" id="{DCD42C91-9589-4D6B-924A-E9BC3CC345C5}"/>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interactions.create con agent y background=True</a:t>
            </a:r>
          </a:p>
        </p:txBody>
      </p:sp>
      <p:sp>
        <p:nvSpPr>
          <p:cNvPr id="6" name="Identidad">
            <a:extLst xmlns:a="http://schemas.openxmlformats.org/drawingml/2006/main">
              <a:ext uri="{FF2B5EF4-FFF2-40B4-BE49-F238E27FC236}">
                <a16:creationId xmlns:a16="http://schemas.microsoft.com/office/drawing/2014/main" id="{B3D64F97-6CD1-4D02-971A-77EA6927E280}"/>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Identidad</a:t>
            </a:r>
          </a:p>
        </p:txBody>
      </p:sp>
      <p:sp>
        <p:nvSpPr>
          <p:cNvPr id="7" name="Guardar interaction.id antes de consultar">
            <a:extLst xmlns:a="http://schemas.openxmlformats.org/drawingml/2006/main">
              <a:ext uri="{FF2B5EF4-FFF2-40B4-BE49-F238E27FC236}">
                <a16:creationId xmlns:a16="http://schemas.microsoft.com/office/drawing/2014/main" id="{F15C426E-6FC3-4C17-8D69-8E8287995F24}"/>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Guardar interaction.id antes de consultar</a:t>
            </a:r>
          </a:p>
        </p:txBody>
      </p:sp>
      <p:sp>
        <p:nvSpPr>
          <p:cNvPr id="8" name="Seguimiento">
            <a:extLst xmlns:a="http://schemas.openxmlformats.org/drawingml/2006/main">
              <a:ext uri="{FF2B5EF4-FFF2-40B4-BE49-F238E27FC236}">
                <a16:creationId xmlns:a16="http://schemas.microsoft.com/office/drawing/2014/main" id="{7F6D1A0D-4B8F-403B-8A24-D7671F00F8FB}"/>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Seguimiento</a:t>
            </a:r>
          </a:p>
        </p:txBody>
      </p:sp>
      <p:sp>
        <p:nvSpPr>
          <p:cNvPr id="9" name="interactions.get del mismo ID hasta completar o fallar">
            <a:extLst xmlns:a="http://schemas.openxmlformats.org/drawingml/2006/main">
              <a:ext uri="{FF2B5EF4-FFF2-40B4-BE49-F238E27FC236}">
                <a16:creationId xmlns:a16="http://schemas.microsoft.com/office/drawing/2014/main" id="{0EE4DD1F-EBD9-42D5-B1B9-8E916CCD711C}"/>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interactions.get del mismo ID hasta completar o fallar</a:t>
            </a:r>
          </a:p>
        </p:txBody>
      </p:sp>
      <p:sp>
        <p:nvSpPr>
          <p:cNvPr id="10" name="Espera agotada">
            <a:extLst xmlns:a="http://schemas.openxmlformats.org/drawingml/2006/main">
              <a:ext uri="{FF2B5EF4-FFF2-40B4-BE49-F238E27FC236}">
                <a16:creationId xmlns:a16="http://schemas.microsoft.com/office/drawing/2014/main" id="{A9EF95C0-60EF-42E1-9996-770F9D1663D7}"/>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Espera agotada</a:t>
            </a:r>
          </a:p>
        </p:txBody>
      </p:sp>
      <p:sp>
        <p:nvSpPr>
          <p:cNvPr id="11" name="Conservar el ID y explicar que el trabajo puede seguir">
            <a:extLst xmlns:a="http://schemas.openxmlformats.org/drawingml/2006/main">
              <a:ext uri="{FF2B5EF4-FFF2-40B4-BE49-F238E27FC236}">
                <a16:creationId xmlns:a16="http://schemas.microsoft.com/office/drawing/2014/main" id="{629A7461-69FF-48DE-BF9A-3EBB26AC0C84}"/>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Conservar el ID y explicar que el trabajo puede seguir</a:t>
            </a:r>
          </a:p>
        </p:txBody>
      </p:sp>
      <p:sp>
        <p:nvSpPr>
          <p:cNvPr id="12" name="La demo de 3-rag usa un grafo propio y otro ID de trabajo">
            <a:extLst xmlns:a="http://schemas.openxmlformats.org/drawingml/2006/main">
              <a:ext uri="{FF2B5EF4-FFF2-40B4-BE49-F238E27FC236}">
                <a16:creationId xmlns:a16="http://schemas.microsoft.com/office/drawing/2014/main" id="{C15F5751-3D6B-4753-A6F3-E817F46EFF75}"/>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La demo de 3-rag usa un grafo propio y otro ID de trabajo</a:t>
            </a:r>
          </a:p>
        </p:txBody>
      </p:sp>
      <p:sp>
        <p:nvSpPr>
          <p:cNvPr id="13" name="thePower · AI Engineer · S12">
            <a:extLst xmlns:a="http://schemas.openxmlformats.org/drawingml/2006/main">
              <a:ext uri="{FF2B5EF4-FFF2-40B4-BE49-F238E27FC236}">
                <a16:creationId xmlns:a16="http://schemas.microsoft.com/office/drawing/2014/main" id="{1AC29CA0-7053-4DAD-9103-CF6AD64B83DD}"/>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16">
            <a:extLst xmlns:a="http://schemas.openxmlformats.org/drawingml/2006/main">
              <a:ext uri="{FF2B5EF4-FFF2-40B4-BE49-F238E27FC236}">
                <a16:creationId xmlns:a16="http://schemas.microsoft.com/office/drawing/2014/main" id="{5DB218AE-0AC5-4693-9E7D-AC632D81D959}"/>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16</a:t>
            </a:r>
          </a:p>
        </p:txBody>
      </p:sp>
    </p:spTree>
    <p:extLst>
      <p:ext uri="{BB962C8B-B14F-4D97-AF65-F5344CB8AC3E}">
        <p14:creationId xmlns:p14="http://schemas.microsoft.com/office/powerpoint/2010/main" val="477502783"/>
      </p:ext>
    </p:extLst>
  </p:cSld>
</p:sld>
</file>

<file path=ppt/slides/slide17.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FE977C5-D2EA-4D7D-A366-D19655C8BAA7}"/>
              </a:ext>
            </a:extLst>
          </p:cNvPr>
          <p:cNvPicPr>
            <a:picLocks xmlns:a="http://schemas.openxmlformats.org/drawingml/2006/main" noChangeAspect="1"/>
          </p:cNvPicPr>
          <p:nvPr/>
        </p:nvPicPr>
        <p:blipFill>
          <a:blip xmlns:r="http://schemas.openxmlformats.org/officeDocument/2006/relationships" xmlns:a="http://schemas.openxmlformats.org/drawingml/2006/main" r:embed="Rc0f06dbb1f5941b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Límites de tiempo y coste">
            <a:extLst xmlns:a="http://schemas.openxmlformats.org/drawingml/2006/main">
              <a:ext uri="{FF2B5EF4-FFF2-40B4-BE49-F238E27FC236}">
                <a16:creationId xmlns:a16="http://schemas.microsoft.com/office/drawing/2014/main" id="{D212DD34-AA47-42BE-8731-FAF1EAB66628}"/>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Límites de tiempo y coste</a:t>
            </a:r>
          </a:p>
        </p:txBody>
      </p:sp>
      <p:sp>
        <p:nvSpPr>
          <p:cNvPr id="3" name="Los límites se comprueban antes de iniciar otra operación">
            <a:extLst xmlns:a="http://schemas.openxmlformats.org/drawingml/2006/main">
              <a:ext uri="{FF2B5EF4-FFF2-40B4-BE49-F238E27FC236}">
                <a16:creationId xmlns:a16="http://schemas.microsoft.com/office/drawing/2014/main" id="{6833C866-DFC3-4EF9-BC75-62B9834A2F63}"/>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Los límites se comprueban antes de iniciar otra operación</a:t>
            </a:r>
          </a:p>
        </p:txBody>
      </p:sp>
      <p:sp>
        <p:nvSpPr>
          <p:cNvPr id="4" name="Tiempo">
            <a:extLst xmlns:a="http://schemas.openxmlformats.org/drawingml/2006/main">
              <a:ext uri="{FF2B5EF4-FFF2-40B4-BE49-F238E27FC236}">
                <a16:creationId xmlns:a16="http://schemas.microsoft.com/office/drawing/2014/main" id="{FF4D9F1D-A503-4EBD-B777-F188E0741A0B}"/>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Tiempo</a:t>
            </a:r>
          </a:p>
        </p:txBody>
      </p:sp>
      <p:sp>
        <p:nvSpPr>
          <p:cNvPr id="5" name="120 segundos para el trabajo de investigación de esta app">
            <a:extLst xmlns:a="http://schemas.openxmlformats.org/drawingml/2006/main">
              <a:ext uri="{FF2B5EF4-FFF2-40B4-BE49-F238E27FC236}">
                <a16:creationId xmlns:a16="http://schemas.microsoft.com/office/drawing/2014/main" id="{A45E81A5-BAEF-45A3-A1C8-4D90180ADDD9}"/>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120 segundos para el trabajo de investigación de esta app</a:t>
            </a:r>
          </a:p>
        </p:txBody>
      </p:sp>
      <p:sp>
        <p:nvSpPr>
          <p:cNvPr id="6" name="Exploración">
            <a:extLst xmlns:a="http://schemas.openxmlformats.org/drawingml/2006/main">
              <a:ext uri="{FF2B5EF4-FFF2-40B4-BE49-F238E27FC236}">
                <a16:creationId xmlns:a16="http://schemas.microsoft.com/office/drawing/2014/main" id="{9038AD92-AC12-4BF3-B0A8-60560AFB6EB3}"/>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Exploración</a:t>
            </a:r>
          </a:p>
        </p:txBody>
      </p:sp>
      <p:sp>
        <p:nvSpPr>
          <p:cNvPr id="7" name="Hasta 3 subpreguntas, 2 rondas, 4 búsquedas y 6 lecturas">
            <a:extLst xmlns:a="http://schemas.openxmlformats.org/drawingml/2006/main">
              <a:ext uri="{FF2B5EF4-FFF2-40B4-BE49-F238E27FC236}">
                <a16:creationId xmlns:a16="http://schemas.microsoft.com/office/drawing/2014/main" id="{E30A2AB1-3EF7-4208-8380-E9B6715B32DF}"/>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Hasta 3 subpreguntas, 2 rondas, 4 búsquedas y 6 lecturas</a:t>
            </a:r>
          </a:p>
        </p:txBody>
      </p:sp>
      <p:sp>
        <p:nvSpPr>
          <p:cNvPr id="8" name="Modelos">
            <a:extLst xmlns:a="http://schemas.openxmlformats.org/drawingml/2006/main">
              <a:ext uri="{FF2B5EF4-FFF2-40B4-BE49-F238E27FC236}">
                <a16:creationId xmlns:a16="http://schemas.microsoft.com/office/drawing/2014/main" id="{11C5D72A-23D6-4EB6-A794-63C70A41E496}"/>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Modelos</a:t>
            </a:r>
          </a:p>
        </p:txBody>
      </p:sp>
      <p:sp>
        <p:nvSpPr>
          <p:cNvPr id="9" name="Hasta 5 llamadas de investigación, con medios contados aparte">
            <a:extLst xmlns:a="http://schemas.openxmlformats.org/drawingml/2006/main">
              <a:ext uri="{FF2B5EF4-FFF2-40B4-BE49-F238E27FC236}">
                <a16:creationId xmlns:a16="http://schemas.microsoft.com/office/drawing/2014/main" id="{A02A0877-16E4-48FB-8966-EB57C411130C}"/>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Hasta 5 llamadas de investigación, con medios contados aparte</a:t>
            </a:r>
          </a:p>
        </p:txBody>
      </p:sp>
      <p:sp>
        <p:nvSpPr>
          <p:cNvPr id="10" name="Dinero">
            <a:extLst xmlns:a="http://schemas.openxmlformats.org/drawingml/2006/main">
              <a:ext uri="{FF2B5EF4-FFF2-40B4-BE49-F238E27FC236}">
                <a16:creationId xmlns:a16="http://schemas.microsoft.com/office/drawing/2014/main" id="{A6AACAF5-4BDD-45C3-A849-C8D799E278F7}"/>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Dinero</a:t>
            </a:r>
          </a:p>
        </p:txBody>
      </p:sp>
      <p:sp>
        <p:nvSpPr>
          <p:cNvPr id="11" name="Presupuesto separado y consumo desconocido visible">
            <a:extLst xmlns:a="http://schemas.openxmlformats.org/drawingml/2006/main">
              <a:ext uri="{FF2B5EF4-FFF2-40B4-BE49-F238E27FC236}">
                <a16:creationId xmlns:a16="http://schemas.microsoft.com/office/drawing/2014/main" id="{AE15257A-4DB1-4019-BD5F-8EDC958D12EA}"/>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Presupuesto separado y consumo desconocido visible</a:t>
            </a:r>
          </a:p>
        </p:txBody>
      </p:sp>
      <p:sp>
        <p:nvSpPr>
          <p:cNvPr id="12" name="Estos son límites del laboratorio, no garantías de rendimiento">
            <a:extLst xmlns:a="http://schemas.openxmlformats.org/drawingml/2006/main">
              <a:ext uri="{FF2B5EF4-FFF2-40B4-BE49-F238E27FC236}">
                <a16:creationId xmlns:a16="http://schemas.microsoft.com/office/drawing/2014/main" id="{21FA35BF-1DE8-45CE-9F06-BA533B528433}"/>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Estos son límites del laboratorio, no garantías de rendimiento</a:t>
            </a:r>
          </a:p>
        </p:txBody>
      </p:sp>
      <p:sp>
        <p:nvSpPr>
          <p:cNvPr id="13" name="thePower · AI Engineer · S12">
            <a:extLst xmlns:a="http://schemas.openxmlformats.org/drawingml/2006/main">
              <a:ext uri="{FF2B5EF4-FFF2-40B4-BE49-F238E27FC236}">
                <a16:creationId xmlns:a16="http://schemas.microsoft.com/office/drawing/2014/main" id="{48FE00D0-A796-4640-8667-0FE873A3B320}"/>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17">
            <a:extLst xmlns:a="http://schemas.openxmlformats.org/drawingml/2006/main">
              <a:ext uri="{FF2B5EF4-FFF2-40B4-BE49-F238E27FC236}">
                <a16:creationId xmlns:a16="http://schemas.microsoft.com/office/drawing/2014/main" id="{6E6EA54C-6725-4390-9263-023AC302EF62}"/>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17</a:t>
            </a:r>
          </a:p>
        </p:txBody>
      </p:sp>
    </p:spTree>
    <p:extLst>
      <p:ext uri="{BB962C8B-B14F-4D97-AF65-F5344CB8AC3E}">
        <p14:creationId xmlns:p14="http://schemas.microsoft.com/office/powerpoint/2010/main" val="189148615"/>
      </p:ext>
    </p:extLst>
  </p:cSld>
</p:sld>
</file>

<file path=ppt/slides/slide18.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D981D12-124F-47C6-9437-B21A31FC6050}"/>
              </a:ext>
            </a:extLst>
          </p:cNvPr>
          <p:cNvPicPr>
            <a:picLocks xmlns:a="http://schemas.openxmlformats.org/drawingml/2006/main" noChangeAspect="1"/>
          </p:cNvPicPr>
          <p:nvPr/>
        </p:nvPicPr>
        <p:blipFill>
          <a:blip xmlns:r="http://schemas.openxmlformats.org/officeDocument/2006/relationships" xmlns:a="http://schemas.openxmlformats.org/drawingml/2006/main" r:embed="R55e7006f14d8490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o a voz">
            <a:extLst xmlns:a="http://schemas.openxmlformats.org/drawingml/2006/main">
              <a:ext uri="{FF2B5EF4-FFF2-40B4-BE49-F238E27FC236}">
                <a16:creationId xmlns:a16="http://schemas.microsoft.com/office/drawing/2014/main" id="{2B8D51BC-5DEC-48DE-8DB3-8C3DBE4CF9E1}"/>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Texto a voz</a:t>
            </a:r>
          </a:p>
        </p:txBody>
      </p:sp>
      <p:sp>
        <p:nvSpPr>
          <p:cNvPr id="3" name="La locución parte de un texto que ya hemos seleccionado">
            <a:extLst xmlns:a="http://schemas.openxmlformats.org/drawingml/2006/main">
              <a:ext uri="{FF2B5EF4-FFF2-40B4-BE49-F238E27FC236}">
                <a16:creationId xmlns:a16="http://schemas.microsoft.com/office/drawing/2014/main" id="{7F84B29E-4AB4-41F5-B124-A87DBF57DBB7}"/>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La locución parte de un texto que ya hemos seleccionado</a:t>
            </a:r>
          </a:p>
        </p:txBody>
      </p:sp>
      <p:sp>
        <p:nvSpPr>
          <p:cNvPr id="4" name="Selección">
            <a:extLst xmlns:a="http://schemas.openxmlformats.org/drawingml/2006/main">
              <a:ext uri="{FF2B5EF4-FFF2-40B4-BE49-F238E27FC236}">
                <a16:creationId xmlns:a16="http://schemas.microsoft.com/office/drawing/2014/main" id="{0F425565-69AC-4DD4-A01E-C1A07E135940}"/>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Selección</a:t>
            </a:r>
          </a:p>
        </p:txBody>
      </p:sp>
      <p:sp>
        <p:nvSpPr>
          <p:cNvPr id="5" name="Hasta 3 frases y 600 caracteres en esta app">
            <a:extLst xmlns:a="http://schemas.openxmlformats.org/drawingml/2006/main">
              <a:ext uri="{FF2B5EF4-FFF2-40B4-BE49-F238E27FC236}">
                <a16:creationId xmlns:a16="http://schemas.microsoft.com/office/drawing/2014/main" id="{96CBBBDA-C791-4484-A0F0-FDC147372027}"/>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Hasta 3 frases y 600 caracteres en esta app</a:t>
            </a:r>
          </a:p>
        </p:txBody>
      </p:sp>
      <p:sp>
        <p:nvSpPr>
          <p:cNvPr id="6" name="Procedencia">
            <a:extLst xmlns:a="http://schemas.openxmlformats.org/drawingml/2006/main">
              <a:ext uri="{FF2B5EF4-FFF2-40B4-BE49-F238E27FC236}">
                <a16:creationId xmlns:a16="http://schemas.microsoft.com/office/drawing/2014/main" id="{F0530272-23C2-4C06-892B-5739406E2410}"/>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Procedencia</a:t>
            </a:r>
          </a:p>
        </p:txBody>
      </p:sp>
      <p:sp>
        <p:nvSpPr>
          <p:cNvPr id="7" name="Frases verificadas y avisos claros sobre el resultado">
            <a:extLst xmlns:a="http://schemas.openxmlformats.org/drawingml/2006/main">
              <a:ext uri="{FF2B5EF4-FFF2-40B4-BE49-F238E27FC236}">
                <a16:creationId xmlns:a16="http://schemas.microsoft.com/office/drawing/2014/main" id="{317F771D-0E8C-412F-9F10-8E3E65C9608B}"/>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Frases verificadas y avisos claros sobre el resultado</a:t>
            </a:r>
          </a:p>
        </p:txBody>
      </p:sp>
      <p:sp>
        <p:nvSpPr>
          <p:cNvPr id="8" name="Generación">
            <a:extLst xmlns:a="http://schemas.openxmlformats.org/drawingml/2006/main">
              <a:ext uri="{FF2B5EF4-FFF2-40B4-BE49-F238E27FC236}">
                <a16:creationId xmlns:a16="http://schemas.microsoft.com/office/drawing/2014/main" id="{F9623BD8-F282-4816-B7FE-1359B96F2A43}"/>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Generación</a:t>
            </a:r>
          </a:p>
        </p:txBody>
      </p:sp>
      <p:sp>
        <p:nvSpPr>
          <p:cNvPr id="9" name="Un servicio TTS produce el archivo de audio">
            <a:extLst xmlns:a="http://schemas.openxmlformats.org/drawingml/2006/main">
              <a:ext uri="{FF2B5EF4-FFF2-40B4-BE49-F238E27FC236}">
                <a16:creationId xmlns:a16="http://schemas.microsoft.com/office/drawing/2014/main" id="{8F084049-FB18-406A-A723-9CDC56A0C664}"/>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Un servicio TTS produce el archivo de audio</a:t>
            </a:r>
          </a:p>
        </p:txBody>
      </p:sp>
      <p:sp>
        <p:nvSpPr>
          <p:cNvPr id="10" name="Reproducción">
            <a:extLst xmlns:a="http://schemas.openxmlformats.org/drawingml/2006/main">
              <a:ext uri="{FF2B5EF4-FFF2-40B4-BE49-F238E27FC236}">
                <a16:creationId xmlns:a16="http://schemas.microsoft.com/office/drawing/2014/main" id="{2AA8E8FD-9861-476C-AD01-1B2200A252F5}"/>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Reproducción</a:t>
            </a:r>
          </a:p>
        </p:txBody>
      </p:sp>
      <p:sp>
        <p:nvSpPr>
          <p:cNvPr id="11" name="El usuario pulsa reproducir y puede volver a escuchar">
            <a:extLst xmlns:a="http://schemas.openxmlformats.org/drawingml/2006/main">
              <a:ext uri="{FF2B5EF4-FFF2-40B4-BE49-F238E27FC236}">
                <a16:creationId xmlns:a16="http://schemas.microsoft.com/office/drawing/2014/main" id="{214147AC-6F34-43A1-AF38-323F31D4AE04}"/>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El usuario pulsa reproducir y puede volver a escuchar</a:t>
            </a:r>
          </a:p>
        </p:txBody>
      </p:sp>
      <p:sp>
        <p:nvSpPr>
          <p:cNvPr id="12" name="Un fallo de voz conserva el informe escrito">
            <a:extLst xmlns:a="http://schemas.openxmlformats.org/drawingml/2006/main">
              <a:ext uri="{FF2B5EF4-FFF2-40B4-BE49-F238E27FC236}">
                <a16:creationId xmlns:a16="http://schemas.microsoft.com/office/drawing/2014/main" id="{F8307538-BD8B-48A1-A5BE-D55F7CB08AB3}"/>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Un fallo de voz conserva el informe escrito</a:t>
            </a:r>
          </a:p>
        </p:txBody>
      </p:sp>
      <p:sp>
        <p:nvSpPr>
          <p:cNvPr id="13" name="thePower · AI Engineer · S12">
            <a:extLst xmlns:a="http://schemas.openxmlformats.org/drawingml/2006/main">
              <a:ext uri="{FF2B5EF4-FFF2-40B4-BE49-F238E27FC236}">
                <a16:creationId xmlns:a16="http://schemas.microsoft.com/office/drawing/2014/main" id="{AB845BAB-31AF-490D-8D03-35FCF1016719}"/>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18">
            <a:extLst xmlns:a="http://schemas.openxmlformats.org/drawingml/2006/main">
              <a:ext uri="{FF2B5EF4-FFF2-40B4-BE49-F238E27FC236}">
                <a16:creationId xmlns:a16="http://schemas.microsoft.com/office/drawing/2014/main" id="{5AE196F8-40D4-4BB7-828E-9E7E3EFF3B18}"/>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18</a:t>
            </a:r>
          </a:p>
        </p:txBody>
      </p:sp>
    </p:spTree>
    <p:extLst>
      <p:ext uri="{BB962C8B-B14F-4D97-AF65-F5344CB8AC3E}">
        <p14:creationId xmlns:p14="http://schemas.microsoft.com/office/powerpoint/2010/main" val="780030066"/>
      </p:ext>
    </p:extLst>
  </p:cSld>
</p:sld>
</file>

<file path=ppt/slides/slide19.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64087CC-720A-4149-AA20-2D8FB10B5281}"/>
              </a:ext>
            </a:extLst>
          </p:cNvPr>
          <p:cNvPicPr>
            <a:picLocks xmlns:a="http://schemas.openxmlformats.org/drawingml/2006/main" noChangeAspect="1"/>
          </p:cNvPicPr>
          <p:nvPr/>
        </p:nvPicPr>
        <p:blipFill>
          <a:blip xmlns:r="http://schemas.openxmlformats.org/officeDocument/2006/relationships" xmlns:a="http://schemas.openxmlformats.org/drawingml/2006/main" r:embed="R9497480a6b9b4d9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Errores y respuestas útiles">
            <a:extLst xmlns:a="http://schemas.openxmlformats.org/drawingml/2006/main">
              <a:ext uri="{FF2B5EF4-FFF2-40B4-BE49-F238E27FC236}">
                <a16:creationId xmlns:a16="http://schemas.microsoft.com/office/drawing/2014/main" id="{18324605-BF06-4439-B27F-9ADB4F65A9FD}"/>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Errores y respuestas útiles</a:t>
            </a:r>
          </a:p>
        </p:txBody>
      </p:sp>
      <p:graphicFrame>
        <p:nvGraphicFramePr>
          <p:cNvPr id="3" name="">
            <a:extLst xmlns:a="http://schemas.openxmlformats.org/drawingml/2006/main">
              <a:ext uri="{FF2B5EF4-FFF2-40B4-BE49-F238E27FC236}">
                <a16:creationId xmlns:a16="http://schemas.microsoft.com/office/drawing/2014/main" id="{A27DB233-F7E5-45FB-BF7B-BC3435FF7660}"/>
              </a:ext>
            </a:extLst>
          </p:cNvPr>
          <p:cNvGraphicFramePr/>
          <p:nvPr/>
        </p:nvGraphicFramePr>
        <p:xfrm>
          <a:off xmlns:a="http://schemas.openxmlformats.org/drawingml/2006/main" x="609600" y="1752600"/>
          <a:ext xmlns:a="http://schemas.openxmlformats.org/drawingml/2006/main" cx="10972800" cy="3943350"/>
        </p:xfrm>
        <a:graphic xmlns:a="http://schemas.openxmlformats.org/drawingml/2006/main">
          <a:graphicData uri="http://schemas.openxmlformats.org/drawingml/2006/table">
            <a:tbl>
              <a:tblPr/>
              <a:tblGrid>
                <a:gridCol w="3238500"/>
                <a:gridCol w="7734300"/>
              </a:tblGrid>
              <a:tr h="657225">
                <a:tc>
                  <a:txBody>
                    <a:bodyPr lIns="133350" tIns="123825" rIns="152400" bIns="76200">
                      <a:noAutofit/>
                    </a:bodyPr>
                    <a:lstStyle/>
                    <a:p>
                      <a:r>
                        <a:rPr sz="1725" b="1">
                          <a:solidFill>
                            <a:srgbClr val="53DFBC"/>
                          </a:solidFill>
                          <a:latin typeface="Arial"/>
                          <a:ea typeface="Arial"/>
                          <a:cs typeface="Arial"/>
                        </a:rPr>
                        <a:t>Situación</a:t>
                      </a:r>
                    </a:p>
                  </a:txBody>
                  <a:tcPr marL="91440" marR="91440" marT="45720" marB="45720" anchor="ctr">
                    <a:lnL w="0">
                      <a:noFill/>
                    </a:lnL>
                    <a:lnR w="0">
                      <a:noFill/>
                    </a:lnR>
                    <a:lnT w="0">
                      <a:noFill/>
                    </a:lnT>
                    <a:lnB w="0">
                      <a:noFill/>
                    </a:lnB>
                    <a:solidFill>
                      <a:srgbClr val="17333E"/>
                    </a:solidFill>
                  </a:tcPr>
                </a:tc>
                <a:tc>
                  <a:txBody>
                    <a:bodyPr lIns="133350" tIns="123825" rIns="152400" bIns="76200">
                      <a:noAutofit/>
                    </a:bodyPr>
                    <a:lstStyle/>
                    <a:p>
                      <a:r>
                        <a:rPr sz="1725" b="1">
                          <a:solidFill>
                            <a:srgbClr val="53DFBC"/>
                          </a:solidFill>
                          <a:latin typeface="Arial"/>
                          <a:ea typeface="Arial"/>
                          <a:cs typeface="Arial"/>
                        </a:rPr>
                        <a:t>Respuesta del sistema</a:t>
                      </a:r>
                    </a:p>
                  </a:txBody>
                  <a:tcPr marL="91440" marR="91440" marT="45720" marB="45720" anchor="ctr">
                    <a:lnR w="0">
                      <a:noFill/>
                    </a:lnR>
                    <a:lnT w="0">
                      <a:noFill/>
                    </a:lnT>
                    <a:lnB w="0">
                      <a:noFill/>
                    </a:lnB>
                    <a:solidFill>
                      <a:srgbClr val="17333E"/>
                    </a:solidFill>
                  </a:tcPr>
                </a:tc>
              </a:tr>
              <a:tr h="657225">
                <a:tc>
                  <a:txBody>
                    <a:bodyPr lIns="133350" tIns="123825" rIns="152400" bIns="76200">
                      <a:noAutofit/>
                    </a:bodyPr>
                    <a:lstStyle/>
                    <a:p>
                      <a:r>
                        <a:rPr sz="1875" b="1">
                          <a:solidFill>
                            <a:srgbClr val="53DFBC"/>
                          </a:solidFill>
                          <a:latin typeface="Arial"/>
                          <a:ea typeface="Arial"/>
                          <a:cs typeface="Arial"/>
                        </a:rPr>
                        <a:t>Archivo inválido</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Rechazo con una explicación del formato</a:t>
                      </a:r>
                    </a:p>
                  </a:txBody>
                  <a:tcPr marL="91440" marR="91440" marT="45720" marB="45720" anchor="ctr">
                    <a:lnR w="0">
                      <a:noFill/>
                    </a:lnR>
                    <a:lnB w="0">
                      <a:noFill/>
                    </a:lnB>
                    <a:noFill/>
                  </a:tcPr>
                </a:tc>
              </a:tr>
              <a:tr h="657225">
                <a:tc>
                  <a:txBody>
                    <a:bodyPr lIns="133350" tIns="123825" rIns="152400" bIns="76200">
                      <a:noAutofit/>
                    </a:bodyPr>
                    <a:lstStyle/>
                    <a:p>
                      <a:r>
                        <a:rPr sz="1875" b="1">
                          <a:solidFill>
                            <a:srgbClr val="53DFBC"/>
                          </a:solidFill>
                          <a:latin typeface="Arial"/>
                          <a:ea typeface="Arial"/>
                          <a:cs typeface="Arial"/>
                        </a:rPr>
                        <a:t>Entradas contradictorias</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Aclaración antes de investigar</a:t>
                      </a:r>
                    </a:p>
                  </a:txBody>
                  <a:tcPr marL="91440" marR="91440" marT="45720" marB="45720" anchor="ctr">
                    <a:lnR w="0">
                      <a:noFill/>
                    </a:lnR>
                    <a:lnB w="0">
                      <a:noFill/>
                    </a:lnB>
                    <a:noFill/>
                  </a:tcPr>
                </a:tc>
              </a:tr>
              <a:tr h="657225">
                <a:tc>
                  <a:txBody>
                    <a:bodyPr lIns="133350" tIns="123825" rIns="152400" bIns="76200">
                      <a:noAutofit/>
                    </a:bodyPr>
                    <a:lstStyle/>
                    <a:p>
                      <a:r>
                        <a:rPr sz="1875" b="1">
                          <a:solidFill>
                            <a:srgbClr val="53DFBC"/>
                          </a:solidFill>
                          <a:latin typeface="Arial"/>
                          <a:ea typeface="Arial"/>
                          <a:cs typeface="Arial"/>
                        </a:rPr>
                        <a:t>Fuentes insuficientes</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Informe parcial o rechazo</a:t>
                      </a:r>
                    </a:p>
                  </a:txBody>
                  <a:tcPr marL="91440" marR="91440" marT="45720" marB="45720" anchor="ctr">
                    <a:lnR w="0">
                      <a:noFill/>
                    </a:lnR>
                    <a:lnB w="0">
                      <a:noFill/>
                    </a:lnB>
                    <a:noFill/>
                  </a:tcPr>
                </a:tc>
              </a:tr>
              <a:tr h="657225">
                <a:tc>
                  <a:txBody>
                    <a:bodyPr lIns="133350" tIns="123825" rIns="152400" bIns="76200">
                      <a:noAutofit/>
                    </a:bodyPr>
                    <a:lstStyle/>
                    <a:p>
                      <a:r>
                        <a:rPr sz="1875" b="1">
                          <a:solidFill>
                            <a:srgbClr val="53DFBC"/>
                          </a:solidFill>
                          <a:latin typeface="Arial"/>
                          <a:ea typeface="Arial"/>
                          <a:cs typeface="Arial"/>
                        </a:rPr>
                        <a:t>Espera agotada</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Estado e ID conservados para seguimiento</a:t>
                      </a:r>
                    </a:p>
                  </a:txBody>
                  <a:tcPr marL="91440" marR="91440" marT="45720" marB="45720" anchor="ctr">
                    <a:lnR w="0">
                      <a:noFill/>
                    </a:lnR>
                    <a:lnB w="0">
                      <a:noFill/>
                    </a:lnB>
                    <a:noFill/>
                  </a:tcPr>
                </a:tc>
              </a:tr>
              <a:tr h="657225">
                <a:tc>
                  <a:txBody>
                    <a:bodyPr lIns="133350" tIns="123825" rIns="152400" bIns="76200">
                      <a:noAutofit/>
                    </a:bodyPr>
                    <a:lstStyle/>
                    <a:p>
                      <a:r>
                        <a:rPr sz="1875" b="1">
                          <a:solidFill>
                            <a:srgbClr val="53DFBC"/>
                          </a:solidFill>
                          <a:latin typeface="Arial"/>
                          <a:ea typeface="Arial"/>
                          <a:cs typeface="Arial"/>
                        </a:rPr>
                        <a:t>Fallo de TTS</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Informe disponible y aviso de voz fallida</a:t>
                      </a:r>
                    </a:p>
                  </a:txBody>
                  <a:tcPr marL="91440" marR="91440" marT="45720" marB="45720" anchor="ctr">
                    <a:lnR w="0">
                      <a:noFill/>
                    </a:lnR>
                    <a:lnB w="0">
                      <a:noFill/>
                    </a:lnB>
                    <a:noFill/>
                  </a:tcPr>
                </a:tc>
              </a:tr>
            </a:tbl>
          </a:graphicData>
        </a:graphic>
      </p:graphicFrame>
      <p:sp>
        <p:nvSpPr>
          <p:cNvPr id="4" name="Un error visible es preferible a una sustitución silenciosa">
            <a:extLst xmlns:a="http://schemas.openxmlformats.org/drawingml/2006/main">
              <a:ext uri="{FF2B5EF4-FFF2-40B4-BE49-F238E27FC236}">
                <a16:creationId xmlns:a16="http://schemas.microsoft.com/office/drawing/2014/main" id="{44A9698F-5AB2-4C94-B8DC-68BD5AB552C6}"/>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Un error visible es preferible a una sustitución silenciosa</a:t>
            </a:r>
          </a:p>
        </p:txBody>
      </p:sp>
      <p:sp>
        <p:nvSpPr>
          <p:cNvPr id="5" name="thePower · AI Engineer · S12">
            <a:extLst xmlns:a="http://schemas.openxmlformats.org/drawingml/2006/main">
              <a:ext uri="{FF2B5EF4-FFF2-40B4-BE49-F238E27FC236}">
                <a16:creationId xmlns:a16="http://schemas.microsoft.com/office/drawing/2014/main" id="{E972EF14-A8FB-46FB-9A75-FBE8CE85E33A}"/>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6" name="19">
            <a:extLst xmlns:a="http://schemas.openxmlformats.org/drawingml/2006/main">
              <a:ext uri="{FF2B5EF4-FFF2-40B4-BE49-F238E27FC236}">
                <a16:creationId xmlns:a16="http://schemas.microsoft.com/office/drawing/2014/main" id="{FA533067-BAF3-4850-A8DB-05D2251B9C13}"/>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19</a:t>
            </a:r>
          </a:p>
        </p:txBody>
      </p:sp>
    </p:spTree>
    <p:extLst>
      <p:ext uri="{BB962C8B-B14F-4D97-AF65-F5344CB8AC3E}">
        <p14:creationId xmlns:p14="http://schemas.microsoft.com/office/powerpoint/2010/main" val="1700148864"/>
      </p:ext>
    </p:extLst>
  </p:cSld>
</p:sld>
</file>

<file path=ppt/slides/slide20.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8F7C0A5-C36F-4EF0-A5F2-B74FD5289790}"/>
              </a:ext>
            </a:extLst>
          </p:cNvPr>
          <p:cNvPicPr>
            <a:picLocks xmlns:a="http://schemas.openxmlformats.org/drawingml/2006/main" noChangeAspect="1"/>
          </p:cNvPicPr>
          <p:nvPr/>
        </p:nvPicPr>
        <p:blipFill>
          <a:blip xmlns:r="http://schemas.openxmlformats.org/officeDocument/2006/relationships" xmlns:a="http://schemas.openxmlformats.org/drawingml/2006/main" r:embed="R46a7ad08b9a74a9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El grafo del ejercicio">
            <a:extLst xmlns:a="http://schemas.openxmlformats.org/drawingml/2006/main">
              <a:ext uri="{FF2B5EF4-FFF2-40B4-BE49-F238E27FC236}">
                <a16:creationId xmlns:a16="http://schemas.microsoft.com/office/drawing/2014/main" id="{13487A80-3358-40DB-99D0-07DE7A8AF48F}"/>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El grafo del ejercicio</a:t>
            </a:r>
          </a:p>
        </p:txBody>
      </p:sp>
      <p:sp>
        <p:nvSpPr>
          <p:cNvPr id="3" name="Cada nodo transforma una entrada y deja un resultado comprobable">
            <a:extLst xmlns:a="http://schemas.openxmlformats.org/drawingml/2006/main">
              <a:ext uri="{FF2B5EF4-FFF2-40B4-BE49-F238E27FC236}">
                <a16:creationId xmlns:a16="http://schemas.microsoft.com/office/drawing/2014/main" id="{53EF6454-8960-4E8E-BD2A-165FACD54588}"/>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Cada nodo transforma una entrada y deja un resultado comprobable</a:t>
            </a:r>
          </a:p>
        </p:txBody>
      </p:sp>
      <p:sp>
        <p:nvSpPr>
          <p:cNvPr id="4" name="Admisión y percepción">
            <a:extLst xmlns:a="http://schemas.openxmlformats.org/drawingml/2006/main">
              <a:ext uri="{FF2B5EF4-FFF2-40B4-BE49-F238E27FC236}">
                <a16:creationId xmlns:a16="http://schemas.microsoft.com/office/drawing/2014/main" id="{7A045E89-8CDA-40B0-A7BE-7B2743A9BD8C}"/>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Admisión y percepción</a:t>
            </a:r>
          </a:p>
        </p:txBody>
      </p:sp>
      <p:sp>
        <p:nvSpPr>
          <p:cNvPr id="5" name="Archivo válido, observación visual y transcripción">
            <a:extLst xmlns:a="http://schemas.openxmlformats.org/drawingml/2006/main">
              <a:ext uri="{FF2B5EF4-FFF2-40B4-BE49-F238E27FC236}">
                <a16:creationId xmlns:a16="http://schemas.microsoft.com/office/drawing/2014/main" id="{572178DB-59EC-4ADF-8B56-3A7C2763B385}"/>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Archivo válido, observación visual y transcripción</a:t>
            </a:r>
          </a:p>
        </p:txBody>
      </p:sp>
      <p:sp>
        <p:nvSpPr>
          <p:cNvPr id="6" name="Fusión y ruta">
            <a:extLst xmlns:a="http://schemas.openxmlformats.org/drawingml/2006/main">
              <a:ext uri="{FF2B5EF4-FFF2-40B4-BE49-F238E27FC236}">
                <a16:creationId xmlns:a16="http://schemas.microsoft.com/office/drawing/2014/main" id="{94D60B58-8656-407C-9830-47C5D1C68D00}"/>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Fusión y ruta</a:t>
            </a:r>
          </a:p>
        </p:txBody>
      </p:sp>
      <p:sp>
        <p:nvSpPr>
          <p:cNvPr id="7" name="Pregunta completa y decisión de capacidad">
            <a:extLst xmlns:a="http://schemas.openxmlformats.org/drawingml/2006/main">
              <a:ext uri="{FF2B5EF4-FFF2-40B4-BE49-F238E27FC236}">
                <a16:creationId xmlns:a16="http://schemas.microsoft.com/office/drawing/2014/main" id="{0FB909A8-68C0-4990-8B87-C06D053158DD}"/>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Pregunta completa y decisión de capacidad</a:t>
            </a:r>
          </a:p>
        </p:txBody>
      </p:sp>
      <p:sp>
        <p:nvSpPr>
          <p:cNvPr id="8" name="Investigación y memoria">
            <a:extLst xmlns:a="http://schemas.openxmlformats.org/drawingml/2006/main">
              <a:ext uri="{FF2B5EF4-FFF2-40B4-BE49-F238E27FC236}">
                <a16:creationId xmlns:a16="http://schemas.microsoft.com/office/drawing/2014/main" id="{9376F67A-59C9-45FE-A50F-28BB668A8D76}"/>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Investigación y memoria</a:t>
            </a:r>
          </a:p>
        </p:txBody>
      </p:sp>
      <p:sp>
        <p:nvSpPr>
          <p:cNvPr id="9" name="Fuentes, estado del trabajo y contexto por hilo">
            <a:extLst xmlns:a="http://schemas.openxmlformats.org/drawingml/2006/main">
              <a:ext uri="{FF2B5EF4-FFF2-40B4-BE49-F238E27FC236}">
                <a16:creationId xmlns:a16="http://schemas.microsoft.com/office/drawing/2014/main" id="{36146428-B133-418F-A1DF-FC5B50740168}"/>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Fuentes, estado del trabajo y contexto por hilo</a:t>
            </a:r>
          </a:p>
        </p:txBody>
      </p:sp>
      <p:sp>
        <p:nvSpPr>
          <p:cNvPr id="10" name="Verificación y salida">
            <a:extLst xmlns:a="http://schemas.openxmlformats.org/drawingml/2006/main">
              <a:ext uri="{FF2B5EF4-FFF2-40B4-BE49-F238E27FC236}">
                <a16:creationId xmlns:a16="http://schemas.microsoft.com/office/drawing/2014/main" id="{8E7E46CB-5FED-4E99-9817-5E350E0AF516}"/>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Verificación y salida</a:t>
            </a:r>
          </a:p>
        </p:txBody>
      </p:sp>
      <p:sp>
        <p:nvSpPr>
          <p:cNvPr id="11" name="Informe, puntos abiertos y voz opcional">
            <a:extLst xmlns:a="http://schemas.openxmlformats.org/drawingml/2006/main">
              <a:ext uri="{FF2B5EF4-FFF2-40B4-BE49-F238E27FC236}">
                <a16:creationId xmlns:a16="http://schemas.microsoft.com/office/drawing/2014/main" id="{F408BE38-4C4D-4593-8F19-3656AD274A8B}"/>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Informe, puntos abiertos y voz opcional</a:t>
            </a:r>
          </a:p>
        </p:txBody>
      </p:sp>
      <p:sp>
        <p:nvSpPr>
          <p:cNvPr id="12" name="Las pruebas deben observar cada transformación">
            <a:extLst xmlns:a="http://schemas.openxmlformats.org/drawingml/2006/main">
              <a:ext uri="{FF2B5EF4-FFF2-40B4-BE49-F238E27FC236}">
                <a16:creationId xmlns:a16="http://schemas.microsoft.com/office/drawing/2014/main" id="{827C9DB9-8C38-4565-8A03-44DE133BCC07}"/>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Las pruebas deben observar cada transformación</a:t>
            </a:r>
          </a:p>
        </p:txBody>
      </p:sp>
      <p:sp>
        <p:nvSpPr>
          <p:cNvPr id="13" name="thePower · AI Engineer · S12">
            <a:extLst xmlns:a="http://schemas.openxmlformats.org/drawingml/2006/main">
              <a:ext uri="{FF2B5EF4-FFF2-40B4-BE49-F238E27FC236}">
                <a16:creationId xmlns:a16="http://schemas.microsoft.com/office/drawing/2014/main" id="{09458044-C095-4644-8B72-265025241055}"/>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20">
            <a:extLst xmlns:a="http://schemas.openxmlformats.org/drawingml/2006/main">
              <a:ext uri="{FF2B5EF4-FFF2-40B4-BE49-F238E27FC236}">
                <a16:creationId xmlns:a16="http://schemas.microsoft.com/office/drawing/2014/main" id="{F429C57D-5B63-448C-B4B9-26958B8B1BFA}"/>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20</a:t>
            </a:r>
          </a:p>
        </p:txBody>
      </p:sp>
    </p:spTree>
    <p:extLst>
      <p:ext uri="{BB962C8B-B14F-4D97-AF65-F5344CB8AC3E}">
        <p14:creationId xmlns:p14="http://schemas.microsoft.com/office/powerpoint/2010/main" val="591014095"/>
      </p:ext>
    </p:extLst>
  </p:cSld>
</p:sld>
</file>

<file path=ppt/slides/slide21.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B38A5DE-CCCA-41B2-9BEF-93B6BBE13554}"/>
              </a:ext>
            </a:extLst>
          </p:cNvPr>
          <p:cNvPicPr>
            <a:picLocks xmlns:a="http://schemas.openxmlformats.org/drawingml/2006/main" noChangeAspect="1"/>
          </p:cNvPicPr>
          <p:nvPr/>
        </p:nvPicPr>
        <p:blipFill>
          <a:blip xmlns:r="http://schemas.openxmlformats.org/officeDocument/2006/relationships" xmlns:a="http://schemas.openxmlformats.org/drawingml/2006/main" r:embed="R3e0b1c159dab408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La aplicación que ya tenemos">
            <a:extLst xmlns:a="http://schemas.openxmlformats.org/drawingml/2006/main">
              <a:ext uri="{FF2B5EF4-FFF2-40B4-BE49-F238E27FC236}">
                <a16:creationId xmlns:a16="http://schemas.microsoft.com/office/drawing/2014/main" id="{B63F357A-D5F5-4D18-8D69-EEDA14FC4F0E}"/>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La aplicación que ya tenemos</a:t>
            </a:r>
          </a:p>
        </p:txBody>
      </p:sp>
      <p:graphicFrame>
        <p:nvGraphicFramePr>
          <p:cNvPr id="3" name="">
            <a:extLst xmlns:a="http://schemas.openxmlformats.org/drawingml/2006/main">
              <a:ext uri="{FF2B5EF4-FFF2-40B4-BE49-F238E27FC236}">
                <a16:creationId xmlns:a16="http://schemas.microsoft.com/office/drawing/2014/main" id="{22B5E5D6-B6E6-45D2-9E6B-70BF2BAB5A2F}"/>
              </a:ext>
            </a:extLst>
          </p:cNvPr>
          <p:cNvGraphicFramePr/>
          <p:nvPr/>
        </p:nvGraphicFramePr>
        <p:xfrm>
          <a:off xmlns:a="http://schemas.openxmlformats.org/drawingml/2006/main" x="609600" y="1752600"/>
          <a:ext xmlns:a="http://schemas.openxmlformats.org/drawingml/2006/main" cx="10972800" cy="3943350"/>
        </p:xfrm>
        <a:graphic xmlns:a="http://schemas.openxmlformats.org/drawingml/2006/main">
          <a:graphicData uri="http://schemas.openxmlformats.org/drawingml/2006/table">
            <a:tbl>
              <a:tblPr/>
              <a:tblGrid>
                <a:gridCol w="3238500"/>
                <a:gridCol w="7734300"/>
              </a:tblGrid>
              <a:tr h="657225">
                <a:tc>
                  <a:txBody>
                    <a:bodyPr lIns="133350" tIns="123825" rIns="152400" bIns="76200">
                      <a:noAutofit/>
                    </a:bodyPr>
                    <a:lstStyle/>
                    <a:p>
                      <a:r>
                        <a:rPr sz="1725" b="1">
                          <a:solidFill>
                            <a:srgbClr val="53DFBC"/>
                          </a:solidFill>
                          <a:latin typeface="Arial"/>
                          <a:ea typeface="Arial"/>
                          <a:cs typeface="Arial"/>
                        </a:rPr>
                        <a:t>Capacidad</a:t>
                      </a:r>
                    </a:p>
                  </a:txBody>
                  <a:tcPr marL="91440" marR="91440" marT="45720" marB="45720" anchor="ctr">
                    <a:lnL w="0">
                      <a:noFill/>
                    </a:lnL>
                    <a:lnR w="0">
                      <a:noFill/>
                    </a:lnR>
                    <a:lnT w="0">
                      <a:noFill/>
                    </a:lnT>
                    <a:lnB w="0">
                      <a:noFill/>
                    </a:lnB>
                    <a:solidFill>
                      <a:srgbClr val="17333E"/>
                    </a:solidFill>
                  </a:tcPr>
                </a:tc>
                <a:tc>
                  <a:txBody>
                    <a:bodyPr lIns="133350" tIns="123825" rIns="152400" bIns="76200">
                      <a:noAutofit/>
                    </a:bodyPr>
                    <a:lstStyle/>
                    <a:p>
                      <a:r>
                        <a:rPr sz="1725" b="1">
                          <a:solidFill>
                            <a:srgbClr val="53DFBC"/>
                          </a:solidFill>
                          <a:latin typeface="Arial"/>
                          <a:ea typeface="Arial"/>
                          <a:cs typeface="Arial"/>
                        </a:rPr>
                        <a:t>Implementación de la demo</a:t>
                      </a:r>
                    </a:p>
                  </a:txBody>
                  <a:tcPr marL="91440" marR="91440" marT="45720" marB="45720" anchor="ctr">
                    <a:lnR w="0">
                      <a:noFill/>
                    </a:lnR>
                    <a:lnT w="0">
                      <a:noFill/>
                    </a:lnT>
                    <a:lnB w="0">
                      <a:noFill/>
                    </a:lnB>
                    <a:solidFill>
                      <a:srgbClr val="17333E"/>
                    </a:solidFill>
                  </a:tcPr>
                </a:tc>
              </a:tr>
              <a:tr h="657225">
                <a:tc>
                  <a:txBody>
                    <a:bodyPr lIns="133350" tIns="123825" rIns="152400" bIns="76200">
                      <a:noAutofit/>
                    </a:bodyPr>
                    <a:lstStyle/>
                    <a:p>
                      <a:r>
                        <a:rPr sz="1875" b="1">
                          <a:solidFill>
                            <a:srgbClr val="53DFBC"/>
                          </a:solidFill>
                          <a:latin typeface="Arial"/>
                          <a:ea typeface="Arial"/>
                          <a:cs typeface="Arial"/>
                        </a:rPr>
                        <a:t>Investigación</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Grafo propio con LangGraph: políticas, pedidos y web</a:t>
                      </a:r>
                    </a:p>
                  </a:txBody>
                  <a:tcPr marL="91440" marR="91440" marT="45720" marB="45720" anchor="ctr">
                    <a:lnR w="0">
                      <a:noFill/>
                    </a:lnR>
                    <a:lnB w="0">
                      <a:noFill/>
                    </a:lnB>
                    <a:noFill/>
                  </a:tcPr>
                </a:tc>
              </a:tr>
              <a:tr h="657225">
                <a:tc>
                  <a:txBody>
                    <a:bodyPr lIns="133350" tIns="123825" rIns="152400" bIns="76200">
                      <a:noAutofit/>
                    </a:bodyPr>
                    <a:lstStyle/>
                    <a:p>
                      <a:r>
                        <a:rPr sz="1875" b="1">
                          <a:solidFill>
                            <a:srgbClr val="53DFBC"/>
                          </a:solidFill>
                          <a:latin typeface="Arial"/>
                          <a:ea typeface="Arial"/>
                          <a:cs typeface="Arial"/>
                        </a:rPr>
                        <a:t>Texto y visión</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Proveedor configurado · ensayo con Claude Haiku 5.5</a:t>
                      </a:r>
                    </a:p>
                  </a:txBody>
                  <a:tcPr marL="91440" marR="91440" marT="45720" marB="45720" anchor="ctr">
                    <a:lnR w="0">
                      <a:noFill/>
                    </a:lnR>
                    <a:lnB w="0">
                      <a:noFill/>
                    </a:lnB>
                    <a:noFill/>
                  </a:tcPr>
                </a:tc>
              </a:tr>
              <a:tr h="657225">
                <a:tc>
                  <a:txBody>
                    <a:bodyPr lIns="133350" tIns="123825" rIns="152400" bIns="76200">
                      <a:noAutofit/>
                    </a:bodyPr>
                    <a:lstStyle/>
                    <a:p>
                      <a:r>
                        <a:rPr sz="1875" b="1">
                          <a:solidFill>
                            <a:srgbClr val="53DFBC"/>
                          </a:solidFill>
                          <a:latin typeface="Arial"/>
                          <a:ea typeface="Arial"/>
                          <a:cs typeface="Arial"/>
                        </a:rPr>
                        <a:t>Búsqueda y lectura</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Tavily y páginas oficiales de consumo (UE y BOE)</a:t>
                      </a:r>
                    </a:p>
                  </a:txBody>
                  <a:tcPr marL="91440" marR="91440" marT="45720" marB="45720" anchor="ctr">
                    <a:lnR w="0">
                      <a:noFill/>
                    </a:lnR>
                    <a:lnB w="0">
                      <a:noFill/>
                    </a:lnB>
                    <a:noFill/>
                  </a:tcPr>
                </a:tc>
              </a:tr>
              <a:tr h="657225">
                <a:tc>
                  <a:txBody>
                    <a:bodyPr lIns="133350" tIns="123825" rIns="152400" bIns="76200">
                      <a:noAutofit/>
                    </a:bodyPr>
                    <a:lstStyle/>
                    <a:p>
                      <a:r>
                        <a:rPr sz="1875" b="1">
                          <a:solidFill>
                            <a:srgbClr val="53DFBC"/>
                          </a:solidFill>
                          <a:latin typeface="Arial"/>
                          <a:ea typeface="Arial"/>
                          <a:cs typeface="Arial"/>
                        </a:rPr>
                        <a:t>Audio y voz</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Whisper para STT y Aura-2 es para TTS</a:t>
                      </a:r>
                    </a:p>
                  </a:txBody>
                  <a:tcPr marL="91440" marR="91440" marT="45720" marB="45720" anchor="ctr">
                    <a:lnR w="0">
                      <a:noFill/>
                    </a:lnR>
                    <a:lnB w="0">
                      <a:noFill/>
                    </a:lnB>
                    <a:noFill/>
                  </a:tcPr>
                </a:tc>
              </a:tr>
              <a:tr h="657225">
                <a:tc>
                  <a:txBody>
                    <a:bodyPr lIns="133350" tIns="123825" rIns="152400" bIns="76200">
                      <a:noAutofit/>
                    </a:bodyPr>
                    <a:lstStyle/>
                    <a:p>
                      <a:r>
                        <a:rPr sz="1875" b="1">
                          <a:solidFill>
                            <a:srgbClr val="53DFBC"/>
                          </a:solidFill>
                          <a:latin typeface="Arial"/>
                          <a:ea typeface="Arial"/>
                          <a:cs typeface="Arial"/>
                        </a:rPr>
                        <a:t>Persistencia</a:t>
                      </a:r>
                    </a:p>
                  </a:txBody>
                  <a:tcPr marL="91440" marR="91440" marT="45720" marB="45720" anchor="ctr">
                    <a:lnL w="0">
                      <a:noFill/>
                    </a:lnL>
                    <a:lnR w="0">
                      <a:noFill/>
                    </a:lnR>
                    <a:lnB w="0">
                      <a:noFill/>
                    </a:lnB>
                    <a:noFill/>
                  </a:tcPr>
                </a:tc>
                <a:tc>
                  <a:txBody>
                    <a:bodyPr lIns="133350" tIns="123825" rIns="152400" bIns="76200">
                      <a:noAutofit/>
                    </a:bodyPr>
                    <a:lstStyle/>
                    <a:p>
                      <a:r>
                        <a:rPr sz="1875" b="0">
                          <a:solidFill>
                            <a:srgbClr val="F4F7FA"/>
                          </a:solidFill>
                          <a:latin typeface="Arial"/>
                          <a:ea typeface="Arial"/>
                          <a:cs typeface="Arial"/>
                        </a:rPr>
                        <a:t>D1, R2 y Workflows en Cloudflare</a:t>
                      </a:r>
                    </a:p>
                  </a:txBody>
                  <a:tcPr marL="91440" marR="91440" marT="45720" marB="45720" anchor="ctr">
                    <a:lnR w="0">
                      <a:noFill/>
                    </a:lnR>
                    <a:lnB w="0">
                      <a:noFill/>
                    </a:lnB>
                    <a:noFill/>
                  </a:tcPr>
                </a:tc>
              </a:tr>
            </a:tbl>
          </a:graphicData>
        </a:graphic>
      </p:graphicFrame>
      <p:sp>
        <p:nvSpPr>
          <p:cNvPr id="4" name="Gemini es la referencia del enunciado y la app muestra otra implementación">
            <a:extLst xmlns:a="http://schemas.openxmlformats.org/drawingml/2006/main">
              <a:ext uri="{FF2B5EF4-FFF2-40B4-BE49-F238E27FC236}">
                <a16:creationId xmlns:a16="http://schemas.microsoft.com/office/drawing/2014/main" id="{493D11F5-D822-4B3E-8AFA-7A8D76DFFACD}"/>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Gemini es la referencia del enunciado y la app muestra otra implementación</a:t>
            </a:r>
          </a:p>
        </p:txBody>
      </p:sp>
      <p:sp>
        <p:nvSpPr>
          <p:cNvPr id="5" name="thePower · AI Engineer · S12">
            <a:extLst xmlns:a="http://schemas.openxmlformats.org/drawingml/2006/main">
              <a:ext uri="{FF2B5EF4-FFF2-40B4-BE49-F238E27FC236}">
                <a16:creationId xmlns:a16="http://schemas.microsoft.com/office/drawing/2014/main" id="{FF69E4DA-4E91-4A03-85B6-2AC22A71FC36}"/>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6" name="21">
            <a:extLst xmlns:a="http://schemas.openxmlformats.org/drawingml/2006/main">
              <a:ext uri="{FF2B5EF4-FFF2-40B4-BE49-F238E27FC236}">
                <a16:creationId xmlns:a16="http://schemas.microsoft.com/office/drawing/2014/main" id="{7DC010C8-8379-483E-92A9-8CF1E5B4A7DA}"/>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21</a:t>
            </a:r>
          </a:p>
        </p:txBody>
      </p:sp>
    </p:spTree>
    <p:extLst>
      <p:ext uri="{BB962C8B-B14F-4D97-AF65-F5344CB8AC3E}">
        <p14:creationId xmlns:p14="http://schemas.microsoft.com/office/powerpoint/2010/main" val="1072935410"/>
      </p:ext>
    </p:extLst>
  </p:cSld>
</p:sld>
</file>

<file path=ppt/slides/slide22.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D19B364-9DF3-4BAD-8B7F-A19BC2D96424}"/>
              </a:ext>
            </a:extLst>
          </p:cNvPr>
          <p:cNvPicPr>
            <a:picLocks xmlns:a="http://schemas.openxmlformats.org/drawingml/2006/main" noChangeAspect="1"/>
          </p:cNvPicPr>
          <p:nvPr/>
        </p:nvPicPr>
        <p:blipFill>
          <a:blip xmlns:r="http://schemas.openxmlformats.org/officeDocument/2006/relationships" xmlns:a="http://schemas.openxmlformats.org/drawingml/2006/main" r:embed="Rca949173e83744a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Demostración del caso completo">
            <a:extLst xmlns:a="http://schemas.openxmlformats.org/drawingml/2006/main">
              <a:ext uri="{FF2B5EF4-FFF2-40B4-BE49-F238E27FC236}">
                <a16:creationId xmlns:a16="http://schemas.microsoft.com/office/drawing/2014/main" id="{F0233BE6-37C9-4CF1-A8F4-973AA70F17F4}"/>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Demostración del caso completo</a:t>
            </a:r>
          </a:p>
        </p:txBody>
      </p:sp>
      <p:sp>
        <p:nvSpPr>
          <p:cNvPr id="3" name="La misma foto y la misma nota de voz durante todo el recorrido">
            <a:extLst xmlns:a="http://schemas.openxmlformats.org/drawingml/2006/main">
              <a:ext uri="{FF2B5EF4-FFF2-40B4-BE49-F238E27FC236}">
                <a16:creationId xmlns:a16="http://schemas.microsoft.com/office/drawing/2014/main" id="{B62AFC1B-C1ED-4511-8B3D-BD81366FA2A0}"/>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La misma foto y la misma nota de voz durante todo el recorrido</a:t>
            </a:r>
          </a:p>
        </p:txBody>
      </p:sp>
      <p:sp>
        <p:nvSpPr>
          <p:cNvPr id="4" name="1 · Entradas">
            <a:extLst xmlns:a="http://schemas.openxmlformats.org/drawingml/2006/main">
              <a:ext uri="{FF2B5EF4-FFF2-40B4-BE49-F238E27FC236}">
                <a16:creationId xmlns:a16="http://schemas.microsoft.com/office/drawing/2014/main" id="{EB526552-7C12-42E8-A527-99ECBCD13C83}"/>
              </a:ext>
            </a:extLst>
          </p:cNvPr>
          <p:cNvSpPr>
            <a:spLocks xmlns:a="http://schemas.openxmlformats.org/drawingml/2006/main" noGrp="1"/>
          </p:cNvSpPr>
          <p:nvPr/>
        </p:nvSpPr>
        <p:spPr>
          <a:xfrm xmlns:a="http://schemas.openxmlformats.org/drawingml/2006/main">
            <a:off x="609600" y="2190750"/>
            <a:ext cx="2266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1 · Entradas</a:t>
            </a:r>
          </a:p>
        </p:txBody>
      </p:sp>
      <p:sp>
        <p:nvSpPr>
          <p:cNvPr id="5" name="Adjuntar la foto del pedido y la nota de voz">
            <a:extLst xmlns:a="http://schemas.openxmlformats.org/drawingml/2006/main">
              <a:ext uri="{FF2B5EF4-FFF2-40B4-BE49-F238E27FC236}">
                <a16:creationId xmlns:a16="http://schemas.microsoft.com/office/drawing/2014/main" id="{F1BCA1A1-7080-4C9C-8C6C-35B0CBEB3802}"/>
              </a:ext>
            </a:extLst>
          </p:cNvPr>
          <p:cNvSpPr>
            <a:spLocks xmlns:a="http://schemas.openxmlformats.org/drawingml/2006/main" noGrp="1"/>
          </p:cNvSpPr>
          <p:nvPr/>
        </p:nvSpPr>
        <p:spPr>
          <a:xfrm xmlns:a="http://schemas.openxmlformats.org/drawingml/2006/main">
            <a:off x="3086100" y="2190750"/>
            <a:ext cx="8496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Adjuntar la foto del pedido y la nota de voz</a:t>
            </a:r>
          </a:p>
        </p:txBody>
      </p:sp>
      <p:sp>
        <p:nvSpPr>
          <p:cNvPr id="6" name="2 · Proceso">
            <a:extLst xmlns:a="http://schemas.openxmlformats.org/drawingml/2006/main">
              <a:ext uri="{FF2B5EF4-FFF2-40B4-BE49-F238E27FC236}">
                <a16:creationId xmlns:a16="http://schemas.microsoft.com/office/drawing/2014/main" id="{E99A6BE9-CB78-4823-B1FC-7907536FDB3C}"/>
              </a:ext>
            </a:extLst>
          </p:cNvPr>
          <p:cNvSpPr>
            <a:spLocks xmlns:a="http://schemas.openxmlformats.org/drawingml/2006/main" noGrp="1"/>
          </p:cNvSpPr>
          <p:nvPr/>
        </p:nvSpPr>
        <p:spPr>
          <a:xfrm xmlns:a="http://schemas.openxmlformats.org/drawingml/2006/main">
            <a:off x="609600" y="3067050"/>
            <a:ext cx="2266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2 · Proceso</a:t>
            </a:r>
          </a:p>
        </p:txBody>
      </p:sp>
      <p:sp>
        <p:nvSpPr>
          <p:cNvPr id="7" name="Revisar observación, transcripción, plan y fuentes">
            <a:extLst xmlns:a="http://schemas.openxmlformats.org/drawingml/2006/main">
              <a:ext uri="{FF2B5EF4-FFF2-40B4-BE49-F238E27FC236}">
                <a16:creationId xmlns:a16="http://schemas.microsoft.com/office/drawing/2014/main" id="{09494FD8-09B0-4C5A-88B5-E244BBD59AAF}"/>
              </a:ext>
            </a:extLst>
          </p:cNvPr>
          <p:cNvSpPr>
            <a:spLocks xmlns:a="http://schemas.openxmlformats.org/drawingml/2006/main" noGrp="1"/>
          </p:cNvSpPr>
          <p:nvPr/>
        </p:nvSpPr>
        <p:spPr>
          <a:xfrm xmlns:a="http://schemas.openxmlformats.org/drawingml/2006/main">
            <a:off x="3086100" y="3067050"/>
            <a:ext cx="8496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Revisar observación, transcripción, plan y fuentes</a:t>
            </a:r>
          </a:p>
        </p:txBody>
      </p:sp>
      <p:sp>
        <p:nvSpPr>
          <p:cNvPr id="8" name="3 · Resultado">
            <a:extLst xmlns:a="http://schemas.openxmlformats.org/drawingml/2006/main">
              <a:ext uri="{FF2B5EF4-FFF2-40B4-BE49-F238E27FC236}">
                <a16:creationId xmlns:a16="http://schemas.microsoft.com/office/drawing/2014/main" id="{874A1CC6-B1AE-4F09-A2F3-5492A1F6CBD6}"/>
              </a:ext>
            </a:extLst>
          </p:cNvPr>
          <p:cNvSpPr>
            <a:spLocks xmlns:a="http://schemas.openxmlformats.org/drawingml/2006/main" noGrp="1"/>
          </p:cNvSpPr>
          <p:nvPr/>
        </p:nvSpPr>
        <p:spPr>
          <a:xfrm xmlns:a="http://schemas.openxmlformats.org/drawingml/2006/main">
            <a:off x="609600" y="3943350"/>
            <a:ext cx="2266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3 · Resultado</a:t>
            </a:r>
          </a:p>
        </p:txBody>
      </p:sp>
      <p:sp>
        <p:nvSpPr>
          <p:cNvPr id="9" name="Leer el informe y el texto de voz">
            <a:extLst xmlns:a="http://schemas.openxmlformats.org/drawingml/2006/main">
              <a:ext uri="{FF2B5EF4-FFF2-40B4-BE49-F238E27FC236}">
                <a16:creationId xmlns:a16="http://schemas.microsoft.com/office/drawing/2014/main" id="{6DCDFA2E-A3FA-4F3E-8560-C6AC293CBBB8}"/>
              </a:ext>
            </a:extLst>
          </p:cNvPr>
          <p:cNvSpPr>
            <a:spLocks xmlns:a="http://schemas.openxmlformats.org/drawingml/2006/main" noGrp="1"/>
          </p:cNvSpPr>
          <p:nvPr/>
        </p:nvSpPr>
        <p:spPr>
          <a:xfrm xmlns:a="http://schemas.openxmlformats.org/drawingml/2006/main">
            <a:off x="3086100" y="3943350"/>
            <a:ext cx="8496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Leer el informe y el texto de voz</a:t>
            </a:r>
          </a:p>
        </p:txBody>
      </p:sp>
      <p:sp>
        <p:nvSpPr>
          <p:cNvPr id="10" name="4 · Continuidad">
            <a:extLst xmlns:a="http://schemas.openxmlformats.org/drawingml/2006/main">
              <a:ext uri="{FF2B5EF4-FFF2-40B4-BE49-F238E27FC236}">
                <a16:creationId xmlns:a16="http://schemas.microsoft.com/office/drawing/2014/main" id="{5D2207F7-2326-4F68-BB4E-0D31A49D429A}"/>
              </a:ext>
            </a:extLst>
          </p:cNvPr>
          <p:cNvSpPr>
            <a:spLocks xmlns:a="http://schemas.openxmlformats.org/drawingml/2006/main" noGrp="1"/>
          </p:cNvSpPr>
          <p:nvPr/>
        </p:nvSpPr>
        <p:spPr>
          <a:xfrm xmlns:a="http://schemas.openxmlformats.org/drawingml/2006/main">
            <a:off x="609600" y="4819650"/>
            <a:ext cx="2266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4 · Continuidad</a:t>
            </a:r>
          </a:p>
        </p:txBody>
      </p:sp>
      <p:sp>
        <p:nvSpPr>
          <p:cNvPr id="11" name="Recargar, preguntar «¿y ese pedido?» y abrir otro hilo">
            <a:extLst xmlns:a="http://schemas.openxmlformats.org/drawingml/2006/main">
              <a:ext uri="{FF2B5EF4-FFF2-40B4-BE49-F238E27FC236}">
                <a16:creationId xmlns:a16="http://schemas.microsoft.com/office/drawing/2014/main" id="{F3D5E0E0-9784-4A42-A51D-E65C05D9868B}"/>
              </a:ext>
            </a:extLst>
          </p:cNvPr>
          <p:cNvSpPr>
            <a:spLocks xmlns:a="http://schemas.openxmlformats.org/drawingml/2006/main" noGrp="1"/>
          </p:cNvSpPr>
          <p:nvPr/>
        </p:nvSpPr>
        <p:spPr>
          <a:xfrm xmlns:a="http://schemas.openxmlformats.org/drawingml/2006/main">
            <a:off x="3086100" y="4819650"/>
            <a:ext cx="8496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Recargar, preguntar «¿y ese pedido?» y abrir otro hilo</a:t>
            </a:r>
          </a:p>
        </p:txBody>
      </p:sp>
      <p:sp>
        <p:nvSpPr>
          <p:cNvPr id="12" name="Demo principal local sin gasto · ensayo real guardado a continuación">
            <a:extLst xmlns:a="http://schemas.openxmlformats.org/drawingml/2006/main">
              <a:ext uri="{FF2B5EF4-FFF2-40B4-BE49-F238E27FC236}">
                <a16:creationId xmlns:a16="http://schemas.microsoft.com/office/drawing/2014/main" id="{EFC1A739-DCF5-4E38-8F2B-DDD4FB45C7BB}"/>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Demo principal local sin gasto · ensayo real guardado a continuación</a:t>
            </a:r>
          </a:p>
        </p:txBody>
      </p:sp>
      <p:sp>
        <p:nvSpPr>
          <p:cNvPr id="13" name="thePower · AI Engineer · S12">
            <a:extLst xmlns:a="http://schemas.openxmlformats.org/drawingml/2006/main">
              <a:ext uri="{FF2B5EF4-FFF2-40B4-BE49-F238E27FC236}">
                <a16:creationId xmlns:a16="http://schemas.microsoft.com/office/drawing/2014/main" id="{CF1DAF82-9084-40D6-9C41-046B3A65E62A}"/>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22">
            <a:extLst xmlns:a="http://schemas.openxmlformats.org/drawingml/2006/main">
              <a:ext uri="{FF2B5EF4-FFF2-40B4-BE49-F238E27FC236}">
                <a16:creationId xmlns:a16="http://schemas.microsoft.com/office/drawing/2014/main" id="{A3FA2503-22E7-4231-8BF5-915DF512F49D}"/>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22</a:t>
            </a:r>
          </a:p>
        </p:txBody>
      </p:sp>
    </p:spTree>
    <p:extLst>
      <p:ext uri="{BB962C8B-B14F-4D97-AF65-F5344CB8AC3E}">
        <p14:creationId xmlns:p14="http://schemas.microsoft.com/office/powerpoint/2010/main" val="998184014"/>
      </p:ext>
    </p:extLst>
  </p:cSld>
</p:sld>
</file>

<file path=ppt/slides/slide23.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23544CD-2802-4DA3-A7E4-B859FF5A6E95}"/>
              </a:ext>
            </a:extLst>
          </p:cNvPr>
          <p:cNvPicPr>
            <a:picLocks xmlns:a="http://schemas.openxmlformats.org/drawingml/2006/main" noChangeAspect="1"/>
          </p:cNvPicPr>
          <p:nvPr/>
        </p:nvPicPr>
        <p:blipFill>
          <a:blip xmlns:r="http://schemas.openxmlformats.org/officeDocument/2006/relationships" xmlns:a="http://schemas.openxmlformats.org/drawingml/2006/main" r:embed="R7667e3923e664e3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Lo observado en el ensayo real">
            <a:extLst xmlns:a="http://schemas.openxmlformats.org/drawingml/2006/main">
              <a:ext uri="{FF2B5EF4-FFF2-40B4-BE49-F238E27FC236}">
                <a16:creationId xmlns:a16="http://schemas.microsoft.com/office/drawing/2014/main" id="{164F0D5E-E97A-45ED-822A-A0B6726B97FF}"/>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Lo observado en el ensayo real</a:t>
            </a:r>
          </a:p>
        </p:txBody>
      </p:sp>
      <p:sp>
        <p:nvSpPr>
          <p:cNvPr id="3" name="Ejecuciones guardadas del 11 de octubre de 2026">
            <a:extLst xmlns:a="http://schemas.openxmlformats.org/drawingml/2006/main">
              <a:ext uri="{FF2B5EF4-FFF2-40B4-BE49-F238E27FC236}">
                <a16:creationId xmlns:a16="http://schemas.microsoft.com/office/drawing/2014/main" id="{D0AE5CA3-A3D8-4250-9CD1-ACED9D4AFA23}"/>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Ejecuciones guardadas del 11 de octubre de 2026</a:t>
            </a:r>
          </a:p>
        </p:txBody>
      </p:sp>
      <p:sp>
        <p:nvSpPr>
          <p:cNvPr id="4" name="48,712 s">
            <a:extLst xmlns:a="http://schemas.openxmlformats.org/drawingml/2006/main">
              <a:ext uri="{FF2B5EF4-FFF2-40B4-BE49-F238E27FC236}">
                <a16:creationId xmlns:a16="http://schemas.microsoft.com/office/drawing/2014/main" id="{686EBAE7-8D45-46D4-9649-ED247DD9F54F}"/>
              </a:ext>
            </a:extLst>
          </p:cNvPr>
          <p:cNvSpPr>
            <a:spLocks xmlns:a="http://schemas.openxmlformats.org/drawingml/2006/main" noGrp="1"/>
          </p:cNvSpPr>
          <p:nvPr/>
        </p:nvSpPr>
        <p:spPr>
          <a:xfrm xmlns:a="http://schemas.openxmlformats.org/drawingml/2006/main">
            <a:off x="609600" y="223837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525" b="1">
                <a:solidFill>
                  <a:srgbClr val="53DFBC"/>
                </a:solidFill>
                <a:latin typeface="Arial"/>
                <a:ea typeface="Arial"/>
                <a:cs typeface="Arial"/>
              </a:defRPr>
            </a:defPPr>
            <a:lvl1pPr>
              <a:defRPr sz="3525" b="1">
                <a:solidFill>
                  <a:srgbClr val="53DFBC"/>
                </a:solidFill>
                <a:latin typeface="Arial"/>
                <a:ea typeface="Arial"/>
                <a:cs typeface="Arial"/>
              </a:defRPr>
            </a:lvl1pPr>
            <a:lvl2pPr>
              <a:defRPr sz="3525" b="1">
                <a:solidFill>
                  <a:srgbClr val="53DFBC"/>
                </a:solidFill>
                <a:latin typeface="Arial"/>
                <a:ea typeface="Arial"/>
                <a:cs typeface="Arial"/>
              </a:defRPr>
            </a:lvl2pPr>
            <a:lvl3pPr>
              <a:defRPr sz="3525" b="1">
                <a:solidFill>
                  <a:srgbClr val="53DFBC"/>
                </a:solidFill>
                <a:latin typeface="Arial"/>
                <a:ea typeface="Arial"/>
                <a:cs typeface="Arial"/>
              </a:defRPr>
            </a:lvl3pPr>
            <a:lvl4pPr>
              <a:defRPr sz="3525" b="1">
                <a:solidFill>
                  <a:srgbClr val="53DFBC"/>
                </a:solidFill>
                <a:latin typeface="Arial"/>
                <a:ea typeface="Arial"/>
                <a:cs typeface="Arial"/>
              </a:defRPr>
            </a:lvl4pPr>
            <a:lvl5pPr>
              <a:defRPr sz="3525" b="1">
                <a:solidFill>
                  <a:srgbClr val="53DFBC"/>
                </a:solidFill>
                <a:latin typeface="Arial"/>
                <a:ea typeface="Arial"/>
                <a:cs typeface="Arial"/>
              </a:defRPr>
            </a:lvl5pPr>
            <a:lvl6pPr>
              <a:defRPr sz="3525" b="1">
                <a:solidFill>
                  <a:srgbClr val="53DFBC"/>
                </a:solidFill>
                <a:latin typeface="Arial"/>
                <a:ea typeface="Arial"/>
                <a:cs typeface="Arial"/>
              </a:defRPr>
            </a:lvl6pPr>
            <a:lvl7pPr>
              <a:defRPr sz="3525" b="1">
                <a:solidFill>
                  <a:srgbClr val="53DFBC"/>
                </a:solidFill>
                <a:latin typeface="Arial"/>
                <a:ea typeface="Arial"/>
                <a:cs typeface="Arial"/>
              </a:defRPr>
            </a:lvl7pPr>
            <a:lvl8pPr>
              <a:defRPr sz="3525" b="1">
                <a:solidFill>
                  <a:srgbClr val="53DFBC"/>
                </a:solidFill>
                <a:latin typeface="Arial"/>
                <a:ea typeface="Arial"/>
                <a:cs typeface="Arial"/>
              </a:defRPr>
            </a:lvl8pPr>
            <a:lvl9pPr>
              <a:defRPr sz="3525" b="1">
                <a:solidFill>
                  <a:srgbClr val="53DFBC"/>
                </a:solidFill>
                <a:latin typeface="Arial"/>
                <a:ea typeface="Arial"/>
                <a:cs typeface="Arial"/>
              </a:defRPr>
            </a:lvl9pPr>
          </a:lstStyle>
          <a:p xmlns:a="http://schemas.openxmlformats.org/drawingml/2006/main">
            <a:pPr>
              <a:defRPr sz="3525" b="1">
                <a:solidFill>
                  <a:srgbClr val="53DFBC"/>
                </a:solidFill>
                <a:latin typeface="Arial"/>
                <a:ea typeface="Arial"/>
                <a:cs typeface="Arial"/>
              </a:defRPr>
            </a:pPr>
            <a:r>
              <a:rPr sz="3525" b="1">
                <a:solidFill>
                  <a:srgbClr val="53DFBC"/>
                </a:solidFill>
                <a:latin typeface="Arial"/>
                <a:ea typeface="Arial"/>
                <a:cs typeface="Arial"/>
              </a:rPr>
              <a:t>48,712 s</a:t>
            </a:r>
          </a:p>
        </p:txBody>
      </p:sp>
      <p:sp>
        <p:nvSpPr>
          <p:cNvPr id="5" name="Informe completo con 7 afirmaciones verificadas">
            <a:extLst xmlns:a="http://schemas.openxmlformats.org/drawingml/2006/main">
              <a:ext uri="{FF2B5EF4-FFF2-40B4-BE49-F238E27FC236}">
                <a16:creationId xmlns:a16="http://schemas.microsoft.com/office/drawing/2014/main" id="{AC1FD487-AA8A-4784-BEB0-C1001AFEB15D}"/>
              </a:ext>
            </a:extLst>
          </p:cNvPr>
          <p:cNvSpPr>
            <a:spLocks xmlns:a="http://schemas.openxmlformats.org/drawingml/2006/main" noGrp="1"/>
          </p:cNvSpPr>
          <p:nvPr/>
        </p:nvSpPr>
        <p:spPr>
          <a:xfrm xmlns:a="http://schemas.openxmlformats.org/drawingml/2006/main">
            <a:off x="609600" y="2838450"/>
            <a:ext cx="633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4F7FA"/>
                </a:solidFill>
                <a:latin typeface="Arial"/>
                <a:ea typeface="Arial"/>
                <a:cs typeface="Arial"/>
              </a:defRPr>
            </a:defPPr>
            <a:lvl1pPr>
              <a:defRPr sz="1800" b="0">
                <a:solidFill>
                  <a:srgbClr val="F4F7FA"/>
                </a:solidFill>
                <a:latin typeface="Arial"/>
                <a:ea typeface="Arial"/>
                <a:cs typeface="Arial"/>
              </a:defRPr>
            </a:lvl1pPr>
            <a:lvl2pPr>
              <a:defRPr sz="1800" b="0">
                <a:solidFill>
                  <a:srgbClr val="F4F7FA"/>
                </a:solidFill>
                <a:latin typeface="Arial"/>
                <a:ea typeface="Arial"/>
                <a:cs typeface="Arial"/>
              </a:defRPr>
            </a:lvl2pPr>
            <a:lvl3pPr>
              <a:defRPr sz="1800" b="0">
                <a:solidFill>
                  <a:srgbClr val="F4F7FA"/>
                </a:solidFill>
                <a:latin typeface="Arial"/>
                <a:ea typeface="Arial"/>
                <a:cs typeface="Arial"/>
              </a:defRPr>
            </a:lvl3pPr>
            <a:lvl4pPr>
              <a:defRPr sz="1800" b="0">
                <a:solidFill>
                  <a:srgbClr val="F4F7FA"/>
                </a:solidFill>
                <a:latin typeface="Arial"/>
                <a:ea typeface="Arial"/>
                <a:cs typeface="Arial"/>
              </a:defRPr>
            </a:lvl4pPr>
            <a:lvl5pPr>
              <a:defRPr sz="1800" b="0">
                <a:solidFill>
                  <a:srgbClr val="F4F7FA"/>
                </a:solidFill>
                <a:latin typeface="Arial"/>
                <a:ea typeface="Arial"/>
                <a:cs typeface="Arial"/>
              </a:defRPr>
            </a:lvl5pPr>
            <a:lvl6pPr>
              <a:defRPr sz="1800" b="0">
                <a:solidFill>
                  <a:srgbClr val="F4F7FA"/>
                </a:solidFill>
                <a:latin typeface="Arial"/>
                <a:ea typeface="Arial"/>
                <a:cs typeface="Arial"/>
              </a:defRPr>
            </a:lvl6pPr>
            <a:lvl7pPr>
              <a:defRPr sz="1800" b="0">
                <a:solidFill>
                  <a:srgbClr val="F4F7FA"/>
                </a:solidFill>
                <a:latin typeface="Arial"/>
                <a:ea typeface="Arial"/>
                <a:cs typeface="Arial"/>
              </a:defRPr>
            </a:lvl7pPr>
            <a:lvl8pPr>
              <a:defRPr sz="1800" b="0">
                <a:solidFill>
                  <a:srgbClr val="F4F7FA"/>
                </a:solidFill>
                <a:latin typeface="Arial"/>
                <a:ea typeface="Arial"/>
                <a:cs typeface="Arial"/>
              </a:defRPr>
            </a:lvl8pPr>
            <a:lvl9pPr>
              <a:defRPr sz="1800" b="0">
                <a:solidFill>
                  <a:srgbClr val="F4F7FA"/>
                </a:solidFill>
                <a:latin typeface="Arial"/>
                <a:ea typeface="Arial"/>
                <a:cs typeface="Arial"/>
              </a:defRPr>
            </a:lvl9pPr>
          </a:lstStyle>
          <a:p xmlns:a="http://schemas.openxmlformats.org/drawingml/2006/main">
            <a:pPr>
              <a:defRPr sz="1800" b="0">
                <a:solidFill>
                  <a:srgbClr val="F4F7FA"/>
                </a:solidFill>
                <a:latin typeface="Arial"/>
                <a:ea typeface="Arial"/>
                <a:cs typeface="Arial"/>
              </a:defRPr>
            </a:pPr>
            <a:r>
              <a:rPr sz="1800" b="0">
                <a:solidFill>
                  <a:srgbClr val="F4F7FA"/>
                </a:solidFill>
                <a:latin typeface="Arial"/>
                <a:ea typeface="Arial"/>
                <a:cs typeface="Arial"/>
              </a:rPr>
              <a:t>Informe completo con 7 afirmaciones verificadas</a:t>
            </a:r>
          </a:p>
        </p:txBody>
      </p:sp>
      <p:sp>
        <p:nvSpPr>
          <p:cNvPr id="6" name="45,158 s">
            <a:extLst xmlns:a="http://schemas.openxmlformats.org/drawingml/2006/main">
              <a:ext uri="{FF2B5EF4-FFF2-40B4-BE49-F238E27FC236}">
                <a16:creationId xmlns:a16="http://schemas.microsoft.com/office/drawing/2014/main" id="{AF8B5991-C8C3-49B9-A663-757BFB7AEB62}"/>
              </a:ext>
            </a:extLst>
          </p:cNvPr>
          <p:cNvSpPr>
            <a:spLocks xmlns:a="http://schemas.openxmlformats.org/drawingml/2006/main" noGrp="1"/>
          </p:cNvSpPr>
          <p:nvPr/>
        </p:nvSpPr>
        <p:spPr>
          <a:xfrm xmlns:a="http://schemas.openxmlformats.org/drawingml/2006/main">
            <a:off x="609600" y="33718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525" b="1">
                <a:solidFill>
                  <a:srgbClr val="53DFBC"/>
                </a:solidFill>
                <a:latin typeface="Arial"/>
                <a:ea typeface="Arial"/>
                <a:cs typeface="Arial"/>
              </a:defRPr>
            </a:defPPr>
            <a:lvl1pPr>
              <a:defRPr sz="3525" b="1">
                <a:solidFill>
                  <a:srgbClr val="53DFBC"/>
                </a:solidFill>
                <a:latin typeface="Arial"/>
                <a:ea typeface="Arial"/>
                <a:cs typeface="Arial"/>
              </a:defRPr>
            </a:lvl1pPr>
            <a:lvl2pPr>
              <a:defRPr sz="3525" b="1">
                <a:solidFill>
                  <a:srgbClr val="53DFBC"/>
                </a:solidFill>
                <a:latin typeface="Arial"/>
                <a:ea typeface="Arial"/>
                <a:cs typeface="Arial"/>
              </a:defRPr>
            </a:lvl2pPr>
            <a:lvl3pPr>
              <a:defRPr sz="3525" b="1">
                <a:solidFill>
                  <a:srgbClr val="53DFBC"/>
                </a:solidFill>
                <a:latin typeface="Arial"/>
                <a:ea typeface="Arial"/>
                <a:cs typeface="Arial"/>
              </a:defRPr>
            </a:lvl3pPr>
            <a:lvl4pPr>
              <a:defRPr sz="3525" b="1">
                <a:solidFill>
                  <a:srgbClr val="53DFBC"/>
                </a:solidFill>
                <a:latin typeface="Arial"/>
                <a:ea typeface="Arial"/>
                <a:cs typeface="Arial"/>
              </a:defRPr>
            </a:lvl4pPr>
            <a:lvl5pPr>
              <a:defRPr sz="3525" b="1">
                <a:solidFill>
                  <a:srgbClr val="53DFBC"/>
                </a:solidFill>
                <a:latin typeface="Arial"/>
                <a:ea typeface="Arial"/>
                <a:cs typeface="Arial"/>
              </a:defRPr>
            </a:lvl5pPr>
            <a:lvl6pPr>
              <a:defRPr sz="3525" b="1">
                <a:solidFill>
                  <a:srgbClr val="53DFBC"/>
                </a:solidFill>
                <a:latin typeface="Arial"/>
                <a:ea typeface="Arial"/>
                <a:cs typeface="Arial"/>
              </a:defRPr>
            </a:lvl6pPr>
            <a:lvl7pPr>
              <a:defRPr sz="3525" b="1">
                <a:solidFill>
                  <a:srgbClr val="53DFBC"/>
                </a:solidFill>
                <a:latin typeface="Arial"/>
                <a:ea typeface="Arial"/>
                <a:cs typeface="Arial"/>
              </a:defRPr>
            </a:lvl7pPr>
            <a:lvl8pPr>
              <a:defRPr sz="3525" b="1">
                <a:solidFill>
                  <a:srgbClr val="53DFBC"/>
                </a:solidFill>
                <a:latin typeface="Arial"/>
                <a:ea typeface="Arial"/>
                <a:cs typeface="Arial"/>
              </a:defRPr>
            </a:lvl8pPr>
            <a:lvl9pPr>
              <a:defRPr sz="3525" b="1">
                <a:solidFill>
                  <a:srgbClr val="53DFBC"/>
                </a:solidFill>
                <a:latin typeface="Arial"/>
                <a:ea typeface="Arial"/>
                <a:cs typeface="Arial"/>
              </a:defRPr>
            </a:lvl9pPr>
          </a:lstStyle>
          <a:p xmlns:a="http://schemas.openxmlformats.org/drawingml/2006/main">
            <a:pPr>
              <a:defRPr sz="3525" b="1">
                <a:solidFill>
                  <a:srgbClr val="53DFBC"/>
                </a:solidFill>
                <a:latin typeface="Arial"/>
                <a:ea typeface="Arial"/>
                <a:cs typeface="Arial"/>
              </a:defRPr>
            </a:pPr>
            <a:r>
              <a:rPr sz="3525" b="1">
                <a:solidFill>
                  <a:srgbClr val="53DFBC"/>
                </a:solidFill>
                <a:latin typeface="Arial"/>
                <a:ea typeface="Arial"/>
                <a:cs typeface="Arial"/>
              </a:rPr>
              <a:t>45,158 s</a:t>
            </a:r>
          </a:p>
        </p:txBody>
      </p:sp>
      <p:sp>
        <p:nvSpPr>
          <p:cNvPr id="7" name="Informe parcial con 8 afirmaciones verificadas">
            <a:extLst xmlns:a="http://schemas.openxmlformats.org/drawingml/2006/main">
              <a:ext uri="{FF2B5EF4-FFF2-40B4-BE49-F238E27FC236}">
                <a16:creationId xmlns:a16="http://schemas.microsoft.com/office/drawing/2014/main" id="{04723CA8-6AF9-4A81-AD68-A494ACA7237A}"/>
              </a:ext>
            </a:extLst>
          </p:cNvPr>
          <p:cNvSpPr>
            <a:spLocks xmlns:a="http://schemas.openxmlformats.org/drawingml/2006/main" noGrp="1"/>
          </p:cNvSpPr>
          <p:nvPr/>
        </p:nvSpPr>
        <p:spPr>
          <a:xfrm xmlns:a="http://schemas.openxmlformats.org/drawingml/2006/main">
            <a:off x="609600" y="3971925"/>
            <a:ext cx="633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4F7FA"/>
                </a:solidFill>
                <a:latin typeface="Arial"/>
                <a:ea typeface="Arial"/>
                <a:cs typeface="Arial"/>
              </a:defRPr>
            </a:defPPr>
            <a:lvl1pPr>
              <a:defRPr sz="1800" b="0">
                <a:solidFill>
                  <a:srgbClr val="F4F7FA"/>
                </a:solidFill>
                <a:latin typeface="Arial"/>
                <a:ea typeface="Arial"/>
                <a:cs typeface="Arial"/>
              </a:defRPr>
            </a:lvl1pPr>
            <a:lvl2pPr>
              <a:defRPr sz="1800" b="0">
                <a:solidFill>
                  <a:srgbClr val="F4F7FA"/>
                </a:solidFill>
                <a:latin typeface="Arial"/>
                <a:ea typeface="Arial"/>
                <a:cs typeface="Arial"/>
              </a:defRPr>
            </a:lvl2pPr>
            <a:lvl3pPr>
              <a:defRPr sz="1800" b="0">
                <a:solidFill>
                  <a:srgbClr val="F4F7FA"/>
                </a:solidFill>
                <a:latin typeface="Arial"/>
                <a:ea typeface="Arial"/>
                <a:cs typeface="Arial"/>
              </a:defRPr>
            </a:lvl3pPr>
            <a:lvl4pPr>
              <a:defRPr sz="1800" b="0">
                <a:solidFill>
                  <a:srgbClr val="F4F7FA"/>
                </a:solidFill>
                <a:latin typeface="Arial"/>
                <a:ea typeface="Arial"/>
                <a:cs typeface="Arial"/>
              </a:defRPr>
            </a:lvl4pPr>
            <a:lvl5pPr>
              <a:defRPr sz="1800" b="0">
                <a:solidFill>
                  <a:srgbClr val="F4F7FA"/>
                </a:solidFill>
                <a:latin typeface="Arial"/>
                <a:ea typeface="Arial"/>
                <a:cs typeface="Arial"/>
              </a:defRPr>
            </a:lvl5pPr>
            <a:lvl6pPr>
              <a:defRPr sz="1800" b="0">
                <a:solidFill>
                  <a:srgbClr val="F4F7FA"/>
                </a:solidFill>
                <a:latin typeface="Arial"/>
                <a:ea typeface="Arial"/>
                <a:cs typeface="Arial"/>
              </a:defRPr>
            </a:lvl6pPr>
            <a:lvl7pPr>
              <a:defRPr sz="1800" b="0">
                <a:solidFill>
                  <a:srgbClr val="F4F7FA"/>
                </a:solidFill>
                <a:latin typeface="Arial"/>
                <a:ea typeface="Arial"/>
                <a:cs typeface="Arial"/>
              </a:defRPr>
            </a:lvl7pPr>
            <a:lvl8pPr>
              <a:defRPr sz="1800" b="0">
                <a:solidFill>
                  <a:srgbClr val="F4F7FA"/>
                </a:solidFill>
                <a:latin typeface="Arial"/>
                <a:ea typeface="Arial"/>
                <a:cs typeface="Arial"/>
              </a:defRPr>
            </a:lvl8pPr>
            <a:lvl9pPr>
              <a:defRPr sz="1800" b="0">
                <a:solidFill>
                  <a:srgbClr val="F4F7FA"/>
                </a:solidFill>
                <a:latin typeface="Arial"/>
                <a:ea typeface="Arial"/>
                <a:cs typeface="Arial"/>
              </a:defRPr>
            </a:lvl9pPr>
          </a:lstStyle>
          <a:p xmlns:a="http://schemas.openxmlformats.org/drawingml/2006/main">
            <a:pPr>
              <a:defRPr sz="1800" b="0">
                <a:solidFill>
                  <a:srgbClr val="F4F7FA"/>
                </a:solidFill>
                <a:latin typeface="Arial"/>
                <a:ea typeface="Arial"/>
                <a:cs typeface="Arial"/>
              </a:defRPr>
            </a:pPr>
            <a:r>
              <a:rPr sz="1800" b="0">
                <a:solidFill>
                  <a:srgbClr val="F4F7FA"/>
                </a:solidFill>
                <a:latin typeface="Arial"/>
                <a:ea typeface="Arial"/>
                <a:cs typeface="Arial"/>
              </a:rPr>
              <a:t>Informe parcial con 8 afirmaciones verificadas</a:t>
            </a:r>
          </a:p>
        </p:txBody>
      </p:sp>
      <p:sp>
        <p:nvSpPr>
          <p:cNvPr id="8" name="24,504 s">
            <a:extLst xmlns:a="http://schemas.openxmlformats.org/drawingml/2006/main">
              <a:ext uri="{FF2B5EF4-FFF2-40B4-BE49-F238E27FC236}">
                <a16:creationId xmlns:a16="http://schemas.microsoft.com/office/drawing/2014/main" id="{6B04006B-A601-47A4-94FF-30A901011F4A}"/>
              </a:ext>
            </a:extLst>
          </p:cNvPr>
          <p:cNvSpPr>
            <a:spLocks xmlns:a="http://schemas.openxmlformats.org/drawingml/2006/main" noGrp="1"/>
          </p:cNvSpPr>
          <p:nvPr/>
        </p:nvSpPr>
        <p:spPr>
          <a:xfrm xmlns:a="http://schemas.openxmlformats.org/drawingml/2006/main">
            <a:off x="609600" y="450532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525" b="1">
                <a:solidFill>
                  <a:srgbClr val="53DFBC"/>
                </a:solidFill>
                <a:latin typeface="Arial"/>
                <a:ea typeface="Arial"/>
                <a:cs typeface="Arial"/>
              </a:defRPr>
            </a:defPPr>
            <a:lvl1pPr>
              <a:defRPr sz="3525" b="1">
                <a:solidFill>
                  <a:srgbClr val="53DFBC"/>
                </a:solidFill>
                <a:latin typeface="Arial"/>
                <a:ea typeface="Arial"/>
                <a:cs typeface="Arial"/>
              </a:defRPr>
            </a:lvl1pPr>
            <a:lvl2pPr>
              <a:defRPr sz="3525" b="1">
                <a:solidFill>
                  <a:srgbClr val="53DFBC"/>
                </a:solidFill>
                <a:latin typeface="Arial"/>
                <a:ea typeface="Arial"/>
                <a:cs typeface="Arial"/>
              </a:defRPr>
            </a:lvl2pPr>
            <a:lvl3pPr>
              <a:defRPr sz="3525" b="1">
                <a:solidFill>
                  <a:srgbClr val="53DFBC"/>
                </a:solidFill>
                <a:latin typeface="Arial"/>
                <a:ea typeface="Arial"/>
                <a:cs typeface="Arial"/>
              </a:defRPr>
            </a:lvl3pPr>
            <a:lvl4pPr>
              <a:defRPr sz="3525" b="1">
                <a:solidFill>
                  <a:srgbClr val="53DFBC"/>
                </a:solidFill>
                <a:latin typeface="Arial"/>
                <a:ea typeface="Arial"/>
                <a:cs typeface="Arial"/>
              </a:defRPr>
            </a:lvl4pPr>
            <a:lvl5pPr>
              <a:defRPr sz="3525" b="1">
                <a:solidFill>
                  <a:srgbClr val="53DFBC"/>
                </a:solidFill>
                <a:latin typeface="Arial"/>
                <a:ea typeface="Arial"/>
                <a:cs typeface="Arial"/>
              </a:defRPr>
            </a:lvl5pPr>
            <a:lvl6pPr>
              <a:defRPr sz="3525" b="1">
                <a:solidFill>
                  <a:srgbClr val="53DFBC"/>
                </a:solidFill>
                <a:latin typeface="Arial"/>
                <a:ea typeface="Arial"/>
                <a:cs typeface="Arial"/>
              </a:defRPr>
            </a:lvl6pPr>
            <a:lvl7pPr>
              <a:defRPr sz="3525" b="1">
                <a:solidFill>
                  <a:srgbClr val="53DFBC"/>
                </a:solidFill>
                <a:latin typeface="Arial"/>
                <a:ea typeface="Arial"/>
                <a:cs typeface="Arial"/>
              </a:defRPr>
            </a:lvl7pPr>
            <a:lvl8pPr>
              <a:defRPr sz="3525" b="1">
                <a:solidFill>
                  <a:srgbClr val="53DFBC"/>
                </a:solidFill>
                <a:latin typeface="Arial"/>
                <a:ea typeface="Arial"/>
                <a:cs typeface="Arial"/>
              </a:defRPr>
            </a:lvl8pPr>
            <a:lvl9pPr>
              <a:defRPr sz="3525" b="1">
                <a:solidFill>
                  <a:srgbClr val="53DFBC"/>
                </a:solidFill>
                <a:latin typeface="Arial"/>
                <a:ea typeface="Arial"/>
                <a:cs typeface="Arial"/>
              </a:defRPr>
            </a:lvl9pPr>
          </a:lstStyle>
          <a:p xmlns:a="http://schemas.openxmlformats.org/drawingml/2006/main">
            <a:pPr>
              <a:defRPr sz="3525" b="1">
                <a:solidFill>
                  <a:srgbClr val="53DFBC"/>
                </a:solidFill>
                <a:latin typeface="Arial"/>
                <a:ea typeface="Arial"/>
                <a:cs typeface="Arial"/>
              </a:defRPr>
            </a:pPr>
            <a:r>
              <a:rPr sz="3525" b="1">
                <a:solidFill>
                  <a:srgbClr val="53DFBC"/>
                </a:solidFill>
                <a:latin typeface="Arial"/>
                <a:ea typeface="Arial"/>
                <a:cs typeface="Arial"/>
              </a:rPr>
              <a:t>24,504 s</a:t>
            </a:r>
          </a:p>
        </p:txBody>
      </p:sp>
      <p:sp>
        <p:nvSpPr>
          <p:cNvPr id="9" name="Audio real recuperado y reproducido tras la recarga">
            <a:extLst xmlns:a="http://schemas.openxmlformats.org/drawingml/2006/main">
              <a:ext uri="{FF2B5EF4-FFF2-40B4-BE49-F238E27FC236}">
                <a16:creationId xmlns:a16="http://schemas.microsoft.com/office/drawing/2014/main" id="{81C0959C-EAC5-4FC8-AFFB-887ACB876B0E}"/>
              </a:ext>
            </a:extLst>
          </p:cNvPr>
          <p:cNvSpPr>
            <a:spLocks xmlns:a="http://schemas.openxmlformats.org/drawingml/2006/main" noGrp="1"/>
          </p:cNvSpPr>
          <p:nvPr/>
        </p:nvSpPr>
        <p:spPr>
          <a:xfrm xmlns:a="http://schemas.openxmlformats.org/drawingml/2006/main">
            <a:off x="609600" y="5105400"/>
            <a:ext cx="633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4F7FA"/>
                </a:solidFill>
                <a:latin typeface="Arial"/>
                <a:ea typeface="Arial"/>
                <a:cs typeface="Arial"/>
              </a:defRPr>
            </a:defPPr>
            <a:lvl1pPr>
              <a:defRPr sz="1800" b="0">
                <a:solidFill>
                  <a:srgbClr val="F4F7FA"/>
                </a:solidFill>
                <a:latin typeface="Arial"/>
                <a:ea typeface="Arial"/>
                <a:cs typeface="Arial"/>
              </a:defRPr>
            </a:lvl1pPr>
            <a:lvl2pPr>
              <a:defRPr sz="1800" b="0">
                <a:solidFill>
                  <a:srgbClr val="F4F7FA"/>
                </a:solidFill>
                <a:latin typeface="Arial"/>
                <a:ea typeface="Arial"/>
                <a:cs typeface="Arial"/>
              </a:defRPr>
            </a:lvl2pPr>
            <a:lvl3pPr>
              <a:defRPr sz="1800" b="0">
                <a:solidFill>
                  <a:srgbClr val="F4F7FA"/>
                </a:solidFill>
                <a:latin typeface="Arial"/>
                <a:ea typeface="Arial"/>
                <a:cs typeface="Arial"/>
              </a:defRPr>
            </a:lvl3pPr>
            <a:lvl4pPr>
              <a:defRPr sz="1800" b="0">
                <a:solidFill>
                  <a:srgbClr val="F4F7FA"/>
                </a:solidFill>
                <a:latin typeface="Arial"/>
                <a:ea typeface="Arial"/>
                <a:cs typeface="Arial"/>
              </a:defRPr>
            </a:lvl4pPr>
            <a:lvl5pPr>
              <a:defRPr sz="1800" b="0">
                <a:solidFill>
                  <a:srgbClr val="F4F7FA"/>
                </a:solidFill>
                <a:latin typeface="Arial"/>
                <a:ea typeface="Arial"/>
                <a:cs typeface="Arial"/>
              </a:defRPr>
            </a:lvl5pPr>
            <a:lvl6pPr>
              <a:defRPr sz="1800" b="0">
                <a:solidFill>
                  <a:srgbClr val="F4F7FA"/>
                </a:solidFill>
                <a:latin typeface="Arial"/>
                <a:ea typeface="Arial"/>
                <a:cs typeface="Arial"/>
              </a:defRPr>
            </a:lvl6pPr>
            <a:lvl7pPr>
              <a:defRPr sz="1800" b="0">
                <a:solidFill>
                  <a:srgbClr val="F4F7FA"/>
                </a:solidFill>
                <a:latin typeface="Arial"/>
                <a:ea typeface="Arial"/>
                <a:cs typeface="Arial"/>
              </a:defRPr>
            </a:lvl7pPr>
            <a:lvl8pPr>
              <a:defRPr sz="1800" b="0">
                <a:solidFill>
                  <a:srgbClr val="F4F7FA"/>
                </a:solidFill>
                <a:latin typeface="Arial"/>
                <a:ea typeface="Arial"/>
                <a:cs typeface="Arial"/>
              </a:defRPr>
            </a:lvl8pPr>
            <a:lvl9pPr>
              <a:defRPr sz="1800" b="0">
                <a:solidFill>
                  <a:srgbClr val="F4F7FA"/>
                </a:solidFill>
                <a:latin typeface="Arial"/>
                <a:ea typeface="Arial"/>
                <a:cs typeface="Arial"/>
              </a:defRPr>
            </a:lvl9pPr>
          </a:lstStyle>
          <a:p xmlns:a="http://schemas.openxmlformats.org/drawingml/2006/main">
            <a:pPr>
              <a:defRPr sz="1800" b="0">
                <a:solidFill>
                  <a:srgbClr val="F4F7FA"/>
                </a:solidFill>
                <a:latin typeface="Arial"/>
                <a:ea typeface="Arial"/>
                <a:cs typeface="Arial"/>
              </a:defRPr>
            </a:pPr>
            <a:r>
              <a:rPr sz="1800" b="0">
                <a:solidFill>
                  <a:srgbClr val="F4F7FA"/>
                </a:solidFill>
                <a:latin typeface="Arial"/>
                <a:ea typeface="Arial"/>
                <a:cs typeface="Arial"/>
              </a:rPr>
              <a:t>Audio real recuperado y reproducido tras la recarga</a:t>
            </a:r>
          </a:p>
        </p:txBody>
      </p:sp>
      <p:pic>
        <p:nvPicPr>
          <p:cNvPr id="10" name="">
            <a:extLst xmlns:a="http://schemas.openxmlformats.org/drawingml/2006/main">
              <a:ext uri="{FF2B5EF4-FFF2-40B4-BE49-F238E27FC236}">
                <a16:creationId xmlns:a16="http://schemas.microsoft.com/office/drawing/2014/main" id="{A9722DD0-F17F-4DF3-8CD1-CEA22B29F6AE}"/>
              </a:ext>
            </a:extLst>
          </p:cNvPr>
          <p:cNvPicPr>
            <a:picLocks xmlns:a="http://schemas.openxmlformats.org/drawingml/2006/main" noChangeAspect="1"/>
          </p:cNvPicPr>
          <p:nvPr/>
        </p:nvPicPr>
        <p:blipFill>
          <a:blip xmlns:r="http://schemas.openxmlformats.org/officeDocument/2006/relationships" xmlns:a="http://schemas.openxmlformats.org/drawingml/2006/main" r:embed="R0ffda87057ce493b"/>
          <a:stretch xmlns:a="http://schemas.openxmlformats.org/drawingml/2006/main"/>
        </p:blipFill>
        <p:spPr>
          <a:xfrm xmlns:a="http://schemas.openxmlformats.org/drawingml/2006/main">
            <a:off x="7735754" y="1943100"/>
            <a:ext cx="3340366" cy="4095750"/>
          </a:xfrm>
          <a:prstGeom xmlns:a="http://schemas.openxmlformats.org/drawingml/2006/main" prst="rect">
            <a:avLst/>
          </a:prstGeom>
        </p:spPr>
      </p:pic>
      <p:sp>
        <p:nvSpPr>
          <p:cNvPr id="11" name="Son ejemplos del recorrido y no una tasa general de precisión">
            <a:extLst xmlns:a="http://schemas.openxmlformats.org/drawingml/2006/main">
              <a:ext uri="{FF2B5EF4-FFF2-40B4-BE49-F238E27FC236}">
                <a16:creationId xmlns:a16="http://schemas.microsoft.com/office/drawing/2014/main" id="{FBA68345-E013-4CC9-97A6-43879988F168}"/>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Son ejemplos del recorrido y no una tasa general de precisión</a:t>
            </a:r>
          </a:p>
        </p:txBody>
      </p:sp>
      <p:sp>
        <p:nvSpPr>
          <p:cNvPr id="12" name="thePower · AI Engineer · S12">
            <a:extLst xmlns:a="http://schemas.openxmlformats.org/drawingml/2006/main">
              <a:ext uri="{FF2B5EF4-FFF2-40B4-BE49-F238E27FC236}">
                <a16:creationId xmlns:a16="http://schemas.microsoft.com/office/drawing/2014/main" id="{E0920209-246A-4B9A-8DAD-7117E05E46E6}"/>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3" name="23">
            <a:extLst xmlns:a="http://schemas.openxmlformats.org/drawingml/2006/main">
              <a:ext uri="{FF2B5EF4-FFF2-40B4-BE49-F238E27FC236}">
                <a16:creationId xmlns:a16="http://schemas.microsoft.com/office/drawing/2014/main" id="{1B2D9832-5BF8-4F14-848E-8FAC91B76C78}"/>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23</a:t>
            </a:r>
          </a:p>
        </p:txBody>
      </p:sp>
    </p:spTree>
    <p:extLst>
      <p:ext uri="{BB962C8B-B14F-4D97-AF65-F5344CB8AC3E}">
        <p14:creationId xmlns:p14="http://schemas.microsoft.com/office/powerpoint/2010/main" val="1828329424"/>
      </p:ext>
    </p:extLst>
  </p:cSld>
</p:sld>
</file>

<file path=ppt/slides/slide24.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778BBAC-0D02-4C68-AB4C-0AB3E77F8A7B}"/>
              </a:ext>
            </a:extLst>
          </p:cNvPr>
          <p:cNvPicPr>
            <a:picLocks xmlns:a="http://schemas.openxmlformats.org/drawingml/2006/main" noChangeAspect="1"/>
          </p:cNvPicPr>
          <p:nvPr/>
        </p:nvPicPr>
        <p:blipFill>
          <a:blip xmlns:r="http://schemas.openxmlformats.org/officeDocument/2006/relationships" xmlns:a="http://schemas.openxmlformats.org/drawingml/2006/main" r:embed="R59e13e7e652e40b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Ejercicio y preguntas finales">
            <a:extLst xmlns:a="http://schemas.openxmlformats.org/drawingml/2006/main">
              <a:ext uri="{FF2B5EF4-FFF2-40B4-BE49-F238E27FC236}">
                <a16:creationId xmlns:a16="http://schemas.microsoft.com/office/drawing/2014/main" id="{6A514A39-AC78-4B1D-93CA-B85075BED2BE}"/>
              </a:ext>
            </a:extLst>
          </p:cNvPr>
          <p:cNvSpPr>
            <a:spLocks xmlns:a="http://schemas.openxmlformats.org/drawingml/2006/main" noGrp="1"/>
          </p:cNvSpPr>
          <p:nvPr/>
        </p:nvSpPr>
        <p:spPr>
          <a:xfrm xmlns:a="http://schemas.openxmlformats.org/drawingml/2006/main">
            <a:off x="609600" y="44767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F4F7FA"/>
                </a:solidFill>
                <a:latin typeface="Arial"/>
                <a:ea typeface="Arial"/>
                <a:cs typeface="Arial"/>
              </a:defRPr>
            </a:defPPr>
            <a:lvl1pPr>
              <a:defRPr sz="3300" b="1">
                <a:solidFill>
                  <a:srgbClr val="F4F7FA"/>
                </a:solidFill>
                <a:latin typeface="Arial"/>
                <a:ea typeface="Arial"/>
                <a:cs typeface="Arial"/>
              </a:defRPr>
            </a:lvl1pPr>
            <a:lvl2pPr>
              <a:defRPr sz="3300" b="1">
                <a:solidFill>
                  <a:srgbClr val="F4F7FA"/>
                </a:solidFill>
                <a:latin typeface="Arial"/>
                <a:ea typeface="Arial"/>
                <a:cs typeface="Arial"/>
              </a:defRPr>
            </a:lvl2pPr>
            <a:lvl3pPr>
              <a:defRPr sz="3300" b="1">
                <a:solidFill>
                  <a:srgbClr val="F4F7FA"/>
                </a:solidFill>
                <a:latin typeface="Arial"/>
                <a:ea typeface="Arial"/>
                <a:cs typeface="Arial"/>
              </a:defRPr>
            </a:lvl3pPr>
            <a:lvl4pPr>
              <a:defRPr sz="3300" b="1">
                <a:solidFill>
                  <a:srgbClr val="F4F7FA"/>
                </a:solidFill>
                <a:latin typeface="Arial"/>
                <a:ea typeface="Arial"/>
                <a:cs typeface="Arial"/>
              </a:defRPr>
            </a:lvl4pPr>
            <a:lvl5pPr>
              <a:defRPr sz="3300" b="1">
                <a:solidFill>
                  <a:srgbClr val="F4F7FA"/>
                </a:solidFill>
                <a:latin typeface="Arial"/>
                <a:ea typeface="Arial"/>
                <a:cs typeface="Arial"/>
              </a:defRPr>
            </a:lvl5pPr>
            <a:lvl6pPr>
              <a:defRPr sz="3300" b="1">
                <a:solidFill>
                  <a:srgbClr val="F4F7FA"/>
                </a:solidFill>
                <a:latin typeface="Arial"/>
                <a:ea typeface="Arial"/>
                <a:cs typeface="Arial"/>
              </a:defRPr>
            </a:lvl6pPr>
            <a:lvl7pPr>
              <a:defRPr sz="3300" b="1">
                <a:solidFill>
                  <a:srgbClr val="F4F7FA"/>
                </a:solidFill>
                <a:latin typeface="Arial"/>
                <a:ea typeface="Arial"/>
                <a:cs typeface="Arial"/>
              </a:defRPr>
            </a:lvl7pPr>
            <a:lvl8pPr>
              <a:defRPr sz="3300" b="1">
                <a:solidFill>
                  <a:srgbClr val="F4F7FA"/>
                </a:solidFill>
                <a:latin typeface="Arial"/>
                <a:ea typeface="Arial"/>
                <a:cs typeface="Arial"/>
              </a:defRPr>
            </a:lvl8pPr>
            <a:lvl9pPr>
              <a:defRPr sz="3300" b="1">
                <a:solidFill>
                  <a:srgbClr val="F4F7FA"/>
                </a:solidFill>
                <a:latin typeface="Arial"/>
                <a:ea typeface="Arial"/>
                <a:cs typeface="Arial"/>
              </a:defRPr>
            </a:lvl9pPr>
          </a:lstStyle>
          <a:p xmlns:a="http://schemas.openxmlformats.org/drawingml/2006/main">
            <a:pPr>
              <a:defRPr sz="3300" b="1">
                <a:solidFill>
                  <a:srgbClr val="F4F7FA"/>
                </a:solidFill>
                <a:latin typeface="Arial"/>
                <a:ea typeface="Arial"/>
                <a:cs typeface="Arial"/>
              </a:defRPr>
            </a:pPr>
            <a:r>
              <a:rPr sz="3300" b="1">
                <a:solidFill>
                  <a:srgbClr val="F4F7FA"/>
                </a:solidFill>
                <a:latin typeface="Arial"/>
                <a:ea typeface="Arial"/>
                <a:cs typeface="Arial"/>
              </a:rPr>
              <a:t>Ejercicio y preguntas finales</a:t>
            </a:r>
          </a:p>
        </p:txBody>
      </p:sp>
      <p:sp>
        <p:nvSpPr>
          <p:cNvPr id="3" name="Un caso ficticio y una evidencia clara por capacidad">
            <a:extLst xmlns:a="http://schemas.openxmlformats.org/drawingml/2006/main">
              <a:ext uri="{FF2B5EF4-FFF2-40B4-BE49-F238E27FC236}">
                <a16:creationId xmlns:a16="http://schemas.microsoft.com/office/drawing/2014/main" id="{A846EAB6-81FE-4AB4-A555-8087F79C5F56}"/>
              </a:ext>
            </a:extLst>
          </p:cNvPr>
          <p:cNvSpPr>
            <a:spLocks xmlns:a="http://schemas.openxmlformats.org/drawingml/2006/main" noGrp="1"/>
          </p:cNvSpPr>
          <p:nvPr/>
        </p:nvSpPr>
        <p:spPr>
          <a:xfrm xmlns:a="http://schemas.openxmlformats.org/drawingml/2006/main">
            <a:off x="609600" y="14001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B4C4CE"/>
                </a:solidFill>
                <a:latin typeface="Arial"/>
                <a:ea typeface="Arial"/>
                <a:cs typeface="Arial"/>
              </a:defRPr>
            </a:defPPr>
            <a:lvl1pPr>
              <a:defRPr sz="1875" b="0">
                <a:solidFill>
                  <a:srgbClr val="B4C4CE"/>
                </a:solidFill>
                <a:latin typeface="Arial"/>
                <a:ea typeface="Arial"/>
                <a:cs typeface="Arial"/>
              </a:defRPr>
            </a:lvl1pPr>
            <a:lvl2pPr>
              <a:defRPr sz="1875" b="0">
                <a:solidFill>
                  <a:srgbClr val="B4C4CE"/>
                </a:solidFill>
                <a:latin typeface="Arial"/>
                <a:ea typeface="Arial"/>
                <a:cs typeface="Arial"/>
              </a:defRPr>
            </a:lvl2pPr>
            <a:lvl3pPr>
              <a:defRPr sz="1875" b="0">
                <a:solidFill>
                  <a:srgbClr val="B4C4CE"/>
                </a:solidFill>
                <a:latin typeface="Arial"/>
                <a:ea typeface="Arial"/>
                <a:cs typeface="Arial"/>
              </a:defRPr>
            </a:lvl3pPr>
            <a:lvl4pPr>
              <a:defRPr sz="1875" b="0">
                <a:solidFill>
                  <a:srgbClr val="B4C4CE"/>
                </a:solidFill>
                <a:latin typeface="Arial"/>
                <a:ea typeface="Arial"/>
                <a:cs typeface="Arial"/>
              </a:defRPr>
            </a:lvl4pPr>
            <a:lvl5pPr>
              <a:defRPr sz="1875" b="0">
                <a:solidFill>
                  <a:srgbClr val="B4C4CE"/>
                </a:solidFill>
                <a:latin typeface="Arial"/>
                <a:ea typeface="Arial"/>
                <a:cs typeface="Arial"/>
              </a:defRPr>
            </a:lvl5pPr>
            <a:lvl6pPr>
              <a:defRPr sz="1875" b="0">
                <a:solidFill>
                  <a:srgbClr val="B4C4CE"/>
                </a:solidFill>
                <a:latin typeface="Arial"/>
                <a:ea typeface="Arial"/>
                <a:cs typeface="Arial"/>
              </a:defRPr>
            </a:lvl6pPr>
            <a:lvl7pPr>
              <a:defRPr sz="1875" b="0">
                <a:solidFill>
                  <a:srgbClr val="B4C4CE"/>
                </a:solidFill>
                <a:latin typeface="Arial"/>
                <a:ea typeface="Arial"/>
                <a:cs typeface="Arial"/>
              </a:defRPr>
            </a:lvl7pPr>
            <a:lvl8pPr>
              <a:defRPr sz="1875" b="0">
                <a:solidFill>
                  <a:srgbClr val="B4C4CE"/>
                </a:solidFill>
                <a:latin typeface="Arial"/>
                <a:ea typeface="Arial"/>
                <a:cs typeface="Arial"/>
              </a:defRPr>
            </a:lvl8pPr>
            <a:lvl9pPr>
              <a:defRPr sz="1875" b="0">
                <a:solidFill>
                  <a:srgbClr val="B4C4CE"/>
                </a:solidFill>
                <a:latin typeface="Arial"/>
                <a:ea typeface="Arial"/>
                <a:cs typeface="Arial"/>
              </a:defRPr>
            </a:lvl9pPr>
          </a:lstStyle>
          <a:p xmlns:a="http://schemas.openxmlformats.org/drawingml/2006/main">
            <a:pPr>
              <a:defRPr sz="1875" b="0">
                <a:solidFill>
                  <a:srgbClr val="B4C4CE"/>
                </a:solidFill>
                <a:latin typeface="Arial"/>
                <a:ea typeface="Arial"/>
                <a:cs typeface="Arial"/>
              </a:defRPr>
            </a:pPr>
            <a:r>
              <a:rPr sz="1875" b="0">
                <a:solidFill>
                  <a:srgbClr val="B4C4CE"/>
                </a:solidFill>
                <a:latin typeface="Arial"/>
                <a:ea typeface="Arial"/>
                <a:cs typeface="Arial"/>
              </a:rPr>
              <a:t>Un caso ficticio y una evidencia clara por capacidad</a:t>
            </a:r>
          </a:p>
        </p:txBody>
      </p:sp>
      <p:sp>
        <p:nvSpPr>
          <p:cNvPr id="4" name="Multimodalidad">
            <a:extLst xmlns:a="http://schemas.openxmlformats.org/drawingml/2006/main">
              <a:ext uri="{FF2B5EF4-FFF2-40B4-BE49-F238E27FC236}">
                <a16:creationId xmlns:a16="http://schemas.microsoft.com/office/drawing/2014/main" id="{FBEB6833-6F63-4CF1-8E9E-536FA002F0A9}"/>
              </a:ext>
            </a:extLst>
          </p:cNvPr>
          <p:cNvSpPr>
            <a:spLocks xmlns:a="http://schemas.openxmlformats.org/drawingml/2006/main" noGrp="1"/>
          </p:cNvSpPr>
          <p:nvPr/>
        </p:nvSpPr>
        <p:spPr>
          <a:xfrm xmlns:a="http://schemas.openxmlformats.org/drawingml/2006/main">
            <a:off x="609600" y="21907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Multimodalidad</a:t>
            </a:r>
          </a:p>
        </p:txBody>
      </p:sp>
      <p:sp>
        <p:nvSpPr>
          <p:cNvPr id="5" name="Imagen y audio influyen en la respuesta">
            <a:extLst xmlns:a="http://schemas.openxmlformats.org/drawingml/2006/main">
              <a:ext uri="{FF2B5EF4-FFF2-40B4-BE49-F238E27FC236}">
                <a16:creationId xmlns:a16="http://schemas.microsoft.com/office/drawing/2014/main" id="{A8364CBE-020B-4916-8CC9-5F29F5006468}"/>
              </a:ext>
            </a:extLst>
          </p:cNvPr>
          <p:cNvSpPr>
            <a:spLocks xmlns:a="http://schemas.openxmlformats.org/drawingml/2006/main" noGrp="1"/>
          </p:cNvSpPr>
          <p:nvPr/>
        </p:nvSpPr>
        <p:spPr>
          <a:xfrm xmlns:a="http://schemas.openxmlformats.org/drawingml/2006/main">
            <a:off x="3333750" y="21907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Imagen y audio influyen en la respuesta</a:t>
            </a:r>
          </a:p>
        </p:txBody>
      </p:sp>
      <p:sp>
        <p:nvSpPr>
          <p:cNvPr id="6" name="Agente">
            <a:extLst xmlns:a="http://schemas.openxmlformats.org/drawingml/2006/main">
              <a:ext uri="{FF2B5EF4-FFF2-40B4-BE49-F238E27FC236}">
                <a16:creationId xmlns:a16="http://schemas.microsoft.com/office/drawing/2014/main" id="{9398A941-2F89-487F-BB24-6F7C870005B5}"/>
              </a:ext>
            </a:extLst>
          </p:cNvPr>
          <p:cNvSpPr>
            <a:spLocks xmlns:a="http://schemas.openxmlformats.org/drawingml/2006/main" noGrp="1"/>
          </p:cNvSpPr>
          <p:nvPr/>
        </p:nvSpPr>
        <p:spPr>
          <a:xfrm xmlns:a="http://schemas.openxmlformats.org/drawingml/2006/main">
            <a:off x="609600" y="30670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Agente</a:t>
            </a:r>
          </a:p>
        </p:txBody>
      </p:sp>
      <p:sp>
        <p:nvSpPr>
          <p:cNvPr id="7" name="Memoria aislada y herramienta propia de solo lectura">
            <a:extLst xmlns:a="http://schemas.openxmlformats.org/drawingml/2006/main">
              <a:ext uri="{FF2B5EF4-FFF2-40B4-BE49-F238E27FC236}">
                <a16:creationId xmlns:a16="http://schemas.microsoft.com/office/drawing/2014/main" id="{83C54F0D-3D89-4C40-831F-3E7C70B3D2B5}"/>
              </a:ext>
            </a:extLst>
          </p:cNvPr>
          <p:cNvSpPr>
            <a:spLocks xmlns:a="http://schemas.openxmlformats.org/drawingml/2006/main" noGrp="1"/>
          </p:cNvSpPr>
          <p:nvPr/>
        </p:nvSpPr>
        <p:spPr>
          <a:xfrm xmlns:a="http://schemas.openxmlformats.org/drawingml/2006/main">
            <a:off x="3333750" y="30670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Memoria aislada y herramienta propia de solo lectura</a:t>
            </a:r>
          </a:p>
        </p:txBody>
      </p:sp>
      <p:sp>
        <p:nvSpPr>
          <p:cNvPr id="8" name="Investigación">
            <a:extLst xmlns:a="http://schemas.openxmlformats.org/drawingml/2006/main">
              <a:ext uri="{FF2B5EF4-FFF2-40B4-BE49-F238E27FC236}">
                <a16:creationId xmlns:a16="http://schemas.microsoft.com/office/drawing/2014/main" id="{7F9F8AE2-4D7A-4862-B44D-393087135A13}"/>
              </a:ext>
            </a:extLst>
          </p:cNvPr>
          <p:cNvSpPr>
            <a:spLocks xmlns:a="http://schemas.openxmlformats.org/drawingml/2006/main" noGrp="1"/>
          </p:cNvSpPr>
          <p:nvPr/>
        </p:nvSpPr>
        <p:spPr>
          <a:xfrm xmlns:a="http://schemas.openxmlformats.org/drawingml/2006/main">
            <a:off x="609600" y="39433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Investigación</a:t>
            </a:r>
          </a:p>
        </p:txBody>
      </p:sp>
      <p:sp>
        <p:nvSpPr>
          <p:cNvPr id="9" name="Un trabajo real, su ID, sus fuentes y sus límites">
            <a:extLst xmlns:a="http://schemas.openxmlformats.org/drawingml/2006/main">
              <a:ext uri="{FF2B5EF4-FFF2-40B4-BE49-F238E27FC236}">
                <a16:creationId xmlns:a16="http://schemas.microsoft.com/office/drawing/2014/main" id="{5E5C0D70-34C4-4104-94B6-888E7AB2608B}"/>
              </a:ext>
            </a:extLst>
          </p:cNvPr>
          <p:cNvSpPr>
            <a:spLocks xmlns:a="http://schemas.openxmlformats.org/drawingml/2006/main" noGrp="1"/>
          </p:cNvSpPr>
          <p:nvPr/>
        </p:nvSpPr>
        <p:spPr>
          <a:xfrm xmlns:a="http://schemas.openxmlformats.org/drawingml/2006/main">
            <a:off x="3333750" y="39433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Un trabajo real, su ID, sus fuentes y sus límites</a:t>
            </a:r>
          </a:p>
        </p:txBody>
      </p:sp>
      <p:sp>
        <p:nvSpPr>
          <p:cNvPr id="10" name="Entrega">
            <a:extLst xmlns:a="http://schemas.openxmlformats.org/drawingml/2006/main">
              <a:ext uri="{FF2B5EF4-FFF2-40B4-BE49-F238E27FC236}">
                <a16:creationId xmlns:a16="http://schemas.microsoft.com/office/drawing/2014/main" id="{6A0175A8-533A-40FD-A946-2230F55B3F9B}"/>
              </a:ext>
            </a:extLst>
          </p:cNvPr>
          <p:cNvSpPr>
            <a:spLocks xmlns:a="http://schemas.openxmlformats.org/drawingml/2006/main" noGrp="1"/>
          </p:cNvSpPr>
          <p:nvPr/>
        </p:nvSpPr>
        <p:spPr>
          <a:xfrm xmlns:a="http://schemas.openxmlformats.org/drawingml/2006/main">
            <a:off x="609600" y="4819650"/>
            <a:ext cx="2514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3DFBC"/>
                </a:solidFill>
                <a:latin typeface="Arial"/>
                <a:ea typeface="Arial"/>
                <a:cs typeface="Arial"/>
              </a:defRPr>
            </a:defPPr>
            <a:lvl1pPr>
              <a:defRPr sz="2100" b="1">
                <a:solidFill>
                  <a:srgbClr val="53DFBC"/>
                </a:solidFill>
                <a:latin typeface="Arial"/>
                <a:ea typeface="Arial"/>
                <a:cs typeface="Arial"/>
              </a:defRPr>
            </a:lvl1pPr>
            <a:lvl2pPr>
              <a:defRPr sz="2100" b="1">
                <a:solidFill>
                  <a:srgbClr val="53DFBC"/>
                </a:solidFill>
                <a:latin typeface="Arial"/>
                <a:ea typeface="Arial"/>
                <a:cs typeface="Arial"/>
              </a:defRPr>
            </a:lvl2pPr>
            <a:lvl3pPr>
              <a:defRPr sz="2100" b="1">
                <a:solidFill>
                  <a:srgbClr val="53DFBC"/>
                </a:solidFill>
                <a:latin typeface="Arial"/>
                <a:ea typeface="Arial"/>
                <a:cs typeface="Arial"/>
              </a:defRPr>
            </a:lvl3pPr>
            <a:lvl4pPr>
              <a:defRPr sz="2100" b="1">
                <a:solidFill>
                  <a:srgbClr val="53DFBC"/>
                </a:solidFill>
                <a:latin typeface="Arial"/>
                <a:ea typeface="Arial"/>
                <a:cs typeface="Arial"/>
              </a:defRPr>
            </a:lvl4pPr>
            <a:lvl5pPr>
              <a:defRPr sz="2100" b="1">
                <a:solidFill>
                  <a:srgbClr val="53DFBC"/>
                </a:solidFill>
                <a:latin typeface="Arial"/>
                <a:ea typeface="Arial"/>
                <a:cs typeface="Arial"/>
              </a:defRPr>
            </a:lvl5pPr>
            <a:lvl6pPr>
              <a:defRPr sz="2100" b="1">
                <a:solidFill>
                  <a:srgbClr val="53DFBC"/>
                </a:solidFill>
                <a:latin typeface="Arial"/>
                <a:ea typeface="Arial"/>
                <a:cs typeface="Arial"/>
              </a:defRPr>
            </a:lvl6pPr>
            <a:lvl7pPr>
              <a:defRPr sz="2100" b="1">
                <a:solidFill>
                  <a:srgbClr val="53DFBC"/>
                </a:solidFill>
                <a:latin typeface="Arial"/>
                <a:ea typeface="Arial"/>
                <a:cs typeface="Arial"/>
              </a:defRPr>
            </a:lvl7pPr>
            <a:lvl8pPr>
              <a:defRPr sz="2100" b="1">
                <a:solidFill>
                  <a:srgbClr val="53DFBC"/>
                </a:solidFill>
                <a:latin typeface="Arial"/>
                <a:ea typeface="Arial"/>
                <a:cs typeface="Arial"/>
              </a:defRPr>
            </a:lvl8pPr>
            <a:lvl9pPr>
              <a:defRPr sz="2100" b="1">
                <a:solidFill>
                  <a:srgbClr val="53DFBC"/>
                </a:solidFill>
                <a:latin typeface="Arial"/>
                <a:ea typeface="Arial"/>
                <a:cs typeface="Arial"/>
              </a:defRPr>
            </a:lvl9pPr>
          </a:lstStyle>
          <a:p xmlns:a="http://schemas.openxmlformats.org/drawingml/2006/main">
            <a:pPr>
              <a:defRPr sz="2100" b="1">
                <a:solidFill>
                  <a:srgbClr val="53DFBC"/>
                </a:solidFill>
                <a:latin typeface="Arial"/>
                <a:ea typeface="Arial"/>
                <a:cs typeface="Arial"/>
              </a:defRPr>
            </a:pPr>
            <a:r>
              <a:rPr sz="2100" b="1">
                <a:solidFill>
                  <a:srgbClr val="53DFBC"/>
                </a:solidFill>
                <a:latin typeface="Arial"/>
                <a:ea typeface="Arial"/>
                <a:cs typeface="Arial"/>
              </a:rPr>
              <a:t>Entrega</a:t>
            </a:r>
          </a:p>
        </p:txBody>
      </p:sp>
      <p:sp>
        <p:nvSpPr>
          <p:cNvPr id="11" name="Código, entradas, audio de salida, pruebas y limitaciones">
            <a:extLst xmlns:a="http://schemas.openxmlformats.org/drawingml/2006/main">
              <a:ext uri="{FF2B5EF4-FFF2-40B4-BE49-F238E27FC236}">
                <a16:creationId xmlns:a16="http://schemas.microsoft.com/office/drawing/2014/main" id="{77D8DC53-7829-4D2D-9E83-EE6588DE45D5}"/>
              </a:ext>
            </a:extLst>
          </p:cNvPr>
          <p:cNvSpPr>
            <a:spLocks xmlns:a="http://schemas.openxmlformats.org/drawingml/2006/main" noGrp="1"/>
          </p:cNvSpPr>
          <p:nvPr/>
        </p:nvSpPr>
        <p:spPr>
          <a:xfrm xmlns:a="http://schemas.openxmlformats.org/drawingml/2006/main">
            <a:off x="3333750" y="4819650"/>
            <a:ext cx="8248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4F7FA"/>
                </a:solidFill>
                <a:latin typeface="Arial"/>
                <a:ea typeface="Arial"/>
                <a:cs typeface="Arial"/>
              </a:defRPr>
            </a:defPPr>
            <a:lvl1pPr>
              <a:defRPr sz="2100" b="0">
                <a:solidFill>
                  <a:srgbClr val="F4F7FA"/>
                </a:solidFill>
                <a:latin typeface="Arial"/>
                <a:ea typeface="Arial"/>
                <a:cs typeface="Arial"/>
              </a:defRPr>
            </a:lvl1pPr>
            <a:lvl2pPr>
              <a:defRPr sz="2100" b="0">
                <a:solidFill>
                  <a:srgbClr val="F4F7FA"/>
                </a:solidFill>
                <a:latin typeface="Arial"/>
                <a:ea typeface="Arial"/>
                <a:cs typeface="Arial"/>
              </a:defRPr>
            </a:lvl2pPr>
            <a:lvl3pPr>
              <a:defRPr sz="2100" b="0">
                <a:solidFill>
                  <a:srgbClr val="F4F7FA"/>
                </a:solidFill>
                <a:latin typeface="Arial"/>
                <a:ea typeface="Arial"/>
                <a:cs typeface="Arial"/>
              </a:defRPr>
            </a:lvl3pPr>
            <a:lvl4pPr>
              <a:defRPr sz="2100" b="0">
                <a:solidFill>
                  <a:srgbClr val="F4F7FA"/>
                </a:solidFill>
                <a:latin typeface="Arial"/>
                <a:ea typeface="Arial"/>
                <a:cs typeface="Arial"/>
              </a:defRPr>
            </a:lvl4pPr>
            <a:lvl5pPr>
              <a:defRPr sz="2100" b="0">
                <a:solidFill>
                  <a:srgbClr val="F4F7FA"/>
                </a:solidFill>
                <a:latin typeface="Arial"/>
                <a:ea typeface="Arial"/>
                <a:cs typeface="Arial"/>
              </a:defRPr>
            </a:lvl5pPr>
            <a:lvl6pPr>
              <a:defRPr sz="2100" b="0">
                <a:solidFill>
                  <a:srgbClr val="F4F7FA"/>
                </a:solidFill>
                <a:latin typeface="Arial"/>
                <a:ea typeface="Arial"/>
                <a:cs typeface="Arial"/>
              </a:defRPr>
            </a:lvl6pPr>
            <a:lvl7pPr>
              <a:defRPr sz="2100" b="0">
                <a:solidFill>
                  <a:srgbClr val="F4F7FA"/>
                </a:solidFill>
                <a:latin typeface="Arial"/>
                <a:ea typeface="Arial"/>
                <a:cs typeface="Arial"/>
              </a:defRPr>
            </a:lvl7pPr>
            <a:lvl8pPr>
              <a:defRPr sz="2100" b="0">
                <a:solidFill>
                  <a:srgbClr val="F4F7FA"/>
                </a:solidFill>
                <a:latin typeface="Arial"/>
                <a:ea typeface="Arial"/>
                <a:cs typeface="Arial"/>
              </a:defRPr>
            </a:lvl8pPr>
            <a:lvl9pPr>
              <a:defRPr sz="2100" b="0">
                <a:solidFill>
                  <a:srgbClr val="F4F7FA"/>
                </a:solidFill>
                <a:latin typeface="Arial"/>
                <a:ea typeface="Arial"/>
                <a:cs typeface="Arial"/>
              </a:defRPr>
            </a:lvl9pPr>
          </a:lstStyle>
          <a:p xmlns:a="http://schemas.openxmlformats.org/drawingml/2006/main">
            <a:pPr>
              <a:defRPr sz="2100" b="0">
                <a:solidFill>
                  <a:srgbClr val="F4F7FA"/>
                </a:solidFill>
                <a:latin typeface="Arial"/>
                <a:ea typeface="Arial"/>
                <a:cs typeface="Arial"/>
              </a:defRPr>
            </a:pPr>
            <a:r>
              <a:rPr sz="2100" b="0">
                <a:solidFill>
                  <a:srgbClr val="F4F7FA"/>
                </a:solidFill>
                <a:latin typeface="Arial"/>
                <a:ea typeface="Arial"/>
                <a:cs typeface="Arial"/>
              </a:rPr>
              <a:t>Código, entradas, audio de salida, pruebas y limitaciones</a:t>
            </a:r>
          </a:p>
        </p:txBody>
      </p:sp>
      <p:sp>
        <p:nvSpPr>
          <p:cNvPr id="12" name="Una simulación sirve para ensayar los fallos y debe identificarse">
            <a:extLst xmlns:a="http://schemas.openxmlformats.org/drawingml/2006/main">
              <a:ext uri="{FF2B5EF4-FFF2-40B4-BE49-F238E27FC236}">
                <a16:creationId xmlns:a16="http://schemas.microsoft.com/office/drawing/2014/main" id="{B2619C8B-980C-4758-9A2D-30B63DA80E05}"/>
              </a:ext>
            </a:extLst>
          </p:cNvPr>
          <p:cNvSpPr>
            <a:spLocks xmlns:a="http://schemas.openxmlformats.org/drawingml/2006/main" noGrp="1"/>
          </p:cNvSpPr>
          <p:nvPr/>
        </p:nvSpPr>
        <p:spPr>
          <a:xfrm xmlns:a="http://schemas.openxmlformats.org/drawingml/2006/main">
            <a:off x="609600" y="5972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3DFBC"/>
                </a:solidFill>
                <a:latin typeface="Arial"/>
                <a:ea typeface="Arial"/>
                <a:cs typeface="Arial"/>
              </a:defRPr>
            </a:defPPr>
            <a:lvl1pPr>
              <a:defRPr sz="1725" b="0">
                <a:solidFill>
                  <a:srgbClr val="53DFBC"/>
                </a:solidFill>
                <a:latin typeface="Arial"/>
                <a:ea typeface="Arial"/>
                <a:cs typeface="Arial"/>
              </a:defRPr>
            </a:lvl1pPr>
            <a:lvl2pPr>
              <a:defRPr sz="1725" b="0">
                <a:solidFill>
                  <a:srgbClr val="53DFBC"/>
                </a:solidFill>
                <a:latin typeface="Arial"/>
                <a:ea typeface="Arial"/>
                <a:cs typeface="Arial"/>
              </a:defRPr>
            </a:lvl2pPr>
            <a:lvl3pPr>
              <a:defRPr sz="1725" b="0">
                <a:solidFill>
                  <a:srgbClr val="53DFBC"/>
                </a:solidFill>
                <a:latin typeface="Arial"/>
                <a:ea typeface="Arial"/>
                <a:cs typeface="Arial"/>
              </a:defRPr>
            </a:lvl3pPr>
            <a:lvl4pPr>
              <a:defRPr sz="1725" b="0">
                <a:solidFill>
                  <a:srgbClr val="53DFBC"/>
                </a:solidFill>
                <a:latin typeface="Arial"/>
                <a:ea typeface="Arial"/>
                <a:cs typeface="Arial"/>
              </a:defRPr>
            </a:lvl4pPr>
            <a:lvl5pPr>
              <a:defRPr sz="1725" b="0">
                <a:solidFill>
                  <a:srgbClr val="53DFBC"/>
                </a:solidFill>
                <a:latin typeface="Arial"/>
                <a:ea typeface="Arial"/>
                <a:cs typeface="Arial"/>
              </a:defRPr>
            </a:lvl5pPr>
            <a:lvl6pPr>
              <a:defRPr sz="1725" b="0">
                <a:solidFill>
                  <a:srgbClr val="53DFBC"/>
                </a:solidFill>
                <a:latin typeface="Arial"/>
                <a:ea typeface="Arial"/>
                <a:cs typeface="Arial"/>
              </a:defRPr>
            </a:lvl6pPr>
            <a:lvl7pPr>
              <a:defRPr sz="1725" b="0">
                <a:solidFill>
                  <a:srgbClr val="53DFBC"/>
                </a:solidFill>
                <a:latin typeface="Arial"/>
                <a:ea typeface="Arial"/>
                <a:cs typeface="Arial"/>
              </a:defRPr>
            </a:lvl7pPr>
            <a:lvl8pPr>
              <a:defRPr sz="1725" b="0">
                <a:solidFill>
                  <a:srgbClr val="53DFBC"/>
                </a:solidFill>
                <a:latin typeface="Arial"/>
                <a:ea typeface="Arial"/>
                <a:cs typeface="Arial"/>
              </a:defRPr>
            </a:lvl8pPr>
            <a:lvl9pPr>
              <a:defRPr sz="1725" b="0">
                <a:solidFill>
                  <a:srgbClr val="53DFBC"/>
                </a:solidFill>
                <a:latin typeface="Arial"/>
                <a:ea typeface="Arial"/>
                <a:cs typeface="Arial"/>
              </a:defRPr>
            </a:lvl9pPr>
          </a:lstStyle>
          <a:p xmlns:a="http://schemas.openxmlformats.org/drawingml/2006/main">
            <a:pPr>
              <a:defRPr sz="1725" b="0">
                <a:solidFill>
                  <a:srgbClr val="53DFBC"/>
                </a:solidFill>
                <a:latin typeface="Arial"/>
                <a:ea typeface="Arial"/>
                <a:cs typeface="Arial"/>
              </a:defRPr>
            </a:pPr>
            <a:r>
              <a:rPr sz="1725" b="0">
                <a:solidFill>
                  <a:srgbClr val="53DFBC"/>
                </a:solidFill>
                <a:latin typeface="Arial"/>
                <a:ea typeface="Arial"/>
                <a:cs typeface="Arial"/>
              </a:rPr>
              <a:t>Una simulación sirve para ensayar los fallos y debe identificarse</a:t>
            </a:r>
          </a:p>
        </p:txBody>
      </p:sp>
      <p:sp>
        <p:nvSpPr>
          <p:cNvPr id="13" name="thePower · AI Engineer · S12">
            <a:extLst xmlns:a="http://schemas.openxmlformats.org/drawingml/2006/main">
              <a:ext uri="{FF2B5EF4-FFF2-40B4-BE49-F238E27FC236}">
                <a16:creationId xmlns:a16="http://schemas.microsoft.com/office/drawing/2014/main" id="{377C1148-7659-41F8-8718-8FD1AEB116FB}"/>
              </a:ext>
            </a:extLst>
          </p:cNvPr>
          <p:cNvSpPr>
            <a:spLocks xmlns:a="http://schemas.openxmlformats.org/drawingml/2006/main" noGrp="1"/>
          </p:cNvSpPr>
          <p:nvPr/>
        </p:nvSpPr>
        <p:spPr>
          <a:xfrm xmlns:a="http://schemas.openxmlformats.org/drawingml/2006/main">
            <a:off x="609600" y="6572250"/>
            <a:ext cx="923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8BA1AF"/>
                </a:solidFill>
                <a:latin typeface="Arial"/>
                <a:ea typeface="Arial"/>
                <a:cs typeface="Arial"/>
              </a:defRPr>
            </a:defPPr>
            <a:lvl1pPr>
              <a:defRPr sz="1050" b="0">
                <a:solidFill>
                  <a:srgbClr val="8BA1AF"/>
                </a:solidFill>
                <a:latin typeface="Arial"/>
                <a:ea typeface="Arial"/>
                <a:cs typeface="Arial"/>
              </a:defRPr>
            </a:lvl1pPr>
            <a:lvl2pPr>
              <a:defRPr sz="1050" b="0">
                <a:solidFill>
                  <a:srgbClr val="8BA1AF"/>
                </a:solidFill>
                <a:latin typeface="Arial"/>
                <a:ea typeface="Arial"/>
                <a:cs typeface="Arial"/>
              </a:defRPr>
            </a:lvl2pPr>
            <a:lvl3pPr>
              <a:defRPr sz="1050" b="0">
                <a:solidFill>
                  <a:srgbClr val="8BA1AF"/>
                </a:solidFill>
                <a:latin typeface="Arial"/>
                <a:ea typeface="Arial"/>
                <a:cs typeface="Arial"/>
              </a:defRPr>
            </a:lvl3pPr>
            <a:lvl4pPr>
              <a:defRPr sz="1050" b="0">
                <a:solidFill>
                  <a:srgbClr val="8BA1AF"/>
                </a:solidFill>
                <a:latin typeface="Arial"/>
                <a:ea typeface="Arial"/>
                <a:cs typeface="Arial"/>
              </a:defRPr>
            </a:lvl4pPr>
            <a:lvl5pPr>
              <a:defRPr sz="1050" b="0">
                <a:solidFill>
                  <a:srgbClr val="8BA1AF"/>
                </a:solidFill>
                <a:latin typeface="Arial"/>
                <a:ea typeface="Arial"/>
                <a:cs typeface="Arial"/>
              </a:defRPr>
            </a:lvl5pPr>
            <a:lvl6pPr>
              <a:defRPr sz="1050" b="0">
                <a:solidFill>
                  <a:srgbClr val="8BA1AF"/>
                </a:solidFill>
                <a:latin typeface="Arial"/>
                <a:ea typeface="Arial"/>
                <a:cs typeface="Arial"/>
              </a:defRPr>
            </a:lvl6pPr>
            <a:lvl7pPr>
              <a:defRPr sz="1050" b="0">
                <a:solidFill>
                  <a:srgbClr val="8BA1AF"/>
                </a:solidFill>
                <a:latin typeface="Arial"/>
                <a:ea typeface="Arial"/>
                <a:cs typeface="Arial"/>
              </a:defRPr>
            </a:lvl7pPr>
            <a:lvl8pPr>
              <a:defRPr sz="1050" b="0">
                <a:solidFill>
                  <a:srgbClr val="8BA1AF"/>
                </a:solidFill>
                <a:latin typeface="Arial"/>
                <a:ea typeface="Arial"/>
                <a:cs typeface="Arial"/>
              </a:defRPr>
            </a:lvl8pPr>
            <a:lvl9pPr>
              <a:defRPr sz="1050" b="0">
                <a:solidFill>
                  <a:srgbClr val="8BA1AF"/>
                </a:solidFill>
                <a:latin typeface="Arial"/>
                <a:ea typeface="Arial"/>
                <a:cs typeface="Arial"/>
              </a:defRPr>
            </a:lvl9pPr>
          </a:lstStyle>
          <a:p xmlns:a="http://schemas.openxmlformats.org/drawingml/2006/main">
            <a:pPr>
              <a:defRPr sz="1050" b="0">
                <a:solidFill>
                  <a:srgbClr val="8BA1AF"/>
                </a:solidFill>
                <a:latin typeface="Arial"/>
                <a:ea typeface="Arial"/>
                <a:cs typeface="Arial"/>
              </a:defRPr>
            </a:pPr>
            <a:r>
              <a:rPr sz="1050" b="0">
                <a:solidFill>
                  <a:srgbClr val="8BA1AF"/>
                </a:solidFill>
                <a:latin typeface="Arial"/>
                <a:ea typeface="Arial"/>
                <a:cs typeface="Arial"/>
              </a:rPr>
              <a:t>thePower · AI Engineer · S12</a:t>
            </a:r>
          </a:p>
        </p:txBody>
      </p:sp>
      <p:sp>
        <p:nvSpPr>
          <p:cNvPr id="14" name="24">
            <a:extLst xmlns:a="http://schemas.openxmlformats.org/drawingml/2006/main">
              <a:ext uri="{FF2B5EF4-FFF2-40B4-BE49-F238E27FC236}">
                <a16:creationId xmlns:a16="http://schemas.microsoft.com/office/drawing/2014/main" id="{A3E4C88A-3E3C-4A37-97F4-19F24CA4ECB0}"/>
              </a:ext>
            </a:extLst>
          </p:cNvPr>
          <p:cNvSpPr>
            <a:spLocks xmlns:a="http://schemas.openxmlformats.org/drawingml/2006/main" noGrp="1"/>
          </p:cNvSpPr>
          <p:nvPr/>
        </p:nvSpPr>
        <p:spPr>
          <a:xfrm xmlns:a="http://schemas.openxmlformats.org/drawingml/2006/main">
            <a:off x="11258550" y="65722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050" b="0">
                <a:solidFill>
                  <a:srgbClr val="B4C4CE"/>
                </a:solidFill>
                <a:latin typeface="Arial"/>
                <a:ea typeface="Arial"/>
                <a:cs typeface="Arial"/>
              </a:defRPr>
            </a:defPPr>
            <a:lvl1pPr>
              <a:defRPr sz="1050" b="0">
                <a:solidFill>
                  <a:srgbClr val="B4C4CE"/>
                </a:solidFill>
                <a:latin typeface="Arial"/>
                <a:ea typeface="Arial"/>
                <a:cs typeface="Arial"/>
              </a:defRPr>
            </a:lvl1pPr>
            <a:lvl2pPr>
              <a:defRPr sz="1050" b="0">
                <a:solidFill>
                  <a:srgbClr val="B4C4CE"/>
                </a:solidFill>
                <a:latin typeface="Arial"/>
                <a:ea typeface="Arial"/>
                <a:cs typeface="Arial"/>
              </a:defRPr>
            </a:lvl2pPr>
            <a:lvl3pPr>
              <a:defRPr sz="1050" b="0">
                <a:solidFill>
                  <a:srgbClr val="B4C4CE"/>
                </a:solidFill>
                <a:latin typeface="Arial"/>
                <a:ea typeface="Arial"/>
                <a:cs typeface="Arial"/>
              </a:defRPr>
            </a:lvl3pPr>
            <a:lvl4pPr>
              <a:defRPr sz="1050" b="0">
                <a:solidFill>
                  <a:srgbClr val="B4C4CE"/>
                </a:solidFill>
                <a:latin typeface="Arial"/>
                <a:ea typeface="Arial"/>
                <a:cs typeface="Arial"/>
              </a:defRPr>
            </a:lvl4pPr>
            <a:lvl5pPr>
              <a:defRPr sz="1050" b="0">
                <a:solidFill>
                  <a:srgbClr val="B4C4CE"/>
                </a:solidFill>
                <a:latin typeface="Arial"/>
                <a:ea typeface="Arial"/>
                <a:cs typeface="Arial"/>
              </a:defRPr>
            </a:lvl5pPr>
            <a:lvl6pPr>
              <a:defRPr sz="1050" b="0">
                <a:solidFill>
                  <a:srgbClr val="B4C4CE"/>
                </a:solidFill>
                <a:latin typeface="Arial"/>
                <a:ea typeface="Arial"/>
                <a:cs typeface="Arial"/>
              </a:defRPr>
            </a:lvl6pPr>
            <a:lvl7pPr>
              <a:defRPr sz="1050" b="0">
                <a:solidFill>
                  <a:srgbClr val="B4C4CE"/>
                </a:solidFill>
                <a:latin typeface="Arial"/>
                <a:ea typeface="Arial"/>
                <a:cs typeface="Arial"/>
              </a:defRPr>
            </a:lvl7pPr>
            <a:lvl8pPr>
              <a:defRPr sz="1050" b="0">
                <a:solidFill>
                  <a:srgbClr val="B4C4CE"/>
                </a:solidFill>
                <a:latin typeface="Arial"/>
                <a:ea typeface="Arial"/>
                <a:cs typeface="Arial"/>
              </a:defRPr>
            </a:lvl8pPr>
            <a:lvl9pPr>
              <a:defRPr sz="1050" b="0">
                <a:solidFill>
                  <a:srgbClr val="B4C4CE"/>
                </a:solidFill>
                <a:latin typeface="Arial"/>
                <a:ea typeface="Arial"/>
                <a:cs typeface="Arial"/>
              </a:defRPr>
            </a:lvl9pPr>
          </a:lstStyle>
          <a:p xmlns:a="http://schemas.openxmlformats.org/drawingml/2006/main">
            <a:pPr>
              <a:defRPr sz="1050" b="0">
                <a:solidFill>
                  <a:srgbClr val="B4C4CE"/>
                </a:solidFill>
                <a:latin typeface="Arial"/>
                <a:ea typeface="Arial"/>
                <a:cs typeface="Arial"/>
              </a:defRPr>
            </a:pPr>
            <a:r>
              <a:rPr sz="1050" b="0">
                <a:solidFill>
                  <a:srgbClr val="B4C4CE"/>
                </a:solidFill>
                <a:latin typeface="Arial"/>
                <a:ea typeface="Arial"/>
                <a:cs typeface="Arial"/>
              </a:rPr>
              <a:t>24</a:t>
            </a:r>
          </a:p>
        </p:txBody>
      </p:sp>
    </p:spTree>
    <p:extLst>
      <p:ext uri="{BB962C8B-B14F-4D97-AF65-F5344CB8AC3E}">
        <p14:creationId xmlns:p14="http://schemas.microsoft.com/office/powerpoint/2010/main" val="1568663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2026-10-18T20:39:33.4730000Z</dcterms:created>
  <dcterms:modified xsi:type="dcterms:W3CDTF">2026-10-18T20:39:33.4730000Z</dcterms:modified>
</coreProperties>
</file>